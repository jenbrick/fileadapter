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bd61246e3040b2" /><Relationship Type="http://schemas.openxmlformats.org/officeDocument/2006/relationships/extended-properties" Target="/docProps/app.xml" Id="Re33039f56cf048ef" /><Relationship Type="http://schemas.openxmlformats.org/officeDocument/2006/relationships/officeDocument" Target="/ppt/presentation.xml" Id="R247b0e07d28d4ea7" /></Relationships>
</file>

<file path=ppt/presentation.xml><?xml version="1.0" encoding="utf-8"?>
<p:presentation xmlns:p="http://schemas.openxmlformats.org/presentationml/2006/main">
  <p:sldMasterIdLst>
    <p:sldMasterId xmlns:r="http://schemas.openxmlformats.org/officeDocument/2006/relationships" id="2147483648" r:id="R5efc935ced60441f"/>
  </p:sldMasterIdLst>
  <p:notesMasterIdLst>
    <p:notesMasterId xmlns:r="http://schemas.openxmlformats.org/officeDocument/2006/relationships" r:id="R9ff7853a63ce4665"/>
  </p:notesMasterIdLst>
  <p:sldIdLst>
    <p:sldId xmlns:r="http://schemas.openxmlformats.org/officeDocument/2006/relationships" id="256" r:id="Rb1ce1cfcda4549ca"/>
    <p:sldId xmlns:r="http://schemas.openxmlformats.org/officeDocument/2006/relationships" id="257" r:id="R816a20f71ddc4328"/>
    <p:sldId xmlns:r="http://schemas.openxmlformats.org/officeDocument/2006/relationships" id="258" r:id="R4b4257d7efb54299"/>
    <p:sldId xmlns:r="http://schemas.openxmlformats.org/officeDocument/2006/relationships" id="259" r:id="R6b44011316e943f1"/>
    <p:sldId xmlns:r="http://schemas.openxmlformats.org/officeDocument/2006/relationships" id="260" r:id="R0a5e82d583e0431d"/>
    <p:sldId xmlns:r="http://schemas.openxmlformats.org/officeDocument/2006/relationships" id="261" r:id="R7de7fb045602491d"/>
    <p:sldId xmlns:r="http://schemas.openxmlformats.org/officeDocument/2006/relationships" id="262" r:id="R322c77d8b6e748c2"/>
    <p:sldId xmlns:r="http://schemas.openxmlformats.org/officeDocument/2006/relationships" id="263" r:id="Recfde31396614cc5"/>
    <p:sldId xmlns:r="http://schemas.openxmlformats.org/officeDocument/2006/relationships" id="264" r:id="R9dfe4f0900f0473a"/>
    <p:sldId xmlns:r="http://schemas.openxmlformats.org/officeDocument/2006/relationships" id="265" r:id="Rfcc4abcb8e2743ab"/>
    <p:sldId xmlns:r="http://schemas.openxmlformats.org/officeDocument/2006/relationships" id="266" r:id="R11125f377eef409d"/>
    <p:sldId xmlns:r="http://schemas.openxmlformats.org/officeDocument/2006/relationships" id="267" r:id="R8443ef1ba28d4593"/>
    <p:sldId xmlns:r="http://schemas.openxmlformats.org/officeDocument/2006/relationships" id="268" r:id="R47d48850dc0f4c18"/>
    <p:sldId xmlns:r="http://schemas.openxmlformats.org/officeDocument/2006/relationships" id="269" r:id="Rb582bca0407c4fbd"/>
    <p:sldId xmlns:r="http://schemas.openxmlformats.org/officeDocument/2006/relationships" id="270" r:id="R147781aec3a6435e"/>
    <p:sldId xmlns:r="http://schemas.openxmlformats.org/officeDocument/2006/relationships" id="271" r:id="R39d89080ae6f452b"/>
    <p:sldId xmlns:r="http://schemas.openxmlformats.org/officeDocument/2006/relationships" id="272" r:id="R4f213b144dc047e5"/>
    <p:sldId xmlns:r="http://schemas.openxmlformats.org/officeDocument/2006/relationships" id="273" r:id="R2281d80bda284e06"/>
    <p:sldId xmlns:r="http://schemas.openxmlformats.org/officeDocument/2006/relationships" id="274" r:id="R4f9c0d5e64ab4327"/>
    <p:sldId xmlns:r="http://schemas.openxmlformats.org/officeDocument/2006/relationships" id="275" r:id="R2fd44f4365af464c"/>
    <p:sldId xmlns:r="http://schemas.openxmlformats.org/officeDocument/2006/relationships" id="276" r:id="Rbf0817a788ee442a"/>
    <p:sldId xmlns:r="http://schemas.openxmlformats.org/officeDocument/2006/relationships" id="277" r:id="R48d2ce57f3804be6"/>
    <p:sldId xmlns:r="http://schemas.openxmlformats.org/officeDocument/2006/relationships" id="278" r:id="R3ea0d46a24054656"/>
    <p:sldId xmlns:r="http://schemas.openxmlformats.org/officeDocument/2006/relationships" id="279" r:id="Red25e5c061454b07"/>
    <p:sldId xmlns:r="http://schemas.openxmlformats.org/officeDocument/2006/relationships" id="280" r:id="R304b8c80044f4543"/>
    <p:sldId xmlns:r="http://schemas.openxmlformats.org/officeDocument/2006/relationships" id="281" r:id="Racc72e2d0c7440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008f514e8b456d" /><Relationship Type="http://schemas.openxmlformats.org/officeDocument/2006/relationships/slideMaster" Target="/ppt/slideMasters/slideMaster1.xml" Id="R5efc935ced60441f" /><Relationship Type="http://schemas.openxmlformats.org/officeDocument/2006/relationships/notesMaster" Target="/ppt/notesMasters/notesMaster1.xml" Id="R9ff7853a63ce4665" /><Relationship Type="http://schemas.openxmlformats.org/officeDocument/2006/relationships/presProps" Target="/ppt/presProps.xml" Id="R447db584ff994b04" /><Relationship Type="http://schemas.openxmlformats.org/officeDocument/2006/relationships/tableStyles" Target="/ppt/tableStyles.xml" Id="R44aa994d801c473d" /><Relationship Type="http://schemas.openxmlformats.org/officeDocument/2006/relationships/slide" Target="/ppt/slides/slide1.xml" Id="Rb1ce1cfcda4549ca" /><Relationship Type="http://schemas.openxmlformats.org/officeDocument/2006/relationships/slide" Target="/ppt/slides/slide2.xml" Id="R816a20f71ddc4328" /><Relationship Type="http://schemas.openxmlformats.org/officeDocument/2006/relationships/slide" Target="/ppt/slides/slide3.xml" Id="R4b4257d7efb54299" /><Relationship Type="http://schemas.openxmlformats.org/officeDocument/2006/relationships/slide" Target="/ppt/slides/slide4.xml" Id="R6b44011316e943f1" /><Relationship Type="http://schemas.openxmlformats.org/officeDocument/2006/relationships/slide" Target="/ppt/slides/slide5.xml" Id="R0a5e82d583e0431d" /><Relationship Type="http://schemas.openxmlformats.org/officeDocument/2006/relationships/slide" Target="/ppt/slides/slide6.xml" Id="R7de7fb045602491d" /><Relationship Type="http://schemas.openxmlformats.org/officeDocument/2006/relationships/slide" Target="/ppt/slides/slide7.xml" Id="R322c77d8b6e748c2" /><Relationship Type="http://schemas.openxmlformats.org/officeDocument/2006/relationships/slide" Target="/ppt/slides/slide8.xml" Id="Recfde31396614cc5" /><Relationship Type="http://schemas.openxmlformats.org/officeDocument/2006/relationships/slide" Target="/ppt/slides/slide9.xml" Id="R9dfe4f0900f0473a" /><Relationship Type="http://schemas.openxmlformats.org/officeDocument/2006/relationships/slide" Target="/ppt/slides/slide10.xml" Id="Rfcc4abcb8e2743ab" /><Relationship Type="http://schemas.openxmlformats.org/officeDocument/2006/relationships/slide" Target="/ppt/slides/slide11.xml" Id="R11125f377eef409d" /><Relationship Type="http://schemas.openxmlformats.org/officeDocument/2006/relationships/slide" Target="/ppt/slides/slide12.xml" Id="R8443ef1ba28d4593" /><Relationship Type="http://schemas.openxmlformats.org/officeDocument/2006/relationships/slide" Target="/ppt/slides/slide13.xml" Id="R47d48850dc0f4c18" /><Relationship Type="http://schemas.openxmlformats.org/officeDocument/2006/relationships/slide" Target="/ppt/slides/slide14.xml" Id="Rb582bca0407c4fbd" /><Relationship Type="http://schemas.openxmlformats.org/officeDocument/2006/relationships/slide" Target="/ppt/slides/slide15.xml" Id="R147781aec3a6435e" /><Relationship Type="http://schemas.openxmlformats.org/officeDocument/2006/relationships/slide" Target="/ppt/slides/slide16.xml" Id="R39d89080ae6f452b" /><Relationship Type="http://schemas.openxmlformats.org/officeDocument/2006/relationships/slide" Target="/ppt/slides/slide17.xml" Id="R4f213b144dc047e5" /><Relationship Type="http://schemas.openxmlformats.org/officeDocument/2006/relationships/slide" Target="/ppt/slides/slide18.xml" Id="R2281d80bda284e06" /><Relationship Type="http://schemas.openxmlformats.org/officeDocument/2006/relationships/slide" Target="/ppt/slides/slide19.xml" Id="R4f9c0d5e64ab4327" /><Relationship Type="http://schemas.openxmlformats.org/officeDocument/2006/relationships/slide" Target="/ppt/slides/slide20.xml" Id="R2fd44f4365af464c" /><Relationship Type="http://schemas.openxmlformats.org/officeDocument/2006/relationships/slide" Target="/ppt/slides/slide21.xml" Id="Rbf0817a788ee442a" /><Relationship Type="http://schemas.openxmlformats.org/officeDocument/2006/relationships/slide" Target="/ppt/slides/slide22.xml" Id="R48d2ce57f3804be6" /><Relationship Type="http://schemas.openxmlformats.org/officeDocument/2006/relationships/slide" Target="/ppt/slides/slide23.xml" Id="R3ea0d46a24054656" /><Relationship Type="http://schemas.openxmlformats.org/officeDocument/2006/relationships/slide" Target="/ppt/slides/slide24.xml" Id="Red25e5c061454b07" /><Relationship Type="http://schemas.openxmlformats.org/officeDocument/2006/relationships/slide" Target="/ppt/slides/slide25.xml" Id="R304b8c80044f4543" /><Relationship Type="http://schemas.openxmlformats.org/officeDocument/2006/relationships/slide" Target="/ppt/slides/slide26.xml" Id="Racc72e2d0c7440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0062beedfc4b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6384d4222e44c0" /><Relationship Type="http://schemas.openxmlformats.org/officeDocument/2006/relationships/notesMaster" Target="/ppt/notesMasters/notesMaster1.xml" Id="Rf88a577da62e45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7f0af8bc264dd3" /><Relationship Type="http://schemas.openxmlformats.org/officeDocument/2006/relationships/notesMaster" Target="/ppt/notesMasters/notesMaster1.xml" Id="Rd20fdd4873f04b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c5287da5a84c2a" /><Relationship Type="http://schemas.openxmlformats.org/officeDocument/2006/relationships/notesMaster" Target="/ppt/notesMasters/notesMaster1.xml" Id="R1277b365721e45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6b93610e7a4927" /><Relationship Type="http://schemas.openxmlformats.org/officeDocument/2006/relationships/notesMaster" Target="/ppt/notesMasters/notesMaster1.xml" Id="Rdd286943069444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e1b48321f54c91" /><Relationship Type="http://schemas.openxmlformats.org/officeDocument/2006/relationships/notesMaster" Target="/ppt/notesMasters/notesMaster1.xml" Id="R77bf0ad012524c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e618b6ba1448ea" /><Relationship Type="http://schemas.openxmlformats.org/officeDocument/2006/relationships/notesMaster" Target="/ppt/notesMasters/notesMaster1.xml" Id="Rd053d829cef747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b82b879c9c46e9" /><Relationship Type="http://schemas.openxmlformats.org/officeDocument/2006/relationships/notesMaster" Target="/ppt/notesMasters/notesMaster1.xml" Id="Rd045f54d15b14d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8e3557cb174cea" /><Relationship Type="http://schemas.openxmlformats.org/officeDocument/2006/relationships/notesMaster" Target="/ppt/notesMasters/notesMaster1.xml" Id="R037ad0df37b646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bc00c134b64bc2" /><Relationship Type="http://schemas.openxmlformats.org/officeDocument/2006/relationships/notesMaster" Target="/ppt/notesMasters/notesMaster1.xml" Id="R898aa82ff88b45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fb12e302fa4c9c" /><Relationship Type="http://schemas.openxmlformats.org/officeDocument/2006/relationships/notesMaster" Target="/ppt/notesMasters/notesMaster1.xml" Id="R0cc7c51e5bf546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f66c1879074de8" /><Relationship Type="http://schemas.openxmlformats.org/officeDocument/2006/relationships/notesMaster" Target="/ppt/notesMasters/notesMaster1.xml" Id="R44b517b65e7d4b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563cc83b9e4c94" /><Relationship Type="http://schemas.openxmlformats.org/officeDocument/2006/relationships/notesMaster" Target="/ppt/notesMasters/notesMaster1.xml" Id="Rda23b3d402eb46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4a94f932ec43f5" /><Relationship Type="http://schemas.openxmlformats.org/officeDocument/2006/relationships/notesMaster" Target="/ppt/notesMasters/notesMaster1.xml" Id="R36c8b721f88c41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69ed95677847d9" /><Relationship Type="http://schemas.openxmlformats.org/officeDocument/2006/relationships/notesMaster" Target="/ppt/notesMasters/notesMaster1.xml" Id="R1660c3406df340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9fc77460274210" /><Relationship Type="http://schemas.openxmlformats.org/officeDocument/2006/relationships/notesMaster" Target="/ppt/notesMasters/notesMaster1.xml" Id="Rc3d13a9b99484d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fc82fed0ac4677" /><Relationship Type="http://schemas.openxmlformats.org/officeDocument/2006/relationships/notesMaster" Target="/ppt/notesMasters/notesMaster1.xml" Id="R90c34ee7091d4d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8f914dccc54e7e" /><Relationship Type="http://schemas.openxmlformats.org/officeDocument/2006/relationships/notesMaster" Target="/ppt/notesMasters/notesMaster1.xml" Id="R8c961e54fb974e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83b1e2325b4253" /><Relationship Type="http://schemas.openxmlformats.org/officeDocument/2006/relationships/notesMaster" Target="/ppt/notesMasters/notesMaster1.xml" Id="Rde2630b2a4d04b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e01f1784754d40" /><Relationship Type="http://schemas.openxmlformats.org/officeDocument/2006/relationships/notesMaster" Target="/ppt/notesMasters/notesMaster1.xml" Id="Rca1e78b7495046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a1db5263f64505" /><Relationship Type="http://schemas.openxmlformats.org/officeDocument/2006/relationships/notesMaster" Target="/ppt/notesMasters/notesMaster1.xml" Id="R7b610ca8169149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11444523b546ab" /><Relationship Type="http://schemas.openxmlformats.org/officeDocument/2006/relationships/notesMaster" Target="/ppt/notesMasters/notesMaster1.xml" Id="R41084f95369842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44b8890fab43fa" /><Relationship Type="http://schemas.openxmlformats.org/officeDocument/2006/relationships/notesMaster" Target="/ppt/notesMasters/notesMaster1.xml" Id="Rb161d22c6e7d41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7fcfa51b54458b" /><Relationship Type="http://schemas.openxmlformats.org/officeDocument/2006/relationships/notesMaster" Target="/ppt/notesMasters/notesMaster1.xml" Id="R240fe81ff9b44ed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53c3188d2c44e47" /><Relationship Type="http://schemas.openxmlformats.org/officeDocument/2006/relationships/notesMaster" Target="/ppt/notesMasters/notesMaster1.xml" Id="R56d44571cc004af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77d16d1e4244d11" /><Relationship Type="http://schemas.openxmlformats.org/officeDocument/2006/relationships/notesMaster" Target="/ppt/notesMasters/notesMaster1.xml" Id="Ra61eed825e2f406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4a170821dc74b56" /><Relationship Type="http://schemas.openxmlformats.org/officeDocument/2006/relationships/notesMaster" Target="/ppt/notesMasters/notesMaster1.xml" Id="R533d82459e264d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walk developers through the working code and the decisions still needed for the real feed. The internal copy can be named file-adapter-poc while Gradle still builds fileadapter-0.1.0.jar. This deck follows the shared implementation at commit 87a8c08. Suggested delivery: about 35 minutes including the demo and discussion.</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https://github.com/jenbrick/fileadapter/blob/87a8c08/README.md</a:t>
            </a:r>
          </a:p>
          <a:p xmlns:a="http://schemas.openxmlformats.org/drawingml/2006/main">
            <a:r>
              <a:t>https://github.com/jenbrick/fileadapter/blob/87a8c08/build.gradle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row from left to right, then follow the staged ledger into the execution-mode branch. LAN polling and one-shot CLI entry use the same FileProcessor. Parsing emits records, normalization resolves logical source fields, mapping creates a JsonNode request, and validation checks the configured output contract. The worker stages every request in H2 before sending any HTTP POST. Preview mode exports files instead of calling the service. The diagram summarizes responsibility boundaries; the H2 ledger also tracks run state and delivery attempts.</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https://github.com/jenbrick/fileadapter/blob/87a8c08/src/main/java/com/jenbrick/fileadapter/processing/DirectoryPoller.java</a:t>
            </a:r>
          </a:p>
          <a:p xmlns:a="http://schemas.openxmlformats.org/drawingml/2006/main">
            <a:r>
              <a:t>https://github.com/jenbrick/fileadapter/blob/87a8c08/src/main/java/com/jenbrick/fileadapter/processing/ProcessingLedger.java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source navigation map. Open FileProcessor only after the smaller boundaries are clear. The application uses a scheduled directory poller, not a Spring Integration flow. Spring Boot provides the worker context, configuration binding, HTTP client builder and lifecycle. The HTTP service remains a separate application and owns persistence/upsert business semantics.</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https://github.com/jenbrick/fileadapter/blob/87a8c08/README.md</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https://github.com/jenbrick/fileadapter/blob/87a8c08/src/main/java/com/jenbrick/fileadapter/config/Profile.java</a:t>
            </a:r>
          </a:p>
          <a:p xmlns:a="http://schemas.openxmlformats.org/drawingml/2006/main">
            <a:r>
              <a:t>https://github.com/jenbrick/fileadapter/blob/87a8c08/src/main/java/com/jenbrick/fileadapter/source/FileFormatAdapter.java</a:t>
            </a:r>
          </a:p>
          <a:p xmlns:a="http://schemas.openxmlformats.org/drawingml/2006/main">
            <a:r>
              <a:t>https://github.com/jenbrick/fileadapter/blob/87a8c08/src/main/java/com/jenbrick/fileadapter/mapping/RequestMapper.java</a:t>
            </a:r>
          </a:p>
          <a:p xmlns:a="http://schemas.openxmlformats.org/drawingml/2006/main">
            <a:r>
              <a:t>https://github.com/jenbrick/fileadapter/blob/87a8c08/src/main/java/com/jenbrick/fileadapter/delivery/UpsertClient.java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lines show the data file and its empty sibling ready marker. The YAML fragment illustrates the filename-pattern property. The producer must finish and close the data file, then create the .ready marker and leave the data unchanged. Defaults are a five-second poll interval and a two-second minimum data-file age. ProfileCatalog requires exactly one matching filename pattern for polling. It does not infer syntax from bytes. The CLI profile-id override bypasses filename routing for one-shot files. Polling ignores hidden files, symlinks and marker files. It copies data to persistent local storage and registers the run before removing the marker and incoming data. The one-shot command copies its input without removing it. The OS/service account must expose the LAN share as a filesystem path. One worker must own the incoming directory; a local work-directory lock is not a distributed file claim.</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https://github.com/jenbrick/fileadapter/blob/87a8c08/src/main/java/com/jenbrick/fileadapter/processing/DirectoryPoller.java</a:t>
            </a:r>
          </a:p>
          <a:p xmlns:a="http://schemas.openxmlformats.org/drawingml/2006/main">
            <a:r>
              <a:t>https://github.com/jenbrick/fileadapter/blob/87a8c08/src/main/java/com/jenbrick/fileadapter/config/ProfileCatalog.java</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https://github.com/jenbrick/fileadapter/blob/87a8c08/src/main/resources/application.yml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small profile showing only email mapping rather than the full enrollment payload. The actual profile contains logical-field aliases, complete mappings and required output contract paths. The contract validator checks presence, JSON type and nullability. It does not implement complete JSON Schema or API business validation. Defaults and date conversion live in mappings; stable business keys and upsert semantics belong to the service contract. The active application.yml shares complete mapping/contract definitions through YAML anchors across the sample feeds. External configuration replaces profile lists rather than merging individual entries, so supply the full desired list. During development, change configuration and restart; hot reload is not implemented. Saved run snapshots preserve the resolved profile for ongoing processing.</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https://github.com/jenbrick/fileadapter/blob/87a8c08/src/main/resources/application.yml</a:t>
            </a:r>
          </a:p>
          <a:p xmlns:a="http://schemas.openxmlformats.org/drawingml/2006/main">
            <a:r>
              <a:t>https://github.com/jenbrick/fileadapter/blob/87a8c08/src/main/java/com/jenbrick/fileadapter/config/Profile.java</a:t>
            </a:r>
          </a:p>
          <a:p xmlns:a="http://schemas.openxmlformats.org/drawingml/2006/main">
            <a:r>
              <a:t>https://github.com/jenbrick/fileadapter/blob/87a8c08/src/main/java/com/jenbrick/fileadapter/mapping/RequestValidator.java</a:t>
            </a:r>
          </a:p>
          <a:p xmlns:a="http://schemas.openxmlformats.org/drawingml/2006/main">
            <a:r>
              <a:t>https://github.com/jenbrick/fileadapter/blob/87a8c08/README.md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shortened examples showing the same record before and after mapping. CSV values start as strings. The adapter does not decide that a first name belongs under person. The configurable mapper owns that placement. A SourceRecord carries a stable logical record number plus JsonNode payload. The output is an ObjectNode that matches the service request contract. Jackson serializes it when the client posts; no intermediate JSON file is required for live delivery.</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https://github.com/jenbrick/fileadapter/blob/87a8c08/src/main/java/com/jenbrick/fileadapter/source/SourceRecord.java</a:t>
            </a:r>
          </a:p>
          <a:p xmlns:a="http://schemas.openxmlformats.org/drawingml/2006/main">
            <a:r>
              <a:t>https://github.com/jenbrick/fileadapter/blob/87a8c08/src/main/java/com/jenbrick/fileadapter/source/DelimitedFileAdapter.java</a:t>
            </a:r>
          </a:p>
          <a:p xmlns:a="http://schemas.openxmlformats.org/drawingml/2006/main">
            <a:r>
              <a:t>https://github.com/jenbrick/fileadapter/blob/87a8c08/src/main/java/com/jenbrick/fileadapter/mapping/ConfigurableRequestMapper.java</a:t>
            </a:r>
          </a:p>
          <a:p xmlns:a="http://schemas.openxmlformats.org/drawingml/2006/main">
            <a:r>
              <a:t>https://github.com/jenbrick/fileadapter/blob/87a8c08/src/main/java/com/jenbrick/fileadapter/delivery/HttpUpsertClient.java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interface returns Profile.Format rather than a filename extension. Spring injects every FileFormatAdapter implementation into AdapterRegistry. The registry rejects duplicate format registrations. A parser owns its file resources for the entire read callback. Every emitted number must be positive, strictly increasing and stable across repeated parsing of the same bytes. FileProcessor enforces increasing values. The number identifies the persisted request and participates in its idempotency key. A logical CSV record can span multiple physical lines.</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https://github.com/jenbrick/fileadapter/blob/87a8c08/src/main/java/com/jenbrick/fileadapter/source/FileFormatAdapter.java</a:t>
            </a:r>
          </a:p>
          <a:p xmlns:a="http://schemas.openxmlformats.org/drawingml/2006/main">
            <a:r>
              <a:t>https://github.com/jenbrick/fileadapter/blob/87a8c08/src/main/java/com/jenbrick/fileadapter/source/AdapterRegistry.java</a:t>
            </a:r>
          </a:p>
          <a:p xmlns:a="http://schemas.openxmlformats.org/drawingml/2006/main">
            <a:r>
              <a:t>https://github.com/jenbrick/fileadapter/blob/87a8c08/src/main/java/com/jenbrick/fileadapter/source/SourceRecord.java</a:t>
            </a:r>
          </a:p>
          <a:p xmlns:a="http://schemas.openxmlformats.org/drawingml/2006/main">
            <a:r>
              <a:t>https://github.com/jenbrick/fileadapter/blob/87a8c08/src/main/java/com/jenbrick/fileadapter/processing/FileProcessor.java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adapter implementations cover eight active example profiles: headed CSV, fixed-width, headed pipe, headerless pipe, XML, JSON array, JSON object and JSON Lines. The delimited parser also supports tab delimiters when configured. The application selects a profile rather than guessing the format, headers, encoding or business meaning. XML and JSON records preserve nested values before logical-field normalization.</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https://github.com/jenbrick/fileadapter/blob/87a8c08/src/main/java/com/jenbrick/fileadapter/source/DelimitedFileAdapter.java</a:t>
            </a:r>
          </a:p>
          <a:p xmlns:a="http://schemas.openxmlformats.org/drawingml/2006/main">
            <a:r>
              <a:t>https://github.com/jenbrick/fileadapter/blob/87a8c08/src/main/java/com/jenbrick/fileadapter/source/FixedWidthFileAdapter.java</a:t>
            </a:r>
          </a:p>
          <a:p xmlns:a="http://schemas.openxmlformats.org/drawingml/2006/main">
            <a:r>
              <a:t>https://github.com/jenbrick/fileadapter/blob/87a8c08/src/main/java/com/jenbrick/fileadapter/source/XmlFileAdapter.java</a:t>
            </a:r>
          </a:p>
          <a:p xmlns:a="http://schemas.openxmlformats.org/drawingml/2006/main">
            <a:r>
              <a:t>https://github.com/jenbrick/fileadapter/blob/87a8c08/src/main/java/com/jenbrick/fileadapter/source/JsonFileAdapter.java</a:t>
            </a:r>
          </a:p>
          <a:p xmlns:a="http://schemas.openxmlformats.org/drawingml/2006/main">
            <a:r>
              <a:t>https://github.com/jenbrick/fileadapter/blob/87a8c08/docs/formats.md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snippets are small layout examples rather than the complete active enrollment profiles. Headerless pipe input retains the first data record and assigns the configured ordered column names. The fixed-width example counts Unicode code points using zero-based offsets, not bytes. It requires 20 characters per line. The actual sample enrollment.fw uses 106 characters and eight fields. Padding remains in parser output until the mapping trim transform removes it. Fixed-width gaps are permitted; overlap, duplicate names, short or long records fail.</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https://github.com/jenbrick/fileadapter/blob/87a8c08/src/main/java/com/jenbrick/fileadapter/config/LayoutValidator.java</a:t>
            </a:r>
          </a:p>
          <a:p xmlns:a="http://schemas.openxmlformats.org/drawingml/2006/main">
            <a:r>
              <a:t>https://github.com/jenbrick/fileadapter/blob/87a8c08/src/main/java/com/jenbrick/fileadapter/source/DelimitedFileAdapter.java</a:t>
            </a:r>
          </a:p>
          <a:p xmlns:a="http://schemas.openxmlformats.org/drawingml/2006/main">
            <a:r>
              <a:t>https://github.com/jenbrick/fileadapter/blob/87a8c08/src/main/java/com/jenbrick/fileadapter/source/FixedWidthFileAdapter.java</a:t>
            </a:r>
          </a:p>
          <a:p xmlns:a="http://schemas.openxmlformats.org/drawingml/2006/main">
            <a:r>
              <a:t>https://github.com/jenbrick/fileadapter/blob/87a8c08/docs/formats.md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path /employees/employee selects each employee element as one record. Attributes become @-prefixed keys. Nested children become objects; repeated sibling names become arrays. Leaf values remain strings, empty elements become empty strings, and xsi:nil=true becomes null. Configure namespace aliases to select by URI rather than the document prefix spelling. Source selectors beginning with / use JSON Pointer syntax to read nested values or attributes. The JDK StAX parser rejects DTDs, custom entities and external resources. Mixed nonblank text with children requires a custom representation rather than silent flattening. Details and size limits are in docs/formats.md.</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https://github.com/jenbrick/fileadapter/blob/87a8c08/src/main/java/com/jenbrick/fileadapter/source/XmlFileAdapter.java</a:t>
            </a:r>
          </a:p>
          <a:p xmlns:a="http://schemas.openxmlformats.org/drawingml/2006/main">
            <a:r>
              <a:t>https://github.com/jenbrick/fileadapter/blob/87a8c08/src/main/java/com/jenbrick/fileadapter/config/XmlNames.java</a:t>
            </a:r>
          </a:p>
          <a:p xmlns:a="http://schemas.openxmlformats.org/drawingml/2006/main">
            <a:r>
              <a:t>https://github.com/jenbrick/fileadapter/blob/87a8c08/src/main/java/com/jenbrick/fileadapter/source/SourceNormalizer.java</a:t>
            </a:r>
          </a:p>
          <a:p xmlns:a="http://schemas.openxmlformats.org/drawingml/2006/main">
            <a:r>
              <a:t>https://github.com/jenbrick/fileadapter/blob/87a8c08/docs/formats.md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small structural examples of each supported document mode. The active samples use employeeId and the nested enrollment shape. OBJECT consumes exactly one root object. ARRAY streams one object at a time from a root array. LINES accepts one object per nonblank physical line and rejects multiline records. The parser rejects duplicate keys anywhere in a record, scalar records, truncated documents and trailing content. Decimal parsing uses BigDecimal. A wrapper such as {employees:[...]} remains one object in OBJECT mode and is not automatically expanded into requests. Existing limits constrain depth, string length and numeric length; an individual object can still be large.</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https://github.com/jenbrick/fileadapter/blob/87a8c08/src/main/java/com/jenbrick/fileadapter/source/JsonFileAdapter.java</a:t>
            </a:r>
          </a:p>
          <a:p xmlns:a="http://schemas.openxmlformats.org/drawingml/2006/main">
            <a:r>
              <a:t>https://github.com/jenbrick/fileadapter/blob/87a8c08/docs/formats.md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SourceNormalizer first resolves physical fields or JSON Pointers into logical names. ConfigurableRequestMapper then reads the logical field and writes an output path. This means an input alias can change without changing the API payload. Literal selectors remain literal, so a column named a.b is not automatically a nested lookup. Only selectors starting with / use JSON Pointer, including escapes ~1 for slash and ~0 for tilde. If both a canonical column and alias appear, they must have equal values. Unknown physical columns are ignored when explicit logical fields are configured.</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https://github.com/jenbrick/fileadapter/blob/87a8c08/src/main/java/com/jenbrick/fileadapter/source/SourceNormalizer.java</a:t>
            </a:r>
          </a:p>
          <a:p xmlns:a="http://schemas.openxmlformats.org/drawingml/2006/main">
            <a:r>
              <a:t>https://github.com/jenbrick/fileadapter/blob/87a8c08/src/main/java/com/jenbrick/fileadapter/mapping/JsonPaths.java</a:t>
            </a:r>
          </a:p>
          <a:p xmlns:a="http://schemas.openxmlformats.org/drawingml/2006/main">
            <a:r>
              <a:t>https://github.com/jenbrick/fileadapter/blob/87a8c08/src/main/resources/application.yml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sequence is: read a source value; apply a default only if missing; run named transforms for non-null values; apply blank handling to textual blanks; enforce required values; perform configured value translation; insert at the target path. The example trims email and omits it if blank. The effective date must be present and parse as ISO. Built-in transforms are trim, uppercase, lowercase, integer, decimal, boolean, iso-date and us-date. A blank numeric/date conversion can fail before blank policy runs, because transforms run first. Unknown transformation names fail configuration validation.</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https://github.com/jenbrick/fileadapter/blob/87a8c08/src/main/java/com/jenbrick/fileadapter/mapping/ConfigurableRequestMapper.java</a:t>
            </a:r>
          </a:p>
          <a:p xmlns:a="http://schemas.openxmlformats.org/drawingml/2006/main">
            <a:r>
              <a:t>https://github.com/jenbrick/fileadapter/blob/87a8c08/src/main/java/com/jenbrick/fileadapter/mapping/TransformRegistry.java</a:t>
            </a:r>
          </a:p>
          <a:p xmlns:a="http://schemas.openxmlformats.org/drawingml/2006/main">
            <a:r>
              <a:t>https://github.com/jenbrick/fileadapter/blob/87a8c08/src/main/resources/application.yml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these cases distinct until the API owner confirms its upsert semantics. A missing optional source stays absent unless a default is configured. An explicit optional null remains null and bypasses transformations. A blank textual value uses OMIT by default, or NULL, EMPTY or REJECT when configured. Mapping required=true rejects missing, null or blank values, even if the output contract might otherwise permit null. To require presence but allow a null output, configure the mapping and contract deliberately rather than assuming their flags mean the same thing.</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https://github.com/jenbrick/fileadapter/blob/87a8c08/src/main/java/com/jenbrick/fileadapter/mapping/ConfigurableRequestMapper.java</a:t>
            </a:r>
          </a:p>
          <a:p xmlns:a="http://schemas.openxmlformats.org/drawingml/2006/main">
            <a:r>
              <a:t>https://github.com/jenbrick/fileadapter/blob/87a8c08/src/main/java/com/jenbrick/fileadapter/mapping/RequestValidator.java</a:t>
            </a:r>
          </a:p>
          <a:p xmlns:a="http://schemas.openxmlformats.org/drawingml/2006/main">
            <a:r>
              <a:t>https://github.com/jenbrick/fileadapter/blob/87a8c08/docs/formats.md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FileProcessor copies the input, hashes it, records the snapshot, and starts STAGING. Each parsed, normalized, mapped and validated request is stored as PENDING in H2. Only after the parser reaches the end of the entire file and at least one request exists does the run become READY. Thus a malformed later XML closing tag or later JSON record can fail the file after some rows were staged, without sending any POST. The examples in LiveIntegrationTest validate this behavior across fixed-width, pipe, XML, JSON array and JSON Lines. Disk use grows with the staged request count; this is not a whole-file Java List.</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https://github.com/jenbrick/fileadapter/blob/87a8c08/src/main/java/com/jenbrick/fileadapter/processing/ProcessingLedger.java</a:t>
            </a:r>
          </a:p>
          <a:p xmlns:a="http://schemas.openxmlformats.org/drawingml/2006/main">
            <a:r>
              <a:t>https://github.com/jenbrick/fileadapter/blob/87a8c08/src/test/java/com/jenbrick/fileadapter/LiveIntegrationTest.java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SHA-256 of contentHash, a newline and canonical snapshot JSON. That snapshot contains engineVersion, the profile, execution mode and delivery settings. The filename is not part of identity. Identical bytes with the same profile/mode/delivery settings reuse a run; the first registered filename remains the source label. Changes in mode, endpoint, mapping or other snapshot settings generate a new identity. Tokens are deliberately excluded and read from current runtime configuration so credentials can rotate. Each request key is run-id:record-number. This is run-level deduplication, not deduplication of a business entity across changed files.</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https://github.com/jenbrick/fileadapter/blob/87a8c08/src/main/java/com/jenbrick/fileadapter/processing/RunSnapshot.java</a:t>
            </a:r>
          </a:p>
          <a:p xmlns:a="http://schemas.openxmlformats.org/drawingml/2006/main">
            <a:r>
              <a:t>https://github.com/jenbrick/fileadapter/blob/87a8c08/src/main/java/com/jenbrick/fileadapter/config/RuntimeConfiguration.java</a:t>
            </a:r>
          </a:p>
          <a:p xmlns:a="http://schemas.openxmlformats.org/drawingml/2006/main">
            <a:r>
              <a:t>https://github.com/jenbrick/fileadapter/blob/87a8c08/src/main/java/com/jenbrick/fileadapter/delivery/HttpUpsertClient.java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PreviewWriter streams staged requests into two artifacts. The named .preview.json wraps source metadata and a requests array for people to inspect. requests.jsonl holds the raw request objects exactly as staged. Metadata includes source filename, readable file type, generic adapter format, profile, charset, run ID, checksum, request count and format-specific details. The left excerpt intentionally omits other metadata fields. The wrapper never becomes the HTTP body. On ApplicationReadyEvent, FileProcessor backfills missing artifacts for PREVIEWED runs using saved payloads without reparsing or calling the API. Portable filenames sanitize unsafe characters while metadata keeps the original filename.</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https://github.com/jenbrick/fileadapter/blob/87a8c08/src/main/java/com/jenbrick/fileadapter/processing/PreviewWriter.java</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https://github.com/jenbrick/fileadapter/blob/87a8c08/docs/formats.md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HttpUpsertClient sends one request per mapped record with application/json. Spring RestClient uses Jackson to serialize JsonNode. The service endpoint, timeouts, retry settings and success-status list come from the saved delivery snapshot. The optional bearer token comes from current runtime configuration. The default success statuses are 200, 201 and 204. A 202 is uncertain unless explicitly included in the service-specific acknowledgement contract. The client classifies 408, 429 and any 5xx as retryable, other non-acknowledged statuses as permanent rejection, and transport access failures as uncertain. It does not follow redirects and does not persist HTTP bodies. Full asynchronous completion tracking is outside this POC.</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https://github.com/jenbrick/fileadapter/blob/87a8c08/src/main/java/com/jenbrick/fileadapter/delivery/HttpUpsertClient.java</a:t>
            </a:r>
          </a:p>
          <a:p xmlns:a="http://schemas.openxmlformats.org/drawingml/2006/main">
            <a:r>
              <a:t>https://github.com/jenbrick/fileadapter/blob/87a8c08/src/main/java/com/jenbrick/fileadapter/delivery/UpsertClient.java</a:t>
            </a:r>
          </a:p>
          <a:p xmlns:a="http://schemas.openxmlformats.org/drawingml/2006/main">
            <a:r>
              <a:t>https://github.com/jenbrick/fileadapter/blob/87a8c08/src/main/resources/application.yml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Whole-file preflight prevents parsing errors from causing partial HTTP delivery, but network or service failures can still occur after earlier requests have committed. The ledger records SENDING before the side effect, then stores its outcome. In this scenario, a timeout on record 2 may mean the service committed but the response never reached the worker. With replay-safe=false (the default), the worker pauses and refuses blind replay, including explicit resume. With a proven idempotency guarantee for the configured header, retries reuse the same run-id:record-number key. Acknowledged records are skipped. Bounded exponential backoff uses up to three attempts by default, one-second starting delay, capped at 30 seconds per wait. The implementation does not yet honor Retry-After. An explicit resume can grant a fresh attempt budget for a paused replay-safe run. There is no built-in operator reconciliation command for unsafe uncertain deliveries.</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https://github.com/jenbrick/fileadapter/blob/87a8c08/src/main/java/com/jenbrick/fileadapter/delivery/HttpUpsertClient.java</a:t>
            </a:r>
          </a:p>
          <a:p xmlns:a="http://schemas.openxmlformats.org/drawingml/2006/main">
            <a:r>
              <a:t>https://github.com/jenbrick/fileadapter/blob/87a8c08/src/test/java/com/jenbrick/fileadapter/LiveIntegrationTest.java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live route is STAGING, READY, DELIVERING, FINALIZING, COMPLETED. Preview runs take READY to FINALIZING and PREVIEWED. Invalid input/mapping or permanent delivery rejection ends FAILED. Unacknowledged unsafe delivery or exhausted retry budget pauses the run. The diagram omits some failure edges for readability. DirectoryPoller calls recover before polling new files; recovery scans STAGING, READY, DELIVERING and FINALIZING. One-shot file mode does not run that poll recovery loop; use --ingestion.resume for an explicit run. Interrupted STAGING is safe to clear/reparse because no request has been sent. Persisted payloads prevent remapping during delivery recovery. FINALIZING reconciles an archive move before the final state update. FAILED runs do not automatically resume. Corrected content or configuration creates another run.</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https://github.com/jenbrick/fileadapter/blob/87a8c08/src/main/java/com/jenbrick/fileadapter/processing/ProcessingLedger.java</a:t>
            </a:r>
          </a:p>
          <a:p xmlns:a="http://schemas.openxmlformats.org/drawingml/2006/main">
            <a:r>
              <a:t>https://github.com/jenbrick/fileadapter/blob/87a8c08/src/main/java/com/jenbrick/fileadapter/processing/DirectoryPoller.java</a:t>
            </a:r>
          </a:p>
          <a:p xmlns:a="http://schemas.openxmlformats.org/drawingml/2006/main">
            <a:r>
              <a:t>https://github.com/jenbrick/fileadapter/blob/87a8c08/src/main/java/com/jenbrick/fileadapter/FileAdapterApplication.java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configuration for changes that remain within existing parser and mapper semantics. A new named ValueTransform bean extends business conversion without modifying the parser. A complex mapper can replace the default through a Primary RequestMapper implementation. New syntax needs its own format identifier, layout validation and adapter bean. Arrays can pass through as complete values, but multiple source rows becoming one aggregate still requires an explicit assembly stage with ordering, grouping and conflict rules. Version profile meaning deliberately. Existing in-flight snapshots must remain readable; code changes to parser/transform semantics need their own compatibility plan.</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https://github.com/jenbrick/fileadapter/blob/87a8c08/docs/extensions.md</a:t>
            </a:r>
          </a:p>
          <a:p xmlns:a="http://schemas.openxmlformats.org/drawingml/2006/main">
            <a:r>
              <a:t>https://github.com/jenbrick/fileadapter/blob/87a8c08/src/main/java/com/jenbrick/fileadapter/config/Profile.java</a:t>
            </a:r>
          </a:p>
          <a:p xmlns:a="http://schemas.openxmlformats.org/drawingml/2006/main">
            <a:r>
              <a:t>https://github.com/jenbrick/fileadapter/blob/87a8c08/src/main/java/com/jenbrick/fileadapter/config/LayoutValidator.java</a:t>
            </a:r>
          </a:p>
          <a:p xmlns:a="http://schemas.openxmlformats.org/drawingml/2006/main">
            <a:r>
              <a:t>https://github.com/jenbrick/fileadapter/blob/87a8c08/src/main/java/com/jenbrick/fileadapter/mapping/ValueTransform.java</a:t>
            </a:r>
          </a:p>
          <a:p xmlns:a="http://schemas.openxmlformats.org/drawingml/2006/main">
            <a:r>
              <a:t>https://github.com/jenbrick/fileadapter/blob/87a8c08/src/main/java/com/jenbrick/fileadapter/mapping/RequestMapper.java</a:t>
            </a:r>
          </a:p>
          <a:p xmlns:a="http://schemas.openxmlformats.org/drawingml/2006/main">
            <a:r>
              <a:t>https://github.com/jenbrick/fileadapter/blob/87a8c08/src/main/java/com/jenbrick/fileadapter/source/FileFormatAdapter.java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from the cloned project root, whether the folder is fileadapter or file-adapter-poc. The Gradle project name remains fileadapter, so the JAR path shown is correct unless the team renames the build. Java 17 or later must be available to launch Gradle. JAVA_HOME points to the installation root and Path includes its bin. The Foojay resolver can download the JDK 17 compiler after Gradle starts; corporate networks may require approved access and trust settings for Git, Gradle and Java separately. Run the XML example, inspect its source metadata, then compare raw request JSON Lines with the fixture. Repeat with fixed-width, headerless pipe or JSON. Preview mode defaults to PREVIEW and exits 0 on success, 1 on failed/paused processing.</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https://github.com/jenbrick/fileadapter/blob/87a8c08/README.md</a:t>
            </a:r>
          </a:p>
          <a:p xmlns:a="http://schemas.openxmlformats.org/drawingml/2006/main">
            <a:r>
              <a:t>https://github.com/jenbrick/fileadapter/blob/87a8c08/settings.gradle</a:t>
            </a:r>
          </a:p>
          <a:p xmlns:a="http://schemas.openxmlformats.org/drawingml/2006/main">
            <a:r>
              <a:t>https://github.com/jenbrick/fileadapter/blob/87a8c08/build.gradle</a:t>
            </a:r>
          </a:p>
          <a:p xmlns:a="http://schemas.openxmlformats.org/drawingml/2006/main">
            <a:r>
              <a:t>https://github.com/jenbrick/fileadapter/blob/87a8c08/src/main/java/com/jenbrick/fileadapter/FileAdapterApplication.java</a:t>
            </a:r>
          </a:p>
          <a:p xmlns:a="http://schemas.openxmlformats.org/drawingml/2006/main">
            <a:r>
              <a:t>https://github.com/jenbrick/fileadapter/blob/87a8c08/docs/formats.md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controlled local mock or the agreed POC endpoint. The localhost URL shown is a placeholder for a service the presenter must start separately. The application does not ship an always-running mock server, although integration tests create an in-process one. Set UPSERT_BEARER_TOKEN through the environment when the real endpoint requires it. Do not enable replay-safe unless the service guarantees the configured idempotency key. For the failure exercise, copy an example, preserve a filename that matches its profile, introduce a malformed later row or document tail, then preview it. The run fails preflight and reports no HTTP delivery. Inspect errors/&lt;run-id&gt;/error.json and the ledger state. For a controlled HTTP failure demo, use the integration tests or configure the mock server to return a failure on record 2.</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https://github.com/jenbrick/fileadapter/blob/87a8c08/README.md</a:t>
            </a:r>
          </a:p>
          <a:p xmlns:a="http://schemas.openxmlformats.org/drawingml/2006/main">
            <a:r>
              <a:t>https://github.com/jenbrick/fileadapter/blob/87a8c08/src/main/java/com/jenbrick/fileadapter/delivery/HttpUpsertClient.java</a:t>
            </a:r>
          </a:p>
          <a:p xmlns:a="http://schemas.openxmlformats.org/drawingml/2006/main">
            <a:r>
              <a:t>https://github.com/jenbrick/fileadapter/blob/87a8c08/src/main/java/com/jenbrick/fileadapter/processing/FileProcessor.java</a:t>
            </a:r>
          </a:p>
          <a:p xmlns:a="http://schemas.openxmlformats.org/drawingml/2006/main">
            <a:r>
              <a:t>https://github.com/jenbrick/fileadapter/blob/87a8c08/src/test/java/com/jenbrick/fileadapter/LiveIntegrationTest.java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source baseline 87a8c08, the repository has 70 passing tests. This is a suite count rather than a coverage percentage. The suite validates exact example requests, parser edge cases, blank/null/type rules, whole-file preflight, real local HTTP serialization, partial success, retry identity, unsafe interrupted delivery, 202 and timeout classification, CSV snapshot compatibility, and legacy preview backfill. Deployment scope remains a single worker owning its incoming directory and a persistent local work directory. H2 and the filesystem are not a distributed transaction with the service. Contract validation checks configured required paths, types and nullability, not the complete OpenAPI/JSON Schema specification. Corporate deployment still needs agreed auth, retention, monitoring and operational procedures.</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https://github.com/jenbrick/fileadapter/blob/87a8c08/README.md</a:t>
            </a:r>
          </a:p>
          <a:p xmlns:a="http://schemas.openxmlformats.org/drawingml/2006/main">
            <a:r>
              <a:t>https://github.com/jenbrick/fileadapter/blob/87a8c08/src/test/java/com/jenbrick/fileadapter/AdapterAndMappingTest.java</a:t>
            </a:r>
          </a:p>
          <a:p xmlns:a="http://schemas.openxmlformats.org/drawingml/2006/main">
            <a:r>
              <a:t>https://github.com/jenbrick/fileadapter/blob/87a8c08/src/test/java/com/jenbrick/fileadapter/AdditionalAdaptersTest.java</a:t>
            </a:r>
          </a:p>
          <a:p xmlns:a="http://schemas.openxmlformats.org/drawingml/2006/main">
            <a:r>
              <a:t>https://github.com/jenbrick/fileadapter/blob/87a8c08/src/test/java/com/jenbrick/fileadapter/PreviewIntegrationTest.java</a:t>
            </a:r>
          </a:p>
          <a:p xmlns:a="http://schemas.openxmlformats.org/drawingml/2006/main">
            <a:r>
              <a:t>https://github.com/jenbrick/fileadapter/blob/87a8c08/src/test/java/com/jenbrick/fileadapter/LiveIntegrationTest.java</a:t>
            </a:r>
          </a:p>
          <a:p xmlns:a="http://schemas.openxmlformats.org/drawingml/2006/main">
            <a:r>
              <a:t>https://github.com/jenbrick/fileadapter/blob/87a8c08/src/main/java/com/jenbrick/fileadapter/config/RuntimeConfiguration.java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discussion close. Ask the source producer for actual sample files, encoding, record boundaries and completion protocol. Ask the API owner for request schema, stable business keys, omission/null semantics, success acknowledgement, asynchronous behavior, idempotency key support and retention window. Confirm whether one source record maps to one request or rows must group. Agree on endpoint authentication and network/certificate setup. Define retention and access for inputs, request payloads, previews and state, plus how an operator reconciles an uncertain non-idempotent delivery. These are contract decisions, not guesses a file adapter should make.</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https://github.com/jenbrick/fileadapter/blob/87a8c08/docs/formats.md</a:t>
            </a:r>
          </a:p>
          <a:p xmlns:a="http://schemas.openxmlformats.org/drawingml/2006/main">
            <a:r>
              <a:t>https://github.com/jenbrick/fileadapter/blob/87a8c08/docs/extensions.md</a:t>
            </a:r>
          </a:p>
          <a:p xmlns:a="http://schemas.openxmlformats.org/drawingml/2006/main">
            <a:r>
              <a:t>https://github.com/jenbrick/fileadapter/blob/87a8c08/README.md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source-navigation order: application.yml, FileFormatAdapter and a concrete parser, SourceNormalizer, ConfigurableRequestMapper, RequestValidator, FileProcessor, ProcessingLedger, PreviewWriter, HttpUpsertClient, then the integration tests. The complete Mermaid architecture is in docs/architecture.md and editable source is docs/architecture.mmd. This deck uses simplified native diagrams and short excerpts; the repository remains authoritative. The format guide includes all sample filenames and complete active layout examples.</a:t>
            </a:r>
          </a:p>
          <a:p xmlns:a="http://schemas.openxmlformats.org/drawingml/2006/main">
            <a:r>
              <a:t/>
            </a:r>
          </a:p>
          <a:p xmlns:a="http://schemas.openxmlformats.org/drawingml/2006/main">
            <a:r>
              <a:t>Code baseline: 87a8c08 (27 October 2026).</a:t>
            </a:r>
          </a:p>
          <a:p xmlns:a="http://schemas.openxmlformats.org/drawingml/2006/main">
            <a:r>
              <a:t>Sources:</a:t>
            </a:r>
          </a:p>
          <a:p xmlns:a="http://schemas.openxmlformats.org/drawingml/2006/main">
            <a:r>
              <a:t>https://github.com/jenbrick/fileadapter/blob/87a8c08/src/main/resources/application.yml</a:t>
            </a:r>
          </a:p>
          <a:p xmlns:a="http://schemas.openxmlformats.org/drawingml/2006/main">
            <a:r>
              <a:t>https://github.com/jenbrick/fileadapter/blob/87a8c08/docs/architecture.md</a:t>
            </a:r>
          </a:p>
          <a:p xmlns:a="http://schemas.openxmlformats.org/drawingml/2006/main">
            <a:r>
              <a:t>https://github.com/jenbrick/fileadapter/blob/87a8c08/docs/architecture.mmd</a:t>
            </a:r>
          </a:p>
          <a:p xmlns:a="http://schemas.openxmlformats.org/drawingml/2006/main">
            <a:r>
              <a:t>https://github.com/jenbrick/fileadapter/blob/87a8c08/docs/formats.md</a:t>
            </a:r>
          </a:p>
          <a:p xmlns:a="http://schemas.openxmlformats.org/drawingml/2006/main">
            <a:r>
              <a:t>https://github.com/jenbrick/fileadapter/blob/87a8c08/docs/extensions.md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7e3afdcc0e4c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9d565ff4874f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354054ad0748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b9c76d897246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0952d1b9e940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4104649d264b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B67AED-07FD-4564-852E-4A1A0E9F33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626AC9-1B46-4D23-9499-00086AFFDA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1311655-EA59-4BB1-A1B4-67CF1A20D7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66244F-A58C-4752-A76E-DC35EF3B98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FF1173-4660-4210-91B3-56EF7CE354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5E3ECE-B3C1-40E6-89C0-644298151B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122A2A-CACF-43D0-A818-135C928F72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94DFD92-E5F4-43DD-B772-CFBFE19352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BA20F5-3894-4CF9-A8B5-5D19C34FA2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5DC556-249C-4DD8-A79A-EA96622FC7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633c34b09b4ee1" /><Relationship Type="http://schemas.openxmlformats.org/officeDocument/2006/relationships/slideLayout" Target="/ppt/slideLayouts/slideLayout1.xml" Id="R4ab8c9dca1214218" /><Relationship Type="http://schemas.openxmlformats.org/officeDocument/2006/relationships/slideLayout" Target="/ppt/slideLayouts/slideLayout2.xml" Id="R07a2c11f7d85415a" /><Relationship Type="http://schemas.openxmlformats.org/officeDocument/2006/relationships/slideLayout" Target="/ppt/slideLayouts/slideLayout3.xml" Id="R5c712ebde6144bf7" /><Relationship Type="http://schemas.openxmlformats.org/officeDocument/2006/relationships/slideLayout" Target="/ppt/slideLayouts/slideLayout4.xml" Id="R0c10a92f5aaf45aa" /><Relationship Type="http://schemas.openxmlformats.org/officeDocument/2006/relationships/slideLayout" Target="/ppt/slideLayouts/slideLayout5.xml" Id="R23064b4a13814c09" /><Relationship Type="http://schemas.openxmlformats.org/officeDocument/2006/relationships/slideLayout" Target="/ppt/slideLayouts/slideLayout6.xml" Id="R892dd456607e4e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b8c9dca1214218"/>
    <p:sldLayoutId xmlns:r="http://schemas.openxmlformats.org/officeDocument/2006/relationships" id="2147483650" r:id="R07a2c11f7d85415a"/>
    <p:sldLayoutId xmlns:r="http://schemas.openxmlformats.org/officeDocument/2006/relationships" id="2147483651" r:id="R5c712ebde6144bf7"/>
    <p:sldLayoutId xmlns:r="http://schemas.openxmlformats.org/officeDocument/2006/relationships" id="2147483652" r:id="R0c10a92f5aaf45aa"/>
    <p:sldLayoutId xmlns:r="http://schemas.openxmlformats.org/officeDocument/2006/relationships" id="2147483653" r:id="R23064b4a13814c09"/>
    <p:sldLayoutId xmlns:r="http://schemas.openxmlformats.org/officeDocument/2006/relationships" id="2147483654" r:id="R892dd456607e4e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513833ed5f46d9" /><Relationship Type="http://schemas.openxmlformats.org/officeDocument/2006/relationships/notesSlide" Target="/ppt/notesSlides/notesSlide1.xml" Id="R99bf7ef7f23646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9d6f65978f41be" /><Relationship Type="http://schemas.openxmlformats.org/officeDocument/2006/relationships/notesSlide" Target="/ppt/notesSlides/notesSlide2.xml" Id="R301ce441cc954c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836a6f734e4c2d" /><Relationship Type="http://schemas.openxmlformats.org/officeDocument/2006/relationships/notesSlide" Target="/ppt/notesSlides/notesSlide3.xml" Id="Rb11e541dc1a64b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4240e7cd8e4bea" /><Relationship Type="http://schemas.openxmlformats.org/officeDocument/2006/relationships/notesSlide" Target="/ppt/notesSlides/notesSlide4.xml" Id="R4d3323d98fbc41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71dfe9c86c04e36" /><Relationship Type="http://schemas.openxmlformats.org/officeDocument/2006/relationships/notesSlide" Target="/ppt/notesSlides/notesSlide5.xml" Id="Rffed192fe4004b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eeef02561f4409" /><Relationship Type="http://schemas.openxmlformats.org/officeDocument/2006/relationships/notesSlide" Target="/ppt/notesSlides/notesSlide6.xml" Id="Re635eae0ba044e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c1e5f2949f4907" /><Relationship Type="http://schemas.openxmlformats.org/officeDocument/2006/relationships/notesSlide" Target="/ppt/notesSlides/notesSlide7.xml" Id="R15202228151e4d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c3b2fc75a849fd" /><Relationship Type="http://schemas.openxmlformats.org/officeDocument/2006/relationships/notesSlide" Target="/ppt/notesSlides/notesSlide8.xml" Id="R01156e4efe674f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2e1d44091e427a" /><Relationship Type="http://schemas.openxmlformats.org/officeDocument/2006/relationships/notesSlide" Target="/ppt/notesSlides/notesSlide9.xml" Id="Rbad279b099374e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989a088bf04b2a" /><Relationship Type="http://schemas.openxmlformats.org/officeDocument/2006/relationships/notesSlide" Target="/ppt/notesSlides/notesSlide10.xml" Id="R7f0cbf85e17d4e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d8ce9cd3d14908" /><Relationship Type="http://schemas.openxmlformats.org/officeDocument/2006/relationships/notesSlide" Target="/ppt/notesSlides/notesSlide11.xml" Id="R301e9c7b577a4b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28162a2876945f1" /><Relationship Type="http://schemas.openxmlformats.org/officeDocument/2006/relationships/notesSlide" Target="/ppt/notesSlides/notesSlide12.xml" Id="R06bd4d6f1e5146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863d67fabc4d18" /><Relationship Type="http://schemas.openxmlformats.org/officeDocument/2006/relationships/notesSlide" Target="/ppt/notesSlides/notesSlide13.xml" Id="Rca8e3227533d4f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eff9e2a7512455f" /><Relationship Type="http://schemas.openxmlformats.org/officeDocument/2006/relationships/notesSlide" Target="/ppt/notesSlides/notesSlide14.xml" Id="R11b4727306894a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9b4a8ccd2294a30" /><Relationship Type="http://schemas.openxmlformats.org/officeDocument/2006/relationships/notesSlide" Target="/ppt/notesSlides/notesSlide15.xml" Id="Re17b692ebc5c47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5d490a3b40b4c9b" /><Relationship Type="http://schemas.openxmlformats.org/officeDocument/2006/relationships/notesSlide" Target="/ppt/notesSlides/notesSlide16.xml" Id="R26bcd811004341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c489af5aa743ae" /><Relationship Type="http://schemas.openxmlformats.org/officeDocument/2006/relationships/notesSlide" Target="/ppt/notesSlides/notesSlide17.xml" Id="Rd12936cba1ea4b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c631e68ac804c46" /><Relationship Type="http://schemas.openxmlformats.org/officeDocument/2006/relationships/notesSlide" Target="/ppt/notesSlides/notesSlide18.xml" Id="R5d0c7f3afb9947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ae944d57ec849f3" /><Relationship Type="http://schemas.openxmlformats.org/officeDocument/2006/relationships/notesSlide" Target="/ppt/notesSlides/notesSlide19.xml" Id="Rd82b90965a5549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a8baf3ee1b449af" /><Relationship Type="http://schemas.openxmlformats.org/officeDocument/2006/relationships/notesSlide" Target="/ppt/notesSlides/notesSlide20.xml" Id="Rf816190dd4c243c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12a67e38abc449e" /><Relationship Type="http://schemas.openxmlformats.org/officeDocument/2006/relationships/notesSlide" Target="/ppt/notesSlides/notesSlide21.xml" Id="R5802a04bf054473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3250c147c5e4ff7" /><Relationship Type="http://schemas.openxmlformats.org/officeDocument/2006/relationships/notesSlide" Target="/ppt/notesSlides/notesSlide22.xml" Id="R3a33e32c0a764e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1483594078f4e87" /><Relationship Type="http://schemas.openxmlformats.org/officeDocument/2006/relationships/notesSlide" Target="/ppt/notesSlides/notesSlide23.xml" Id="R72bc26b713d44b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80a98386c3e491a" /><Relationship Type="http://schemas.openxmlformats.org/officeDocument/2006/relationships/notesSlide" Target="/ppt/notesSlides/notesSlide24.xml" Id="Rb610bc9abfc149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632516fec894f53" /><Relationship Type="http://schemas.openxmlformats.org/officeDocument/2006/relationships/notesSlide" Target="/ppt/notesSlides/notesSlide25.xml" Id="R9a81aad509564ce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29fb99870e44f6e" /><Relationship Type="http://schemas.openxmlformats.org/officeDocument/2006/relationships/notesSlide" Target="/ppt/notesSlides/notesSlide26.xml" Id="R80539e0ed2e54b1c"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DEB99215-E7C7-4B16-BE07-E05BF48C75A0}"/>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C5DADF"/>
                </a:solidFill>
                <a:latin typeface="DejaVu Sans"/>
                <a:ea typeface="DejaVu Sans"/>
                <a:cs typeface="DejaVu Sans"/>
              </a:defRPr>
            </a:defPPr>
            <a:lvl1pPr algn="r">
              <a:defRPr sz="1275" b="0">
                <a:solidFill>
                  <a:srgbClr val="C5DADF"/>
                </a:solidFill>
                <a:latin typeface="DejaVu Sans"/>
                <a:ea typeface="DejaVu Sans"/>
                <a:cs typeface="DejaVu Sans"/>
              </a:defRPr>
            </a:lvl1pPr>
            <a:lvl2pPr algn="r">
              <a:defRPr sz="1275" b="0">
                <a:solidFill>
                  <a:srgbClr val="C5DADF"/>
                </a:solidFill>
                <a:latin typeface="DejaVu Sans"/>
                <a:ea typeface="DejaVu Sans"/>
                <a:cs typeface="DejaVu Sans"/>
              </a:defRPr>
            </a:lvl2pPr>
            <a:lvl3pPr algn="r">
              <a:defRPr sz="1275" b="0">
                <a:solidFill>
                  <a:srgbClr val="C5DADF"/>
                </a:solidFill>
                <a:latin typeface="DejaVu Sans"/>
                <a:ea typeface="DejaVu Sans"/>
                <a:cs typeface="DejaVu Sans"/>
              </a:defRPr>
            </a:lvl3pPr>
            <a:lvl4pPr algn="r">
              <a:defRPr sz="1275" b="0">
                <a:solidFill>
                  <a:srgbClr val="C5DADF"/>
                </a:solidFill>
                <a:latin typeface="DejaVu Sans"/>
                <a:ea typeface="DejaVu Sans"/>
                <a:cs typeface="DejaVu Sans"/>
              </a:defRPr>
            </a:lvl4pPr>
            <a:lvl5pPr algn="r">
              <a:defRPr sz="1275" b="0">
                <a:solidFill>
                  <a:srgbClr val="C5DADF"/>
                </a:solidFill>
                <a:latin typeface="DejaVu Sans"/>
                <a:ea typeface="DejaVu Sans"/>
                <a:cs typeface="DejaVu Sans"/>
              </a:defRPr>
            </a:lvl5pPr>
            <a:lvl6pPr algn="r">
              <a:defRPr sz="1275" b="0">
                <a:solidFill>
                  <a:srgbClr val="C5DADF"/>
                </a:solidFill>
                <a:latin typeface="DejaVu Sans"/>
                <a:ea typeface="DejaVu Sans"/>
                <a:cs typeface="DejaVu Sans"/>
              </a:defRPr>
            </a:lvl6pPr>
            <a:lvl7pPr algn="r">
              <a:defRPr sz="1275" b="0">
                <a:solidFill>
                  <a:srgbClr val="C5DADF"/>
                </a:solidFill>
                <a:latin typeface="DejaVu Sans"/>
                <a:ea typeface="DejaVu Sans"/>
                <a:cs typeface="DejaVu Sans"/>
              </a:defRPr>
            </a:lvl7pPr>
            <a:lvl8pPr algn="r">
              <a:defRPr sz="1275" b="0">
                <a:solidFill>
                  <a:srgbClr val="C5DADF"/>
                </a:solidFill>
                <a:latin typeface="DejaVu Sans"/>
                <a:ea typeface="DejaVu Sans"/>
                <a:cs typeface="DejaVu Sans"/>
              </a:defRPr>
            </a:lvl8pPr>
            <a:lvl9pPr algn="r">
              <a:defRPr sz="1275" b="0">
                <a:solidFill>
                  <a:srgbClr val="C5DADF"/>
                </a:solidFill>
                <a:latin typeface="DejaVu Sans"/>
                <a:ea typeface="DejaVu Sans"/>
                <a:cs typeface="DejaVu Sans"/>
              </a:defRPr>
            </a:lvl9pPr>
          </a:lstStyle>
          <a:p xmlns:a="http://schemas.openxmlformats.org/drawingml/2006/main">
            <a:pPr algn="r">
              <a:lnSpc>
                <a:spcPct val="115000"/>
              </a:lnSpc>
              <a:buNone/>
              <a:defRPr sz="1275" b="0">
                <a:solidFill>
                  <a:srgbClr val="C5DADF"/>
                </a:solidFill>
                <a:latin typeface="DejaVu Sans"/>
                <a:ea typeface="DejaVu Sans"/>
                <a:cs typeface="DejaVu Sans"/>
              </a:defRPr>
            </a:pPr>
            <a:r>
              <a:rPr sz="1275" b="0">
                <a:solidFill>
                  <a:srgbClr val="C5DADF"/>
                </a:solidFill>
                <a:latin typeface="DejaVu Sans"/>
                <a:ea typeface="DejaVu Sans"/>
                <a:cs typeface="DejaVu Sans"/>
              </a:rPr>
              <a:t>1</a:t>
            </a:r>
          </a:p>
        </p:txBody>
      </p:sp>
      <p:sp>
        <p:nvSpPr>
          <p:cNvPr id="2" name="text-1">
            <a:extLst xmlns:a="http://schemas.openxmlformats.org/drawingml/2006/main">
              <a:ext uri="{FF2B5EF4-FFF2-40B4-BE49-F238E27FC236}">
                <a16:creationId xmlns:a16="http://schemas.microsoft.com/office/drawing/2014/main" id="{62365602-B13A-4E4E-8DE6-004E74F70959}"/>
              </a:ext>
            </a:extLst>
          </p:cNvPr>
          <p:cNvSpPr>
            <a:spLocks xmlns:a="http://schemas.openxmlformats.org/drawingml/2006/main" noGrp="1"/>
          </p:cNvSpPr>
          <p:nvPr/>
        </p:nvSpPr>
        <p:spPr>
          <a:xfrm xmlns:a="http://schemas.openxmlformats.org/drawingml/2006/main">
            <a:off x="609600" y="1695450"/>
            <a:ext cx="10858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400" b="1">
                <a:solidFill>
                  <a:srgbClr val="FFFFFF"/>
                </a:solidFill>
                <a:latin typeface="DejaVu Sans"/>
                <a:ea typeface="DejaVu Sans"/>
                <a:cs typeface="DejaVu Sans"/>
              </a:defRPr>
            </a:defPPr>
            <a:lvl1pPr algn="l">
              <a:defRPr sz="5400" b="1">
                <a:solidFill>
                  <a:srgbClr val="FFFFFF"/>
                </a:solidFill>
                <a:latin typeface="DejaVu Sans"/>
                <a:ea typeface="DejaVu Sans"/>
                <a:cs typeface="DejaVu Sans"/>
              </a:defRPr>
            </a:lvl1pPr>
            <a:lvl2pPr algn="l">
              <a:defRPr sz="5400" b="1">
                <a:solidFill>
                  <a:srgbClr val="FFFFFF"/>
                </a:solidFill>
                <a:latin typeface="DejaVu Sans"/>
                <a:ea typeface="DejaVu Sans"/>
                <a:cs typeface="DejaVu Sans"/>
              </a:defRPr>
            </a:lvl2pPr>
            <a:lvl3pPr algn="l">
              <a:defRPr sz="5400" b="1">
                <a:solidFill>
                  <a:srgbClr val="FFFFFF"/>
                </a:solidFill>
                <a:latin typeface="DejaVu Sans"/>
                <a:ea typeface="DejaVu Sans"/>
                <a:cs typeface="DejaVu Sans"/>
              </a:defRPr>
            </a:lvl3pPr>
            <a:lvl4pPr algn="l">
              <a:defRPr sz="5400" b="1">
                <a:solidFill>
                  <a:srgbClr val="FFFFFF"/>
                </a:solidFill>
                <a:latin typeface="DejaVu Sans"/>
                <a:ea typeface="DejaVu Sans"/>
                <a:cs typeface="DejaVu Sans"/>
              </a:defRPr>
            </a:lvl4pPr>
            <a:lvl5pPr algn="l">
              <a:defRPr sz="5400" b="1">
                <a:solidFill>
                  <a:srgbClr val="FFFFFF"/>
                </a:solidFill>
                <a:latin typeface="DejaVu Sans"/>
                <a:ea typeface="DejaVu Sans"/>
                <a:cs typeface="DejaVu Sans"/>
              </a:defRPr>
            </a:lvl5pPr>
            <a:lvl6pPr algn="l">
              <a:defRPr sz="5400" b="1">
                <a:solidFill>
                  <a:srgbClr val="FFFFFF"/>
                </a:solidFill>
                <a:latin typeface="DejaVu Sans"/>
                <a:ea typeface="DejaVu Sans"/>
                <a:cs typeface="DejaVu Sans"/>
              </a:defRPr>
            </a:lvl6pPr>
            <a:lvl7pPr algn="l">
              <a:defRPr sz="5400" b="1">
                <a:solidFill>
                  <a:srgbClr val="FFFFFF"/>
                </a:solidFill>
                <a:latin typeface="DejaVu Sans"/>
                <a:ea typeface="DejaVu Sans"/>
                <a:cs typeface="DejaVu Sans"/>
              </a:defRPr>
            </a:lvl7pPr>
            <a:lvl8pPr algn="l">
              <a:defRPr sz="5400" b="1">
                <a:solidFill>
                  <a:srgbClr val="FFFFFF"/>
                </a:solidFill>
                <a:latin typeface="DejaVu Sans"/>
                <a:ea typeface="DejaVu Sans"/>
                <a:cs typeface="DejaVu Sans"/>
              </a:defRPr>
            </a:lvl8pPr>
            <a:lvl9pPr algn="l">
              <a:defRPr sz="5400" b="1">
                <a:solidFill>
                  <a:srgbClr val="FFFFFF"/>
                </a:solidFill>
                <a:latin typeface="DejaVu Sans"/>
                <a:ea typeface="DejaVu Sans"/>
                <a:cs typeface="DejaVu Sans"/>
              </a:defRPr>
            </a:lvl9pPr>
          </a:lstStyle>
          <a:p xmlns:a="http://schemas.openxmlformats.org/drawingml/2006/main">
            <a:pPr algn="l">
              <a:lnSpc>
                <a:spcPct val="115000"/>
              </a:lnSpc>
              <a:buNone/>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File Adapter POC</a:t>
            </a:r>
          </a:p>
        </p:txBody>
      </p:sp>
      <p:sp>
        <p:nvSpPr>
          <p:cNvPr id="3" name="text-2">
            <a:extLst xmlns:a="http://schemas.openxmlformats.org/drawingml/2006/main">
              <a:ext uri="{FF2B5EF4-FFF2-40B4-BE49-F238E27FC236}">
                <a16:creationId xmlns:a16="http://schemas.microsoft.com/office/drawing/2014/main" id="{8591FD29-BFF0-4839-937C-258EDFC0B9A8}"/>
              </a:ext>
            </a:extLst>
          </p:cNvPr>
          <p:cNvSpPr>
            <a:spLocks xmlns:a="http://schemas.openxmlformats.org/drawingml/2006/main" noGrp="1"/>
          </p:cNvSpPr>
          <p:nvPr/>
        </p:nvSpPr>
        <p:spPr>
          <a:xfrm xmlns:a="http://schemas.openxmlformats.org/drawingml/2006/main">
            <a:off x="647700" y="2971800"/>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B7E0DF"/>
                </a:solidFill>
                <a:latin typeface="DejaVu Sans"/>
                <a:ea typeface="DejaVu Sans"/>
                <a:cs typeface="DejaVu Sans"/>
              </a:defRPr>
            </a:defPPr>
            <a:lvl1pPr algn="l">
              <a:defRPr sz="2700" b="0">
                <a:solidFill>
                  <a:srgbClr val="B7E0DF"/>
                </a:solidFill>
                <a:latin typeface="DejaVu Sans"/>
                <a:ea typeface="DejaVu Sans"/>
                <a:cs typeface="DejaVu Sans"/>
              </a:defRPr>
            </a:lvl1pPr>
            <a:lvl2pPr algn="l">
              <a:defRPr sz="2700" b="0">
                <a:solidFill>
                  <a:srgbClr val="B7E0DF"/>
                </a:solidFill>
                <a:latin typeface="DejaVu Sans"/>
                <a:ea typeface="DejaVu Sans"/>
                <a:cs typeface="DejaVu Sans"/>
              </a:defRPr>
            </a:lvl2pPr>
            <a:lvl3pPr algn="l">
              <a:defRPr sz="2700" b="0">
                <a:solidFill>
                  <a:srgbClr val="B7E0DF"/>
                </a:solidFill>
                <a:latin typeface="DejaVu Sans"/>
                <a:ea typeface="DejaVu Sans"/>
                <a:cs typeface="DejaVu Sans"/>
              </a:defRPr>
            </a:lvl3pPr>
            <a:lvl4pPr algn="l">
              <a:defRPr sz="2700" b="0">
                <a:solidFill>
                  <a:srgbClr val="B7E0DF"/>
                </a:solidFill>
                <a:latin typeface="DejaVu Sans"/>
                <a:ea typeface="DejaVu Sans"/>
                <a:cs typeface="DejaVu Sans"/>
              </a:defRPr>
            </a:lvl4pPr>
            <a:lvl5pPr algn="l">
              <a:defRPr sz="2700" b="0">
                <a:solidFill>
                  <a:srgbClr val="B7E0DF"/>
                </a:solidFill>
                <a:latin typeface="DejaVu Sans"/>
                <a:ea typeface="DejaVu Sans"/>
                <a:cs typeface="DejaVu Sans"/>
              </a:defRPr>
            </a:lvl5pPr>
            <a:lvl6pPr algn="l">
              <a:defRPr sz="2700" b="0">
                <a:solidFill>
                  <a:srgbClr val="B7E0DF"/>
                </a:solidFill>
                <a:latin typeface="DejaVu Sans"/>
                <a:ea typeface="DejaVu Sans"/>
                <a:cs typeface="DejaVu Sans"/>
              </a:defRPr>
            </a:lvl6pPr>
            <a:lvl7pPr algn="l">
              <a:defRPr sz="2700" b="0">
                <a:solidFill>
                  <a:srgbClr val="B7E0DF"/>
                </a:solidFill>
                <a:latin typeface="DejaVu Sans"/>
                <a:ea typeface="DejaVu Sans"/>
                <a:cs typeface="DejaVu Sans"/>
              </a:defRPr>
            </a:lvl7pPr>
            <a:lvl8pPr algn="l">
              <a:defRPr sz="2700" b="0">
                <a:solidFill>
                  <a:srgbClr val="B7E0DF"/>
                </a:solidFill>
                <a:latin typeface="DejaVu Sans"/>
                <a:ea typeface="DejaVu Sans"/>
                <a:cs typeface="DejaVu Sans"/>
              </a:defRPr>
            </a:lvl8pPr>
            <a:lvl9pPr algn="l">
              <a:defRPr sz="2700" b="0">
                <a:solidFill>
                  <a:srgbClr val="B7E0DF"/>
                </a:solidFill>
                <a:latin typeface="DejaVu Sans"/>
                <a:ea typeface="DejaVu Sans"/>
                <a:cs typeface="DejaVu Sans"/>
              </a:defRPr>
            </a:lvl9pPr>
          </a:lstStyle>
          <a:p xmlns:a="http://schemas.openxmlformats.org/drawingml/2006/main">
            <a:pPr algn="l">
              <a:lnSpc>
                <a:spcPct val="115000"/>
              </a:lnSpc>
              <a:buNone/>
              <a:defRPr sz="2700" b="0">
                <a:solidFill>
                  <a:srgbClr val="B7E0DF"/>
                </a:solidFill>
                <a:latin typeface="DejaVu Sans"/>
                <a:ea typeface="DejaVu Sans"/>
                <a:cs typeface="DejaVu Sans"/>
              </a:defRPr>
            </a:pPr>
            <a:r>
              <a:rPr sz="2700" b="0">
                <a:solidFill>
                  <a:srgbClr val="B7E0DF"/>
                </a:solidFill>
                <a:latin typeface="DejaVu Sans"/>
                <a:ea typeface="DejaVu Sans"/>
                <a:cs typeface="DejaVu Sans"/>
              </a:rPr>
              <a:t>Developer walkthrough</a:t>
            </a:r>
          </a:p>
        </p:txBody>
      </p:sp>
      <p:sp>
        <p:nvSpPr>
          <p:cNvPr id="4" name="text-3">
            <a:extLst xmlns:a="http://schemas.openxmlformats.org/drawingml/2006/main">
              <a:ext uri="{FF2B5EF4-FFF2-40B4-BE49-F238E27FC236}">
                <a16:creationId xmlns:a16="http://schemas.microsoft.com/office/drawing/2014/main" id="{C71EF146-70F6-42E1-BD0A-0CB0478BD4DA}"/>
              </a:ext>
            </a:extLst>
          </p:cNvPr>
          <p:cNvSpPr>
            <a:spLocks xmlns:a="http://schemas.openxmlformats.org/drawingml/2006/main" noGrp="1"/>
          </p:cNvSpPr>
          <p:nvPr/>
        </p:nvSpPr>
        <p:spPr>
          <a:xfrm xmlns:a="http://schemas.openxmlformats.org/drawingml/2006/main">
            <a:off x="647700" y="4362450"/>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2E9"/>
                </a:solidFill>
                <a:latin typeface="DejaVu Sans"/>
                <a:ea typeface="DejaVu Sans"/>
                <a:cs typeface="DejaVu Sans"/>
              </a:defRPr>
            </a:defPPr>
            <a:lvl1pPr algn="l">
              <a:defRPr sz="1950" b="0">
                <a:solidFill>
                  <a:srgbClr val="D7E2E9"/>
                </a:solidFill>
                <a:latin typeface="DejaVu Sans"/>
                <a:ea typeface="DejaVu Sans"/>
                <a:cs typeface="DejaVu Sans"/>
              </a:defRPr>
            </a:lvl1pPr>
            <a:lvl2pPr algn="l">
              <a:defRPr sz="1950" b="0">
                <a:solidFill>
                  <a:srgbClr val="D7E2E9"/>
                </a:solidFill>
                <a:latin typeface="DejaVu Sans"/>
                <a:ea typeface="DejaVu Sans"/>
                <a:cs typeface="DejaVu Sans"/>
              </a:defRPr>
            </a:lvl2pPr>
            <a:lvl3pPr algn="l">
              <a:defRPr sz="1950" b="0">
                <a:solidFill>
                  <a:srgbClr val="D7E2E9"/>
                </a:solidFill>
                <a:latin typeface="DejaVu Sans"/>
                <a:ea typeface="DejaVu Sans"/>
                <a:cs typeface="DejaVu Sans"/>
              </a:defRPr>
            </a:lvl3pPr>
            <a:lvl4pPr algn="l">
              <a:defRPr sz="1950" b="0">
                <a:solidFill>
                  <a:srgbClr val="D7E2E9"/>
                </a:solidFill>
                <a:latin typeface="DejaVu Sans"/>
                <a:ea typeface="DejaVu Sans"/>
                <a:cs typeface="DejaVu Sans"/>
              </a:defRPr>
            </a:lvl4pPr>
            <a:lvl5pPr algn="l">
              <a:defRPr sz="1950" b="0">
                <a:solidFill>
                  <a:srgbClr val="D7E2E9"/>
                </a:solidFill>
                <a:latin typeface="DejaVu Sans"/>
                <a:ea typeface="DejaVu Sans"/>
                <a:cs typeface="DejaVu Sans"/>
              </a:defRPr>
            </a:lvl5pPr>
            <a:lvl6pPr algn="l">
              <a:defRPr sz="1950" b="0">
                <a:solidFill>
                  <a:srgbClr val="D7E2E9"/>
                </a:solidFill>
                <a:latin typeface="DejaVu Sans"/>
                <a:ea typeface="DejaVu Sans"/>
                <a:cs typeface="DejaVu Sans"/>
              </a:defRPr>
            </a:lvl6pPr>
            <a:lvl7pPr algn="l">
              <a:defRPr sz="1950" b="0">
                <a:solidFill>
                  <a:srgbClr val="D7E2E9"/>
                </a:solidFill>
                <a:latin typeface="DejaVu Sans"/>
                <a:ea typeface="DejaVu Sans"/>
                <a:cs typeface="DejaVu Sans"/>
              </a:defRPr>
            </a:lvl7pPr>
            <a:lvl8pPr algn="l">
              <a:defRPr sz="1950" b="0">
                <a:solidFill>
                  <a:srgbClr val="D7E2E9"/>
                </a:solidFill>
                <a:latin typeface="DejaVu Sans"/>
                <a:ea typeface="DejaVu Sans"/>
                <a:cs typeface="DejaVu Sans"/>
              </a:defRPr>
            </a:lvl8pPr>
            <a:lvl9pPr algn="l">
              <a:defRPr sz="1950" b="0">
                <a:solidFill>
                  <a:srgbClr val="D7E2E9"/>
                </a:solidFill>
                <a:latin typeface="DejaVu Sans"/>
                <a:ea typeface="DejaVu Sans"/>
                <a:cs typeface="DejaVu Sans"/>
              </a:defRPr>
            </a:lvl9pPr>
          </a:lstStyle>
          <a:p xmlns:a="http://schemas.openxmlformats.org/drawingml/2006/main">
            <a:pPr algn="l">
              <a:lnSpc>
                <a:spcPct val="115000"/>
              </a:lnSpc>
              <a:buNone/>
              <a:defRPr sz="1950" b="0">
                <a:solidFill>
                  <a:srgbClr val="D7E2E9"/>
                </a:solidFill>
                <a:latin typeface="DejaVu Sans"/>
                <a:ea typeface="DejaVu Sans"/>
                <a:cs typeface="DejaVu Sans"/>
              </a:defRPr>
            </a:pPr>
            <a:r>
              <a:rPr sz="1950" b="0">
                <a:solidFill>
                  <a:srgbClr val="D7E2E9"/>
                </a:solidFill>
                <a:latin typeface="DejaVu Sans"/>
                <a:ea typeface="DejaVu Sans"/>
                <a:cs typeface="DejaVu Sans"/>
              </a:rPr>
              <a:t>Spring Boot and Gradle</a:t>
            </a:r>
          </a:p>
        </p:txBody>
      </p:sp>
      <p:sp>
        <p:nvSpPr>
          <p:cNvPr id="5" name="text-4">
            <a:extLst xmlns:a="http://schemas.openxmlformats.org/drawingml/2006/main">
              <a:ext uri="{FF2B5EF4-FFF2-40B4-BE49-F238E27FC236}">
                <a16:creationId xmlns:a16="http://schemas.microsoft.com/office/drawing/2014/main" id="{B8C6D599-2860-4C09-A2CC-E460B37DCB45}"/>
              </a:ext>
            </a:extLst>
          </p:cNvPr>
          <p:cNvSpPr>
            <a:spLocks xmlns:a="http://schemas.openxmlformats.org/drawingml/2006/main" noGrp="1"/>
          </p:cNvSpPr>
          <p:nvPr/>
        </p:nvSpPr>
        <p:spPr>
          <a:xfrm xmlns:a="http://schemas.openxmlformats.org/drawingml/2006/main">
            <a:off x="647700" y="5562600"/>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C0CCD5"/>
                </a:solidFill>
                <a:latin typeface="DejaVu Sans"/>
                <a:ea typeface="DejaVu Sans"/>
                <a:cs typeface="DejaVu Sans"/>
              </a:defRPr>
            </a:defPPr>
            <a:lvl1pPr algn="l">
              <a:defRPr sz="1650" b="0">
                <a:solidFill>
                  <a:srgbClr val="C0CCD5"/>
                </a:solidFill>
                <a:latin typeface="DejaVu Sans"/>
                <a:ea typeface="DejaVu Sans"/>
                <a:cs typeface="DejaVu Sans"/>
              </a:defRPr>
            </a:lvl1pPr>
            <a:lvl2pPr algn="l">
              <a:defRPr sz="1650" b="0">
                <a:solidFill>
                  <a:srgbClr val="C0CCD5"/>
                </a:solidFill>
                <a:latin typeface="DejaVu Sans"/>
                <a:ea typeface="DejaVu Sans"/>
                <a:cs typeface="DejaVu Sans"/>
              </a:defRPr>
            </a:lvl2pPr>
            <a:lvl3pPr algn="l">
              <a:defRPr sz="1650" b="0">
                <a:solidFill>
                  <a:srgbClr val="C0CCD5"/>
                </a:solidFill>
                <a:latin typeface="DejaVu Sans"/>
                <a:ea typeface="DejaVu Sans"/>
                <a:cs typeface="DejaVu Sans"/>
              </a:defRPr>
            </a:lvl3pPr>
            <a:lvl4pPr algn="l">
              <a:defRPr sz="1650" b="0">
                <a:solidFill>
                  <a:srgbClr val="C0CCD5"/>
                </a:solidFill>
                <a:latin typeface="DejaVu Sans"/>
                <a:ea typeface="DejaVu Sans"/>
                <a:cs typeface="DejaVu Sans"/>
              </a:defRPr>
            </a:lvl4pPr>
            <a:lvl5pPr algn="l">
              <a:defRPr sz="1650" b="0">
                <a:solidFill>
                  <a:srgbClr val="C0CCD5"/>
                </a:solidFill>
                <a:latin typeface="DejaVu Sans"/>
                <a:ea typeface="DejaVu Sans"/>
                <a:cs typeface="DejaVu Sans"/>
              </a:defRPr>
            </a:lvl5pPr>
            <a:lvl6pPr algn="l">
              <a:defRPr sz="1650" b="0">
                <a:solidFill>
                  <a:srgbClr val="C0CCD5"/>
                </a:solidFill>
                <a:latin typeface="DejaVu Sans"/>
                <a:ea typeface="DejaVu Sans"/>
                <a:cs typeface="DejaVu Sans"/>
              </a:defRPr>
            </a:lvl6pPr>
            <a:lvl7pPr algn="l">
              <a:defRPr sz="1650" b="0">
                <a:solidFill>
                  <a:srgbClr val="C0CCD5"/>
                </a:solidFill>
                <a:latin typeface="DejaVu Sans"/>
                <a:ea typeface="DejaVu Sans"/>
                <a:cs typeface="DejaVu Sans"/>
              </a:defRPr>
            </a:lvl7pPr>
            <a:lvl8pPr algn="l">
              <a:defRPr sz="1650" b="0">
                <a:solidFill>
                  <a:srgbClr val="C0CCD5"/>
                </a:solidFill>
                <a:latin typeface="DejaVu Sans"/>
                <a:ea typeface="DejaVu Sans"/>
                <a:cs typeface="DejaVu Sans"/>
              </a:defRPr>
            </a:lvl8pPr>
            <a:lvl9pPr algn="l">
              <a:defRPr sz="1650" b="0">
                <a:solidFill>
                  <a:srgbClr val="C0CCD5"/>
                </a:solidFill>
                <a:latin typeface="DejaVu Sans"/>
                <a:ea typeface="DejaVu Sans"/>
                <a:cs typeface="DejaVu Sans"/>
              </a:defRPr>
            </a:lvl9pPr>
          </a:lstStyle>
          <a:p xmlns:a="http://schemas.openxmlformats.org/drawingml/2006/main">
            <a:pPr algn="l">
              <a:lnSpc>
                <a:spcPct val="115000"/>
              </a:lnSpc>
              <a:buNone/>
              <a:defRPr sz="1650" b="0">
                <a:solidFill>
                  <a:srgbClr val="C0CCD5"/>
                </a:solidFill>
                <a:latin typeface="DejaVu Sans"/>
                <a:ea typeface="DejaVu Sans"/>
                <a:cs typeface="DejaVu Sans"/>
              </a:defRPr>
            </a:pPr>
            <a:r>
              <a:rPr sz="1650" b="0">
                <a:solidFill>
                  <a:srgbClr val="C0CCD5"/>
                </a:solidFill>
                <a:latin typeface="DejaVu Sans"/>
                <a:ea typeface="DejaVu Sans"/>
                <a:cs typeface="DejaVu Sans"/>
              </a:rPr>
              <a:t>27 October 2026</a:t>
            </a:r>
          </a:p>
        </p:txBody>
      </p:sp>
    </p:spTree>
    <p:extLst>
      <p:ext uri="{BB962C8B-B14F-4D97-AF65-F5344CB8AC3E}">
        <p14:creationId xmlns:p14="http://schemas.microsoft.com/office/powerpoint/2010/main" val="182908921"/>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03C1953E-B930-4340-9C33-7FDF06F5D786}"/>
              </a:ext>
            </a:extLst>
          </p:cNvPr>
          <p:cNvCxnSpPr>
            <a:stCxn xmlns:a="http://schemas.openxmlformats.org/drawingml/2006/main" id="8" idx="1"/>
            <a:endCxn xmlns:a="http://schemas.openxmlformats.org/drawingml/2006/main" id="10" idx="3"/>
          </p:cNvCxnSpPr>
          <p:nvPr/>
        </p:nvCxnSpPr>
        <p:spPr>
          <a:xfrm xmlns:a="http://schemas.openxmlformats.org/drawingml/2006/main" flipH="1">
            <a:off x="3276600" y="4514850"/>
            <a:ext cx="1485900" cy="819150"/>
          </a:xfrm>
          <a:prstGeom xmlns:a="http://schemas.openxmlformats.org/drawingml/2006/main" prst="bentConnector3">
            <a:avLst>
              <a:gd name="adj1" fmla="val 50000"/>
            </a:avLst>
          </a:prstGeom>
          <a:ln xmlns:a="http://schemas.openxmlformats.org/drawingml/2006/main" w="19050">
            <a:solidFill>
              <a:srgbClr val="007F86"/>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1576218E-3FAF-4882-A5CA-1CC38F62C5B5}"/>
              </a:ext>
            </a:extLst>
          </p:cNvPr>
          <p:cNvCxnSpPr>
            <a:stCxn xmlns:a="http://schemas.openxmlformats.org/drawingml/2006/main" id="8" idx="1"/>
            <a:endCxn xmlns:a="http://schemas.openxmlformats.org/drawingml/2006/main" id="9" idx="3"/>
          </p:cNvCxnSpPr>
          <p:nvPr/>
        </p:nvCxnSpPr>
        <p:spPr>
          <a:xfrm xmlns:a="http://schemas.openxmlformats.org/drawingml/2006/main" flipH="1" flipV="1">
            <a:off x="3276600" y="3905250"/>
            <a:ext cx="1485900" cy="609600"/>
          </a:xfrm>
          <a:prstGeom xmlns:a="http://schemas.openxmlformats.org/drawingml/2006/main" prst="bentConnector3">
            <a:avLst>
              <a:gd name="adj1" fmla="val 50000"/>
            </a:avLst>
          </a:prstGeom>
          <a:ln xmlns:a="http://schemas.openxmlformats.org/drawingml/2006/main" w="19050">
            <a:solidFill>
              <a:srgbClr val="007F86"/>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45C05D85-12BF-4E0F-B56F-DF0FB2DE4074}"/>
              </a:ext>
            </a:extLst>
          </p:cNvPr>
          <p:cNvCxnSpPr>
            <a:stCxn xmlns:a="http://schemas.openxmlformats.org/drawingml/2006/main" id="7" idx="1"/>
            <a:endCxn xmlns:a="http://schemas.openxmlformats.org/drawingml/2006/main" id="8" idx="3"/>
          </p:cNvCxnSpPr>
          <p:nvPr/>
        </p:nvCxnSpPr>
        <p:spPr>
          <a:xfrm xmlns:a="http://schemas.openxmlformats.org/drawingml/2006/main" flipH="1">
            <a:off x="7429500" y="4514850"/>
            <a:ext cx="148590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E45E6101-82F3-42DA-8DC4-B406B6BB2580}"/>
              </a:ext>
            </a:extLst>
          </p:cNvPr>
          <p:cNvCxnSpPr>
            <a:stCxn xmlns:a="http://schemas.openxmlformats.org/drawingml/2006/main" id="6" idx="2"/>
            <a:endCxn xmlns:a="http://schemas.openxmlformats.org/drawingml/2006/main" id="7" idx="0"/>
          </p:cNvCxnSpPr>
          <p:nvPr/>
        </p:nvCxnSpPr>
        <p:spPr>
          <a:xfrm xmlns:a="http://schemas.openxmlformats.org/drawingml/2006/main">
            <a:off x="10248900" y="2895600"/>
            <a:ext cx="0" cy="1209675"/>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08B933A5-4DE3-418C-B994-288CA9938E20}"/>
              </a:ext>
            </a:extLst>
          </p:cNvPr>
          <p:cNvCxnSpPr>
            <a:stCxn xmlns:a="http://schemas.openxmlformats.org/drawingml/2006/main" id="5" idx="3"/>
            <a:endCxn xmlns:a="http://schemas.openxmlformats.org/drawingml/2006/main" id="6" idx="1"/>
          </p:cNvCxnSpPr>
          <p:nvPr/>
        </p:nvCxnSpPr>
        <p:spPr>
          <a:xfrm xmlns:a="http://schemas.openxmlformats.org/drawingml/2006/main">
            <a:off x="7429500" y="2486025"/>
            <a:ext cx="148590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DF03663B-3656-43A3-827B-BE4DEDADD1E4}"/>
              </a:ext>
            </a:extLst>
          </p:cNvPr>
          <p:cNvCxnSpPr>
            <a:stCxn xmlns:a="http://schemas.openxmlformats.org/drawingml/2006/main" id="4" idx="3"/>
            <a:endCxn xmlns:a="http://schemas.openxmlformats.org/drawingml/2006/main" id="5" idx="1"/>
          </p:cNvCxnSpPr>
          <p:nvPr/>
        </p:nvCxnSpPr>
        <p:spPr>
          <a:xfrm xmlns:a="http://schemas.openxmlformats.org/drawingml/2006/main">
            <a:off x="3276600" y="2486025"/>
            <a:ext cx="148590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sp>
        <p:nvSpPr>
          <p:cNvPr id="18" name="slide-title">
            <a:extLst xmlns:a="http://schemas.openxmlformats.org/drawingml/2006/main">
              <a:ext uri="{FF2B5EF4-FFF2-40B4-BE49-F238E27FC236}">
                <a16:creationId xmlns:a16="http://schemas.microsoft.com/office/drawing/2014/main" id="{48515BDD-C38A-49FC-BF42-DA384ECD125D}"/>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Application flow</a:t>
            </a:r>
          </a:p>
        </p:txBody>
      </p:sp>
      <p:sp>
        <p:nvSpPr>
          <p:cNvPr id="2" name="text-5">
            <a:extLst xmlns:a="http://schemas.openxmlformats.org/drawingml/2006/main">
              <a:ext uri="{FF2B5EF4-FFF2-40B4-BE49-F238E27FC236}">
                <a16:creationId xmlns:a16="http://schemas.microsoft.com/office/drawing/2014/main" id="{182445B5-8294-4D67-8261-7313E2A67524}"/>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A non-web worker converts files into requests for the existing upsert API.</a:t>
            </a:r>
          </a:p>
        </p:txBody>
      </p:sp>
      <p:sp>
        <p:nvSpPr>
          <p:cNvPr id="3" name="slide-number">
            <a:extLst xmlns:a="http://schemas.openxmlformats.org/drawingml/2006/main">
              <a:ext uri="{FF2B5EF4-FFF2-40B4-BE49-F238E27FC236}">
                <a16:creationId xmlns:a16="http://schemas.microsoft.com/office/drawing/2014/main" id="{C1910651-C644-4FA0-8797-AB243B5C63A2}"/>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a:t>
            </a:r>
          </a:p>
        </p:txBody>
      </p:sp>
      <p:sp>
        <p:nvSpPr>
          <p:cNvPr id="4" name="node-6">
            <a:extLst xmlns:a="http://schemas.openxmlformats.org/drawingml/2006/main">
              <a:ext uri="{FF2B5EF4-FFF2-40B4-BE49-F238E27FC236}">
                <a16:creationId xmlns:a16="http://schemas.microsoft.com/office/drawing/2014/main" id="{06DE147B-34CB-4DF3-8DD1-BCEE56B35D32}"/>
              </a:ext>
            </a:extLst>
          </p:cNvPr>
          <p:cNvSpPr>
            <a:spLocks xmlns:a="http://schemas.openxmlformats.org/drawingml/2006/main" noGrp="1"/>
          </p:cNvSpPr>
          <p:nvPr/>
        </p:nvSpPr>
        <p:spPr>
          <a:xfrm xmlns:a="http://schemas.openxmlformats.org/drawingml/2006/main">
            <a:off x="609600" y="2076450"/>
            <a:ext cx="2667000" cy="81915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LAN or CLI input</a:t>
            </a:r>
          </a:p>
        </p:txBody>
      </p:sp>
      <p:sp>
        <p:nvSpPr>
          <p:cNvPr id="5" name="node-7">
            <a:extLst xmlns:a="http://schemas.openxmlformats.org/drawingml/2006/main">
              <a:ext uri="{FF2B5EF4-FFF2-40B4-BE49-F238E27FC236}">
                <a16:creationId xmlns:a16="http://schemas.microsoft.com/office/drawing/2014/main" id="{5E7303BB-54F1-4973-8DC7-32D220EE4C6B}"/>
              </a:ext>
            </a:extLst>
          </p:cNvPr>
          <p:cNvSpPr>
            <a:spLocks xmlns:a="http://schemas.openxmlformats.org/drawingml/2006/main" noGrp="1"/>
          </p:cNvSpPr>
          <p:nvPr/>
        </p:nvSpPr>
        <p:spPr>
          <a:xfrm xmlns:a="http://schemas.openxmlformats.org/drawingml/2006/main">
            <a:off x="4762500" y="2076450"/>
            <a:ext cx="2667000" cy="81915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Parse and normalize</a:t>
            </a:r>
          </a:p>
        </p:txBody>
      </p:sp>
      <p:sp>
        <p:nvSpPr>
          <p:cNvPr id="6" name="node-8">
            <a:extLst xmlns:a="http://schemas.openxmlformats.org/drawingml/2006/main">
              <a:ext uri="{FF2B5EF4-FFF2-40B4-BE49-F238E27FC236}">
                <a16:creationId xmlns:a16="http://schemas.microsoft.com/office/drawing/2014/main" id="{17491A08-5951-4E36-A674-B49B6752D21E}"/>
              </a:ext>
            </a:extLst>
          </p:cNvPr>
          <p:cNvSpPr>
            <a:spLocks xmlns:a="http://schemas.openxmlformats.org/drawingml/2006/main" noGrp="1"/>
          </p:cNvSpPr>
          <p:nvPr/>
        </p:nvSpPr>
        <p:spPr>
          <a:xfrm xmlns:a="http://schemas.openxmlformats.org/drawingml/2006/main">
            <a:off x="8915400" y="2076450"/>
            <a:ext cx="2667000" cy="81915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Map and validate</a:t>
            </a:r>
          </a:p>
        </p:txBody>
      </p:sp>
      <p:sp>
        <p:nvSpPr>
          <p:cNvPr id="7" name="node-9">
            <a:extLst xmlns:a="http://schemas.openxmlformats.org/drawingml/2006/main">
              <a:ext uri="{FF2B5EF4-FFF2-40B4-BE49-F238E27FC236}">
                <a16:creationId xmlns:a16="http://schemas.microsoft.com/office/drawing/2014/main" id="{54C21510-C899-47B1-984E-CEC4B6975D3B}"/>
              </a:ext>
            </a:extLst>
          </p:cNvPr>
          <p:cNvSpPr>
            <a:spLocks xmlns:a="http://schemas.openxmlformats.org/drawingml/2006/main" noGrp="1"/>
          </p:cNvSpPr>
          <p:nvPr/>
        </p:nvSpPr>
        <p:spPr>
          <a:xfrm xmlns:a="http://schemas.openxmlformats.org/drawingml/2006/main">
            <a:off x="8915400" y="4105275"/>
            <a:ext cx="2667000" cy="819150"/>
          </a:xfrm>
          <a:prstGeom xmlns:a="http://schemas.openxmlformats.org/drawingml/2006/main" prst="rect">
            <a:avLst/>
          </a:prstGeom>
          <a:solidFill xmlns:a="http://schemas.openxmlformats.org/drawingml/2006/main">
            <a:srgbClr val="E4F2F1"/>
          </a:solidFill>
          <a:ln xmlns:a="http://schemas.openxmlformats.org/drawingml/2006/main" w="15240">
            <a:solidFill>
              <a:srgbClr val="007F8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02A43"/>
                </a:solidFill>
                <a:latin typeface="DejaVu Sans"/>
                <a:ea typeface="DejaVu Sans"/>
                <a:cs typeface="DejaVu Sans"/>
              </a:defRPr>
            </a:defPPr>
            <a:lvl1pPr algn="ctr">
              <a:defRPr sz="1800" b="1">
                <a:solidFill>
                  <a:srgbClr val="102A43"/>
                </a:solidFill>
                <a:latin typeface="DejaVu Sans"/>
                <a:ea typeface="DejaVu Sans"/>
                <a:cs typeface="DejaVu Sans"/>
              </a:defRPr>
            </a:lvl1pPr>
            <a:lvl2pPr algn="ctr">
              <a:defRPr sz="1800" b="1">
                <a:solidFill>
                  <a:srgbClr val="102A43"/>
                </a:solidFill>
                <a:latin typeface="DejaVu Sans"/>
                <a:ea typeface="DejaVu Sans"/>
                <a:cs typeface="DejaVu Sans"/>
              </a:defRPr>
            </a:lvl2pPr>
            <a:lvl3pPr algn="ctr">
              <a:defRPr sz="1800" b="1">
                <a:solidFill>
                  <a:srgbClr val="102A43"/>
                </a:solidFill>
                <a:latin typeface="DejaVu Sans"/>
                <a:ea typeface="DejaVu Sans"/>
                <a:cs typeface="DejaVu Sans"/>
              </a:defRPr>
            </a:lvl3pPr>
            <a:lvl4pPr algn="ctr">
              <a:defRPr sz="1800" b="1">
                <a:solidFill>
                  <a:srgbClr val="102A43"/>
                </a:solidFill>
                <a:latin typeface="DejaVu Sans"/>
                <a:ea typeface="DejaVu Sans"/>
                <a:cs typeface="DejaVu Sans"/>
              </a:defRPr>
            </a:lvl4pPr>
            <a:lvl5pPr algn="ctr">
              <a:defRPr sz="1800" b="1">
                <a:solidFill>
                  <a:srgbClr val="102A43"/>
                </a:solidFill>
                <a:latin typeface="DejaVu Sans"/>
                <a:ea typeface="DejaVu Sans"/>
                <a:cs typeface="DejaVu Sans"/>
              </a:defRPr>
            </a:lvl5pPr>
            <a:lvl6pPr algn="ctr">
              <a:defRPr sz="1800" b="1">
                <a:solidFill>
                  <a:srgbClr val="102A43"/>
                </a:solidFill>
                <a:latin typeface="DejaVu Sans"/>
                <a:ea typeface="DejaVu Sans"/>
                <a:cs typeface="DejaVu Sans"/>
              </a:defRPr>
            </a:lvl6pPr>
            <a:lvl7pPr algn="ctr">
              <a:defRPr sz="1800" b="1">
                <a:solidFill>
                  <a:srgbClr val="102A43"/>
                </a:solidFill>
                <a:latin typeface="DejaVu Sans"/>
                <a:ea typeface="DejaVu Sans"/>
                <a:cs typeface="DejaVu Sans"/>
              </a:defRPr>
            </a:lvl7pPr>
            <a:lvl8pPr algn="ctr">
              <a:defRPr sz="1800" b="1">
                <a:solidFill>
                  <a:srgbClr val="102A43"/>
                </a:solidFill>
                <a:latin typeface="DejaVu Sans"/>
                <a:ea typeface="DejaVu Sans"/>
                <a:cs typeface="DejaVu Sans"/>
              </a:defRPr>
            </a:lvl8pPr>
            <a:lvl9pPr algn="ctr">
              <a:defRPr sz="1800" b="1">
                <a:solidFill>
                  <a:srgbClr val="102A43"/>
                </a:solidFill>
                <a:latin typeface="DejaVu Sans"/>
                <a:ea typeface="DejaVu Sans"/>
                <a:cs typeface="DejaVu Sans"/>
              </a:defRPr>
            </a:lvl9pPr>
          </a:lstStyle>
          <a:p xmlns:a="http://schemas.openxmlformats.org/drawingml/2006/main">
            <a:pPr algn="ctr">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Stage requests in H2</a:t>
            </a:r>
          </a:p>
        </p:txBody>
      </p:sp>
      <p:sp>
        <p:nvSpPr>
          <p:cNvPr id="8" name="node-10">
            <a:extLst xmlns:a="http://schemas.openxmlformats.org/drawingml/2006/main">
              <a:ext uri="{FF2B5EF4-FFF2-40B4-BE49-F238E27FC236}">
                <a16:creationId xmlns:a16="http://schemas.microsoft.com/office/drawing/2014/main" id="{E5E7E4DC-7C84-4C9F-BDC8-F89E3085B271}"/>
              </a:ext>
            </a:extLst>
          </p:cNvPr>
          <p:cNvSpPr>
            <a:spLocks xmlns:a="http://schemas.openxmlformats.org/drawingml/2006/main" noGrp="1"/>
          </p:cNvSpPr>
          <p:nvPr/>
        </p:nvSpPr>
        <p:spPr>
          <a:xfrm xmlns:a="http://schemas.openxmlformats.org/drawingml/2006/main">
            <a:off x="4762500" y="4105275"/>
            <a:ext cx="2667000" cy="819150"/>
          </a:xfrm>
          <a:prstGeom xmlns:a="http://schemas.openxmlformats.org/drawingml/2006/main" prst="rect">
            <a:avLst/>
          </a:prstGeom>
          <a:solidFill xmlns:a="http://schemas.openxmlformats.org/drawingml/2006/main">
            <a:srgbClr val="E4F2F1"/>
          </a:solidFill>
          <a:ln xmlns:a="http://schemas.openxmlformats.org/drawingml/2006/main" w="15240">
            <a:solidFill>
              <a:srgbClr val="007F8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02A43"/>
                </a:solidFill>
                <a:latin typeface="DejaVu Sans"/>
                <a:ea typeface="DejaVu Sans"/>
                <a:cs typeface="DejaVu Sans"/>
              </a:defRPr>
            </a:defPPr>
            <a:lvl1pPr algn="ctr">
              <a:defRPr sz="1800" b="1">
                <a:solidFill>
                  <a:srgbClr val="102A43"/>
                </a:solidFill>
                <a:latin typeface="DejaVu Sans"/>
                <a:ea typeface="DejaVu Sans"/>
                <a:cs typeface="DejaVu Sans"/>
              </a:defRPr>
            </a:lvl1pPr>
            <a:lvl2pPr algn="ctr">
              <a:defRPr sz="1800" b="1">
                <a:solidFill>
                  <a:srgbClr val="102A43"/>
                </a:solidFill>
                <a:latin typeface="DejaVu Sans"/>
                <a:ea typeface="DejaVu Sans"/>
                <a:cs typeface="DejaVu Sans"/>
              </a:defRPr>
            </a:lvl2pPr>
            <a:lvl3pPr algn="ctr">
              <a:defRPr sz="1800" b="1">
                <a:solidFill>
                  <a:srgbClr val="102A43"/>
                </a:solidFill>
                <a:latin typeface="DejaVu Sans"/>
                <a:ea typeface="DejaVu Sans"/>
                <a:cs typeface="DejaVu Sans"/>
              </a:defRPr>
            </a:lvl3pPr>
            <a:lvl4pPr algn="ctr">
              <a:defRPr sz="1800" b="1">
                <a:solidFill>
                  <a:srgbClr val="102A43"/>
                </a:solidFill>
                <a:latin typeface="DejaVu Sans"/>
                <a:ea typeface="DejaVu Sans"/>
                <a:cs typeface="DejaVu Sans"/>
              </a:defRPr>
            </a:lvl4pPr>
            <a:lvl5pPr algn="ctr">
              <a:defRPr sz="1800" b="1">
                <a:solidFill>
                  <a:srgbClr val="102A43"/>
                </a:solidFill>
                <a:latin typeface="DejaVu Sans"/>
                <a:ea typeface="DejaVu Sans"/>
                <a:cs typeface="DejaVu Sans"/>
              </a:defRPr>
            </a:lvl5pPr>
            <a:lvl6pPr algn="ctr">
              <a:defRPr sz="1800" b="1">
                <a:solidFill>
                  <a:srgbClr val="102A43"/>
                </a:solidFill>
                <a:latin typeface="DejaVu Sans"/>
                <a:ea typeface="DejaVu Sans"/>
                <a:cs typeface="DejaVu Sans"/>
              </a:defRPr>
            </a:lvl6pPr>
            <a:lvl7pPr algn="ctr">
              <a:defRPr sz="1800" b="1">
                <a:solidFill>
                  <a:srgbClr val="102A43"/>
                </a:solidFill>
                <a:latin typeface="DejaVu Sans"/>
                <a:ea typeface="DejaVu Sans"/>
                <a:cs typeface="DejaVu Sans"/>
              </a:defRPr>
            </a:lvl7pPr>
            <a:lvl8pPr algn="ctr">
              <a:defRPr sz="1800" b="1">
                <a:solidFill>
                  <a:srgbClr val="102A43"/>
                </a:solidFill>
                <a:latin typeface="DejaVu Sans"/>
                <a:ea typeface="DejaVu Sans"/>
                <a:cs typeface="DejaVu Sans"/>
              </a:defRPr>
            </a:lvl8pPr>
            <a:lvl9pPr algn="ctr">
              <a:defRPr sz="1800" b="1">
                <a:solidFill>
                  <a:srgbClr val="102A43"/>
                </a:solidFill>
                <a:latin typeface="DejaVu Sans"/>
                <a:ea typeface="DejaVu Sans"/>
                <a:cs typeface="DejaVu Sans"/>
              </a:defRPr>
            </a:lvl9pPr>
          </a:lstStyle>
          <a:p xmlns:a="http://schemas.openxmlformats.org/drawingml/2006/main">
            <a:pPr algn="ctr">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Execution mode</a:t>
            </a:r>
          </a:p>
        </p:txBody>
      </p:sp>
      <p:sp>
        <p:nvSpPr>
          <p:cNvPr id="9" name="node-11">
            <a:extLst xmlns:a="http://schemas.openxmlformats.org/drawingml/2006/main">
              <a:ext uri="{FF2B5EF4-FFF2-40B4-BE49-F238E27FC236}">
                <a16:creationId xmlns:a16="http://schemas.microsoft.com/office/drawing/2014/main" id="{060FD290-4037-473C-8A71-4F4D62436C56}"/>
              </a:ext>
            </a:extLst>
          </p:cNvPr>
          <p:cNvSpPr>
            <a:spLocks xmlns:a="http://schemas.openxmlformats.org/drawingml/2006/main" noGrp="1"/>
          </p:cNvSpPr>
          <p:nvPr/>
        </p:nvSpPr>
        <p:spPr>
          <a:xfrm xmlns:a="http://schemas.openxmlformats.org/drawingml/2006/main">
            <a:off x="609600" y="3524250"/>
            <a:ext cx="2667000" cy="76200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Preview files</a:t>
            </a:r>
          </a:p>
        </p:txBody>
      </p:sp>
      <p:sp>
        <p:nvSpPr>
          <p:cNvPr id="10" name="node-12">
            <a:extLst xmlns:a="http://schemas.openxmlformats.org/drawingml/2006/main">
              <a:ext uri="{FF2B5EF4-FFF2-40B4-BE49-F238E27FC236}">
                <a16:creationId xmlns:a16="http://schemas.microsoft.com/office/drawing/2014/main" id="{B6EB313D-A6B1-4774-A53C-EBC1DD99B7E5}"/>
              </a:ext>
            </a:extLst>
          </p:cNvPr>
          <p:cNvSpPr>
            <a:spLocks xmlns:a="http://schemas.openxmlformats.org/drawingml/2006/main" noGrp="1"/>
          </p:cNvSpPr>
          <p:nvPr/>
        </p:nvSpPr>
        <p:spPr>
          <a:xfrm xmlns:a="http://schemas.openxmlformats.org/drawingml/2006/main">
            <a:off x="609600" y="4953000"/>
            <a:ext cx="2667000" cy="76200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POST to upsert API</a:t>
            </a:r>
          </a:p>
        </p:txBody>
      </p:sp>
      <p:sp>
        <p:nvSpPr>
          <p:cNvPr id="17" name="text-13">
            <a:extLst xmlns:a="http://schemas.openxmlformats.org/drawingml/2006/main">
              <a:ext uri="{FF2B5EF4-FFF2-40B4-BE49-F238E27FC236}">
                <a16:creationId xmlns:a16="http://schemas.microsoft.com/office/drawing/2014/main" id="{E67A6DEB-2237-4A84-891D-25A36FC47312}"/>
              </a:ext>
            </a:extLst>
          </p:cNvPr>
          <p:cNvSpPr>
            <a:spLocks xmlns:a="http://schemas.openxmlformats.org/drawingml/2006/main" noGrp="1"/>
          </p:cNvSpPr>
          <p:nvPr/>
        </p:nvSpPr>
        <p:spPr>
          <a:xfrm xmlns:a="http://schemas.openxmlformats.org/drawingml/2006/main">
            <a:off x="4762500" y="5314950"/>
            <a:ext cx="676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007F86"/>
                </a:solidFill>
                <a:latin typeface="DejaVu Sans"/>
                <a:ea typeface="DejaVu Sans"/>
                <a:cs typeface="DejaVu Sans"/>
              </a:defRPr>
            </a:defPPr>
            <a:lvl1pPr algn="l">
              <a:defRPr sz="1950" b="1">
                <a:solidFill>
                  <a:srgbClr val="007F86"/>
                </a:solidFill>
                <a:latin typeface="DejaVu Sans"/>
                <a:ea typeface="DejaVu Sans"/>
                <a:cs typeface="DejaVu Sans"/>
              </a:defRPr>
            </a:lvl1pPr>
            <a:lvl2pPr algn="l">
              <a:defRPr sz="1950" b="1">
                <a:solidFill>
                  <a:srgbClr val="007F86"/>
                </a:solidFill>
                <a:latin typeface="DejaVu Sans"/>
                <a:ea typeface="DejaVu Sans"/>
                <a:cs typeface="DejaVu Sans"/>
              </a:defRPr>
            </a:lvl2pPr>
            <a:lvl3pPr algn="l">
              <a:defRPr sz="1950" b="1">
                <a:solidFill>
                  <a:srgbClr val="007F86"/>
                </a:solidFill>
                <a:latin typeface="DejaVu Sans"/>
                <a:ea typeface="DejaVu Sans"/>
                <a:cs typeface="DejaVu Sans"/>
              </a:defRPr>
            </a:lvl3pPr>
            <a:lvl4pPr algn="l">
              <a:defRPr sz="1950" b="1">
                <a:solidFill>
                  <a:srgbClr val="007F86"/>
                </a:solidFill>
                <a:latin typeface="DejaVu Sans"/>
                <a:ea typeface="DejaVu Sans"/>
                <a:cs typeface="DejaVu Sans"/>
              </a:defRPr>
            </a:lvl4pPr>
            <a:lvl5pPr algn="l">
              <a:defRPr sz="1950" b="1">
                <a:solidFill>
                  <a:srgbClr val="007F86"/>
                </a:solidFill>
                <a:latin typeface="DejaVu Sans"/>
                <a:ea typeface="DejaVu Sans"/>
                <a:cs typeface="DejaVu Sans"/>
              </a:defRPr>
            </a:lvl5pPr>
            <a:lvl6pPr algn="l">
              <a:defRPr sz="1950" b="1">
                <a:solidFill>
                  <a:srgbClr val="007F86"/>
                </a:solidFill>
                <a:latin typeface="DejaVu Sans"/>
                <a:ea typeface="DejaVu Sans"/>
                <a:cs typeface="DejaVu Sans"/>
              </a:defRPr>
            </a:lvl6pPr>
            <a:lvl7pPr algn="l">
              <a:defRPr sz="1950" b="1">
                <a:solidFill>
                  <a:srgbClr val="007F86"/>
                </a:solidFill>
                <a:latin typeface="DejaVu Sans"/>
                <a:ea typeface="DejaVu Sans"/>
                <a:cs typeface="DejaVu Sans"/>
              </a:defRPr>
            </a:lvl7pPr>
            <a:lvl8pPr algn="l">
              <a:defRPr sz="1950" b="1">
                <a:solidFill>
                  <a:srgbClr val="007F86"/>
                </a:solidFill>
                <a:latin typeface="DejaVu Sans"/>
                <a:ea typeface="DejaVu Sans"/>
                <a:cs typeface="DejaVu Sans"/>
              </a:defRPr>
            </a:lvl8pPr>
            <a:lvl9pPr algn="l">
              <a:defRPr sz="1950" b="1">
                <a:solidFill>
                  <a:srgbClr val="007F86"/>
                </a:solidFill>
                <a:latin typeface="DejaVu Sans"/>
                <a:ea typeface="DejaVu Sans"/>
                <a:cs typeface="DejaVu Sans"/>
              </a:defRPr>
            </a:lvl9pPr>
          </a:lstStyle>
          <a:p xmlns:a="http://schemas.openxmlformats.org/drawingml/2006/main">
            <a:pPr algn="l">
              <a:lnSpc>
                <a:spcPct val="115000"/>
              </a:lnSpc>
              <a:buNone/>
              <a:defRPr sz="1950" b="1">
                <a:solidFill>
                  <a:srgbClr val="007F86"/>
                </a:solidFill>
                <a:latin typeface="DejaVu Sans"/>
                <a:ea typeface="DejaVu Sans"/>
                <a:cs typeface="DejaVu Sans"/>
              </a:defRPr>
            </a:pPr>
            <a:r>
              <a:rPr sz="1950" b="1">
                <a:solidFill>
                  <a:srgbClr val="007F86"/>
                </a:solidFill>
                <a:latin typeface="DejaVu Sans"/>
                <a:ea typeface="DejaVu Sans"/>
                <a:cs typeface="DejaVu Sans"/>
              </a:rPr>
              <a:t>The entire file must pass preflight before dispatch.</a:t>
            </a:r>
          </a:p>
        </p:txBody>
      </p:sp>
    </p:spTree>
    <p:extLst>
      <p:ext uri="{BB962C8B-B14F-4D97-AF65-F5344CB8AC3E}">
        <p14:creationId xmlns:p14="http://schemas.microsoft.com/office/powerpoint/2010/main" val="425697614"/>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48FCB79-4A94-4CE2-B427-3778CAC5EA8C}"/>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Code responsibilities</a:t>
            </a:r>
          </a:p>
        </p:txBody>
      </p:sp>
      <p:sp>
        <p:nvSpPr>
          <p:cNvPr id="2" name="text-14">
            <a:extLst xmlns:a="http://schemas.openxmlformats.org/drawingml/2006/main">
              <a:ext uri="{FF2B5EF4-FFF2-40B4-BE49-F238E27FC236}">
                <a16:creationId xmlns:a16="http://schemas.microsoft.com/office/drawing/2014/main" id="{10902527-2592-4B0B-A5E0-28490BC21783}"/>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Each layer owns one kind of change.</a:t>
            </a:r>
          </a:p>
        </p:txBody>
      </p:sp>
      <p:sp>
        <p:nvSpPr>
          <p:cNvPr id="3" name="slide-number">
            <a:extLst xmlns:a="http://schemas.openxmlformats.org/drawingml/2006/main">
              <a:ext uri="{FF2B5EF4-FFF2-40B4-BE49-F238E27FC236}">
                <a16:creationId xmlns:a16="http://schemas.microsoft.com/office/drawing/2014/main" id="{3E3A3054-EA1B-4C12-A53C-14EEE0CAA487}"/>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3</a:t>
            </a:r>
          </a:p>
        </p:txBody>
      </p:sp>
      <p:graphicFrame>
        <p:nvGraphicFramePr>
          <p:cNvPr id="4" name="">
            <a:extLst xmlns:a="http://schemas.openxmlformats.org/drawingml/2006/main">
              <a:ext uri="{FF2B5EF4-FFF2-40B4-BE49-F238E27FC236}">
                <a16:creationId xmlns:a16="http://schemas.microsoft.com/office/drawing/2014/main" id="{EFBCD634-0069-4637-8777-8A5365D57BC8}"/>
              </a:ext>
            </a:extLst>
          </p:cNvPr>
          <p:cNvGraphicFramePr/>
          <p:nvPr/>
        </p:nvGraphicFramePr>
        <p:xfrm>
          <a:off xmlns:a="http://schemas.openxmlformats.org/drawingml/2006/main" x="609600" y="2000250"/>
          <a:ext xmlns:a="http://schemas.openxmlformats.org/drawingml/2006/main" cx="10972800" cy="4171950"/>
        </p:xfrm>
        <a:graphic xmlns:a="http://schemas.openxmlformats.org/drawingml/2006/main">
          <a:graphicData uri="http://schemas.openxmlformats.org/drawingml/2006/table">
            <a:tbl>
              <a:tblPr/>
              <a:tblGrid>
                <a:gridCol w="2000250"/>
                <a:gridCol w="5143500"/>
                <a:gridCol w="3829050"/>
              </a:tblGrid>
              <a:tr h="695325">
                <a:tc>
                  <a:txBody>
                    <a:bodyPr wrap="square" lIns="76200" tIns="76200" rIns="76200" bIns="76200">
                      <a:noAutofit/>
                    </a:bodyPr>
                    <a:lstStyle/>
                    <a:p>
                      <a:r>
                        <a:rPr sz="1800" b="1">
                          <a:solidFill>
                            <a:srgbClr val="FFFFFF"/>
                          </a:solidFill>
                          <a:latin typeface="DejaVu Sans"/>
                          <a:ea typeface="DejaVu Sans"/>
                          <a:cs typeface="DejaVu Sans"/>
                        </a:rPr>
                        <a:t>Package</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Responsibility</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Main entry</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config</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Routing, layouts, mappings, contract</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ProfileCatalog</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source</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File syntax and source records</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FileFormatAdapter</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mapping</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Business request construction</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RequestMapper</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processing</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Preflight, state, preview, recovery</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FileProcessor</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delivery</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HTTP POST and outcome classification</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UpsertClient</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Tree>
    <p:extLst>
      <p:ext uri="{BB962C8B-B14F-4D97-AF65-F5344CB8AC3E}">
        <p14:creationId xmlns:p14="http://schemas.microsoft.com/office/powerpoint/2010/main" val="917385545"/>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3E7BA08-F541-49E1-B50C-856096465C80}"/>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Input discovery and profile routing</a:t>
            </a:r>
          </a:p>
        </p:txBody>
      </p:sp>
      <p:sp>
        <p:nvSpPr>
          <p:cNvPr id="2" name="text-15">
            <a:extLst xmlns:a="http://schemas.openxmlformats.org/drawingml/2006/main">
              <a:ext uri="{FF2B5EF4-FFF2-40B4-BE49-F238E27FC236}">
                <a16:creationId xmlns:a16="http://schemas.microsoft.com/office/drawing/2014/main" id="{D20AED7C-4D15-4415-83B8-551B9E558670}"/>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producer publishes a ready marker after it closes the data file.</a:t>
            </a:r>
          </a:p>
        </p:txBody>
      </p:sp>
      <p:sp>
        <p:nvSpPr>
          <p:cNvPr id="3" name="slide-number">
            <a:extLst xmlns:a="http://schemas.openxmlformats.org/drawingml/2006/main">
              <a:ext uri="{FF2B5EF4-FFF2-40B4-BE49-F238E27FC236}">
                <a16:creationId xmlns:a16="http://schemas.microsoft.com/office/drawing/2014/main" id="{93BBAD5E-0300-4B0E-9F4D-DE4B7C33E10C}"/>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4</a:t>
            </a:r>
          </a:p>
        </p:txBody>
      </p:sp>
      <p:sp>
        <p:nvSpPr>
          <p:cNvPr id="4" name="text-16">
            <a:extLst xmlns:a="http://schemas.openxmlformats.org/drawingml/2006/main">
              <a:ext uri="{FF2B5EF4-FFF2-40B4-BE49-F238E27FC236}">
                <a16:creationId xmlns:a16="http://schemas.microsoft.com/office/drawing/2014/main" id="{DD23DF4B-840A-4BE9-B087-6BD70B17CF8E}"/>
              </a:ext>
            </a:extLst>
          </p:cNvPr>
          <p:cNvSpPr>
            <a:spLocks xmlns:a="http://schemas.openxmlformats.org/drawingml/2006/main" noGrp="1"/>
          </p:cNvSpPr>
          <p:nvPr/>
        </p:nvSpPr>
        <p:spPr>
          <a:xfrm xmlns:a="http://schemas.openxmlformats.org/drawingml/2006/main">
            <a:off x="609600" y="2028825"/>
            <a:ext cx="695325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enrollment_20261027.csv</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enrollment_20261027.csv.ready</a:t>
            </a:r>
          </a:p>
          <a:p xmlns:a="http://schemas.openxmlformats.org/drawingml/2006/main">
            <a: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filename-pattern:</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"enrollment*.csv"</a:t>
            </a:r>
          </a:p>
          <a:p xmlns:a="http://schemas.openxmlformats.org/drawingml/2006/main">
            <a: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One-shot override:</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--ingestion.profile-id=enrollment-csv-v1</a:t>
            </a:r>
          </a:p>
        </p:txBody>
      </p:sp>
      <p:sp>
        <p:nvSpPr>
          <p:cNvPr id="5" name="text-17">
            <a:extLst xmlns:a="http://schemas.openxmlformats.org/drawingml/2006/main">
              <a:ext uri="{FF2B5EF4-FFF2-40B4-BE49-F238E27FC236}">
                <a16:creationId xmlns:a16="http://schemas.microsoft.com/office/drawing/2014/main" id="{FB5A7FF4-E0E4-4B8A-BE36-3C0AD747659F}"/>
              </a:ext>
            </a:extLst>
          </p:cNvPr>
          <p:cNvSpPr>
            <a:spLocks xmlns:a="http://schemas.openxmlformats.org/drawingml/2006/main" noGrp="1"/>
          </p:cNvSpPr>
          <p:nvPr/>
        </p:nvSpPr>
        <p:spPr>
          <a:xfrm xmlns:a="http://schemas.openxmlformats.org/drawingml/2006/main">
            <a:off x="8039100" y="20574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Default poll interval: 5 seconds</a:t>
            </a:r>
          </a:p>
        </p:txBody>
      </p:sp>
      <p:sp>
        <p:nvSpPr>
          <p:cNvPr id="6" name="text-18">
            <a:extLst xmlns:a="http://schemas.openxmlformats.org/drawingml/2006/main">
              <a:ext uri="{FF2B5EF4-FFF2-40B4-BE49-F238E27FC236}">
                <a16:creationId xmlns:a16="http://schemas.microsoft.com/office/drawing/2014/main" id="{9F164822-AC71-41A9-BB8D-93524238D491}"/>
              </a:ext>
            </a:extLst>
          </p:cNvPr>
          <p:cNvSpPr>
            <a:spLocks xmlns:a="http://schemas.openxmlformats.org/drawingml/2006/main" noGrp="1"/>
          </p:cNvSpPr>
          <p:nvPr/>
        </p:nvSpPr>
        <p:spPr>
          <a:xfrm xmlns:a="http://schemas.openxmlformats.org/drawingml/2006/main">
            <a:off x="8039100" y="318135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Exactly one profile must match</a:t>
            </a:r>
          </a:p>
        </p:txBody>
      </p:sp>
      <p:sp>
        <p:nvSpPr>
          <p:cNvPr id="7" name="text-19">
            <a:extLst xmlns:a="http://schemas.openxmlformats.org/drawingml/2006/main">
              <a:ext uri="{FF2B5EF4-FFF2-40B4-BE49-F238E27FC236}">
                <a16:creationId xmlns:a16="http://schemas.microsoft.com/office/drawing/2014/main" id="{2AA86C37-AFB1-4791-8A0A-F3FD5DC98225}"/>
              </a:ext>
            </a:extLst>
          </p:cNvPr>
          <p:cNvSpPr>
            <a:spLocks xmlns:a="http://schemas.openxmlformats.org/drawingml/2006/main" noGrp="1"/>
          </p:cNvSpPr>
          <p:nvPr/>
        </p:nvSpPr>
        <p:spPr>
          <a:xfrm xmlns:a="http://schemas.openxmlformats.org/drawingml/2006/main">
            <a:off x="8039100" y="43053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Local staging precedes input removal</a:t>
            </a:r>
          </a:p>
        </p:txBody>
      </p:sp>
    </p:spTree>
    <p:extLst>
      <p:ext uri="{BB962C8B-B14F-4D97-AF65-F5344CB8AC3E}">
        <p14:creationId xmlns:p14="http://schemas.microsoft.com/office/powerpoint/2010/main" val="8408926"/>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D662011-C72C-4EEB-9B85-908984E2265F}"/>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Processing profile</a:t>
            </a:r>
          </a:p>
        </p:txBody>
      </p:sp>
      <p:sp>
        <p:nvSpPr>
          <p:cNvPr id="2" name="text-20">
            <a:extLst xmlns:a="http://schemas.openxmlformats.org/drawingml/2006/main">
              <a:ext uri="{FF2B5EF4-FFF2-40B4-BE49-F238E27FC236}">
                <a16:creationId xmlns:a16="http://schemas.microsoft.com/office/drawing/2014/main" id="{ABB92EF8-D43E-4F9F-8A93-D643A8DC6891}"/>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A profile binds routing, parser options, field mapping and output checks.</a:t>
            </a:r>
          </a:p>
        </p:txBody>
      </p:sp>
      <p:sp>
        <p:nvSpPr>
          <p:cNvPr id="3" name="slide-number">
            <a:extLst xmlns:a="http://schemas.openxmlformats.org/drawingml/2006/main">
              <a:ext uri="{FF2B5EF4-FFF2-40B4-BE49-F238E27FC236}">
                <a16:creationId xmlns:a16="http://schemas.microsoft.com/office/drawing/2014/main" id="{1AE6E457-1480-45D1-A2C7-BC3F646D03A3}"/>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5</a:t>
            </a:r>
          </a:p>
        </p:txBody>
      </p:sp>
      <p:sp>
        <p:nvSpPr>
          <p:cNvPr id="4" name="text-21">
            <a:extLst xmlns:a="http://schemas.openxmlformats.org/drawingml/2006/main">
              <a:ext uri="{FF2B5EF4-FFF2-40B4-BE49-F238E27FC236}">
                <a16:creationId xmlns:a16="http://schemas.microsoft.com/office/drawing/2014/main" id="{CFF3B217-898D-493D-93F5-1837A47DF35B}"/>
              </a:ext>
            </a:extLst>
          </p:cNvPr>
          <p:cNvSpPr>
            <a:spLocks xmlns:a="http://schemas.openxmlformats.org/drawingml/2006/main" noGrp="1"/>
          </p:cNvSpPr>
          <p:nvPr/>
        </p:nvSpPr>
        <p:spPr>
          <a:xfrm xmlns:a="http://schemas.openxmlformats.org/drawingml/2006/main">
            <a:off x="609600" y="2028825"/>
            <a:ext cx="695325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id: enrollment-csv-v1</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filename-pattern: "enrollment*.csv"</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layout:</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format: DELIMITED</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charset: UTF-8</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delimiter: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header-mode: FIRST_RECORD</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mappings:</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source: email</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target: person.contact.email</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contract:</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path: person.contact.email</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type: STRING</a:t>
            </a:r>
          </a:p>
        </p:txBody>
      </p:sp>
      <p:sp>
        <p:nvSpPr>
          <p:cNvPr id="5" name="text-22">
            <a:extLst xmlns:a="http://schemas.openxmlformats.org/drawingml/2006/main">
              <a:ext uri="{FF2B5EF4-FFF2-40B4-BE49-F238E27FC236}">
                <a16:creationId xmlns:a16="http://schemas.microsoft.com/office/drawing/2014/main" id="{0BBCAC49-3BB1-448F-B760-0EB279E9CDBD}"/>
              </a:ext>
            </a:extLst>
          </p:cNvPr>
          <p:cNvSpPr>
            <a:spLocks xmlns:a="http://schemas.openxmlformats.org/drawingml/2006/main" noGrp="1"/>
          </p:cNvSpPr>
          <p:nvPr/>
        </p:nvSpPr>
        <p:spPr>
          <a:xfrm xmlns:a="http://schemas.openxmlformats.org/drawingml/2006/main">
            <a:off x="8039100" y="20574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Layout locates source values</a:t>
            </a:r>
          </a:p>
        </p:txBody>
      </p:sp>
      <p:sp>
        <p:nvSpPr>
          <p:cNvPr id="6" name="text-23">
            <a:extLst xmlns:a="http://schemas.openxmlformats.org/drawingml/2006/main">
              <a:ext uri="{FF2B5EF4-FFF2-40B4-BE49-F238E27FC236}">
                <a16:creationId xmlns:a16="http://schemas.microsoft.com/office/drawing/2014/main" id="{DF747CF4-DA55-4FEC-A9F9-BBAEBCAF848F}"/>
              </a:ext>
            </a:extLst>
          </p:cNvPr>
          <p:cNvSpPr>
            <a:spLocks xmlns:a="http://schemas.openxmlformats.org/drawingml/2006/main" noGrp="1"/>
          </p:cNvSpPr>
          <p:nvPr/>
        </p:nvSpPr>
        <p:spPr>
          <a:xfrm xmlns:a="http://schemas.openxmlformats.org/drawingml/2006/main">
            <a:off x="8039100" y="318135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Mappings define the request shape</a:t>
            </a:r>
          </a:p>
        </p:txBody>
      </p:sp>
      <p:sp>
        <p:nvSpPr>
          <p:cNvPr id="7" name="text-24">
            <a:extLst xmlns:a="http://schemas.openxmlformats.org/drawingml/2006/main">
              <a:ext uri="{FF2B5EF4-FFF2-40B4-BE49-F238E27FC236}">
                <a16:creationId xmlns:a16="http://schemas.microsoft.com/office/drawing/2014/main" id="{CE341CC5-8D1C-4AB4-8D1F-368370D46130}"/>
              </a:ext>
            </a:extLst>
          </p:cNvPr>
          <p:cNvSpPr>
            <a:spLocks xmlns:a="http://schemas.openxmlformats.org/drawingml/2006/main" noGrp="1"/>
          </p:cNvSpPr>
          <p:nvPr/>
        </p:nvSpPr>
        <p:spPr>
          <a:xfrm xmlns:a="http://schemas.openxmlformats.org/drawingml/2006/main">
            <a:off x="8039100" y="43053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Contract checks paths, types and nulls</a:t>
            </a:r>
          </a:p>
        </p:txBody>
      </p:sp>
    </p:spTree>
    <p:extLst>
      <p:ext uri="{BB962C8B-B14F-4D97-AF65-F5344CB8AC3E}">
        <p14:creationId xmlns:p14="http://schemas.microsoft.com/office/powerpoint/2010/main" val="2108205718"/>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2183FD7-9E6E-49C8-ABFE-DADF2FF12B71}"/>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Source representation and request body</a:t>
            </a:r>
          </a:p>
        </p:txBody>
      </p:sp>
      <p:sp>
        <p:nvSpPr>
          <p:cNvPr id="2" name="text-25">
            <a:extLst xmlns:a="http://schemas.openxmlformats.org/drawingml/2006/main">
              <a:ext uri="{FF2B5EF4-FFF2-40B4-BE49-F238E27FC236}">
                <a16:creationId xmlns:a16="http://schemas.microsoft.com/office/drawing/2014/main" id="{4481E1EE-5FA5-4019-B054-6D134374208F}"/>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adapter reads syntax. The mapper assigns business meaning.</a:t>
            </a:r>
          </a:p>
        </p:txBody>
      </p:sp>
      <p:sp>
        <p:nvSpPr>
          <p:cNvPr id="3" name="slide-number">
            <a:extLst xmlns:a="http://schemas.openxmlformats.org/drawingml/2006/main">
              <a:ext uri="{FF2B5EF4-FFF2-40B4-BE49-F238E27FC236}">
                <a16:creationId xmlns:a16="http://schemas.microsoft.com/office/drawing/2014/main" id="{46974647-374D-48F5-A8DB-561E446D0BAD}"/>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6</a:t>
            </a:r>
          </a:p>
        </p:txBody>
      </p:sp>
      <p:sp>
        <p:nvSpPr>
          <p:cNvPr id="4" name="text-26">
            <a:extLst xmlns:a="http://schemas.openxmlformats.org/drawingml/2006/main">
              <a:ext uri="{FF2B5EF4-FFF2-40B4-BE49-F238E27FC236}">
                <a16:creationId xmlns:a16="http://schemas.microsoft.com/office/drawing/2014/main" id="{D6E4D114-2468-4555-AA64-6C45080FE1BC}"/>
              </a:ext>
            </a:extLst>
          </p:cNvPr>
          <p:cNvSpPr>
            <a:spLocks xmlns:a="http://schemas.openxmlformats.org/drawingml/2006/main" noGrp="1"/>
          </p:cNvSpPr>
          <p:nvPr/>
        </p:nvSpPr>
        <p:spPr>
          <a:xfrm xmlns:a="http://schemas.openxmlformats.org/drawingml/2006/main">
            <a:off x="609600" y="2000250"/>
            <a:ext cx="5191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SourceRecord.payload</a:t>
            </a:r>
          </a:p>
        </p:txBody>
      </p:sp>
      <p:sp>
        <p:nvSpPr>
          <p:cNvPr id="5" name="text-27">
            <a:extLst xmlns:a="http://schemas.openxmlformats.org/drawingml/2006/main">
              <a:ext uri="{FF2B5EF4-FFF2-40B4-BE49-F238E27FC236}">
                <a16:creationId xmlns:a16="http://schemas.microsoft.com/office/drawing/2014/main" id="{A6AE47AB-0235-42EA-AD80-59D134815DAF}"/>
              </a:ext>
            </a:extLst>
          </p:cNvPr>
          <p:cNvSpPr>
            <a:spLocks xmlns:a="http://schemas.openxmlformats.org/drawingml/2006/main" noGrp="1"/>
          </p:cNvSpPr>
          <p:nvPr/>
        </p:nvSpPr>
        <p:spPr>
          <a:xfrm xmlns:a="http://schemas.openxmlformats.org/drawingml/2006/main">
            <a:off x="6381750" y="2000250"/>
            <a:ext cx="520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Mapped ObjectNode</a:t>
            </a:r>
          </a:p>
        </p:txBody>
      </p:sp>
      <p:sp>
        <p:nvSpPr>
          <p:cNvPr id="6" name="text-28">
            <a:extLst xmlns:a="http://schemas.openxmlformats.org/drawingml/2006/main">
              <a:ext uri="{FF2B5EF4-FFF2-40B4-BE49-F238E27FC236}">
                <a16:creationId xmlns:a16="http://schemas.microsoft.com/office/drawing/2014/main" id="{A97424DF-CA74-4196-BD94-76F2753BB96C}"/>
              </a:ext>
            </a:extLst>
          </p:cNvPr>
          <p:cNvSpPr>
            <a:spLocks xmlns:a="http://schemas.openxmlformats.org/drawingml/2006/main" noGrp="1"/>
          </p:cNvSpPr>
          <p:nvPr/>
        </p:nvSpPr>
        <p:spPr>
          <a:xfrm xmlns:a="http://schemas.openxmlformats.org/drawingml/2006/main">
            <a:off x="609600" y="2533650"/>
            <a:ext cx="5191125"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"employee_id": "E1001",</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"first_name": "Jordan",</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"email": "jordan@example.com"</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p:txBody>
      </p:sp>
      <p:sp>
        <p:nvSpPr>
          <p:cNvPr id="7" name="text-29">
            <a:extLst xmlns:a="http://schemas.openxmlformats.org/drawingml/2006/main">
              <a:ext uri="{FF2B5EF4-FFF2-40B4-BE49-F238E27FC236}">
                <a16:creationId xmlns:a16="http://schemas.microsoft.com/office/drawing/2014/main" id="{1937E097-2F1D-4398-89ED-ABE33A8487F5}"/>
              </a:ext>
            </a:extLst>
          </p:cNvPr>
          <p:cNvSpPr>
            <a:spLocks xmlns:a="http://schemas.openxmlformats.org/drawingml/2006/main" noGrp="1"/>
          </p:cNvSpPr>
          <p:nvPr/>
        </p:nvSpPr>
        <p:spPr>
          <a:xfrm xmlns:a="http://schemas.openxmlformats.org/drawingml/2006/main">
            <a:off x="6381750" y="2533650"/>
            <a:ext cx="5200650"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"employeeId": "E1001",</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"person":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"firstName": "Jordan",</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"contact":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"email": "jordan@example.com"</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p:txBody>
      </p:sp>
      <p:sp>
        <p:nvSpPr>
          <p:cNvPr id="8" name="text-30">
            <a:extLst xmlns:a="http://schemas.openxmlformats.org/drawingml/2006/main">
              <a:ext uri="{FF2B5EF4-FFF2-40B4-BE49-F238E27FC236}">
                <a16:creationId xmlns:a16="http://schemas.microsoft.com/office/drawing/2014/main" id="{CD116DB9-3AF6-4063-AEA1-2B98A5744138}"/>
              </a:ext>
            </a:extLst>
          </p:cNvPr>
          <p:cNvSpPr>
            <a:spLocks xmlns:a="http://schemas.openxmlformats.org/drawingml/2006/main" noGrp="1"/>
          </p:cNvSpPr>
          <p:nvPr/>
        </p:nvSpPr>
        <p:spPr>
          <a:xfrm xmlns:a="http://schemas.openxmlformats.org/drawingml/2006/main">
            <a:off x="609600" y="5981700"/>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778"/>
                </a:solidFill>
                <a:latin typeface="DejaVu Sans"/>
                <a:ea typeface="DejaVu Sans"/>
                <a:cs typeface="DejaVu Sans"/>
              </a:defRPr>
            </a:defPPr>
            <a:lvl1pPr algn="l">
              <a:defRPr sz="1650" b="0">
                <a:solidFill>
                  <a:srgbClr val="526778"/>
                </a:solidFill>
                <a:latin typeface="DejaVu Sans"/>
                <a:ea typeface="DejaVu Sans"/>
                <a:cs typeface="DejaVu Sans"/>
              </a:defRPr>
            </a:lvl1pPr>
            <a:lvl2pPr algn="l">
              <a:defRPr sz="1650" b="0">
                <a:solidFill>
                  <a:srgbClr val="526778"/>
                </a:solidFill>
                <a:latin typeface="DejaVu Sans"/>
                <a:ea typeface="DejaVu Sans"/>
                <a:cs typeface="DejaVu Sans"/>
              </a:defRPr>
            </a:lvl2pPr>
            <a:lvl3pPr algn="l">
              <a:defRPr sz="1650" b="0">
                <a:solidFill>
                  <a:srgbClr val="526778"/>
                </a:solidFill>
                <a:latin typeface="DejaVu Sans"/>
                <a:ea typeface="DejaVu Sans"/>
                <a:cs typeface="DejaVu Sans"/>
              </a:defRPr>
            </a:lvl3pPr>
            <a:lvl4pPr algn="l">
              <a:defRPr sz="1650" b="0">
                <a:solidFill>
                  <a:srgbClr val="526778"/>
                </a:solidFill>
                <a:latin typeface="DejaVu Sans"/>
                <a:ea typeface="DejaVu Sans"/>
                <a:cs typeface="DejaVu Sans"/>
              </a:defRPr>
            </a:lvl4pPr>
            <a:lvl5pPr algn="l">
              <a:defRPr sz="1650" b="0">
                <a:solidFill>
                  <a:srgbClr val="526778"/>
                </a:solidFill>
                <a:latin typeface="DejaVu Sans"/>
                <a:ea typeface="DejaVu Sans"/>
                <a:cs typeface="DejaVu Sans"/>
              </a:defRPr>
            </a:lvl5pPr>
            <a:lvl6pPr algn="l">
              <a:defRPr sz="1650" b="0">
                <a:solidFill>
                  <a:srgbClr val="526778"/>
                </a:solidFill>
                <a:latin typeface="DejaVu Sans"/>
                <a:ea typeface="DejaVu Sans"/>
                <a:cs typeface="DejaVu Sans"/>
              </a:defRPr>
            </a:lvl6pPr>
            <a:lvl7pPr algn="l">
              <a:defRPr sz="1650" b="0">
                <a:solidFill>
                  <a:srgbClr val="526778"/>
                </a:solidFill>
                <a:latin typeface="DejaVu Sans"/>
                <a:ea typeface="DejaVu Sans"/>
                <a:cs typeface="DejaVu Sans"/>
              </a:defRPr>
            </a:lvl7pPr>
            <a:lvl8pPr algn="l">
              <a:defRPr sz="1650" b="0">
                <a:solidFill>
                  <a:srgbClr val="526778"/>
                </a:solidFill>
                <a:latin typeface="DejaVu Sans"/>
                <a:ea typeface="DejaVu Sans"/>
                <a:cs typeface="DejaVu Sans"/>
              </a:defRPr>
            </a:lvl8pPr>
            <a:lvl9pPr algn="l">
              <a:defRPr sz="1650" b="0">
                <a:solidFill>
                  <a:srgbClr val="526778"/>
                </a:solidFill>
                <a:latin typeface="DejaVu Sans"/>
                <a:ea typeface="DejaVu Sans"/>
                <a:cs typeface="DejaVu Sans"/>
              </a:defRPr>
            </a:lvl9pPr>
          </a:lstStyle>
          <a:p xmlns:a="http://schemas.openxmlformats.org/drawingml/2006/main">
            <a:pPr algn="l">
              <a:lnSpc>
                <a:spcPct val="115000"/>
              </a:lnSpc>
              <a:buNone/>
              <a:defRPr sz="1650" b="0">
                <a:solidFill>
                  <a:srgbClr val="526778"/>
                </a:solidFill>
                <a:latin typeface="DejaVu Sans"/>
                <a:ea typeface="DejaVu Sans"/>
                <a:cs typeface="DejaVu Sans"/>
              </a:defRPr>
            </a:pPr>
            <a:r>
              <a:rPr sz="1650" b="0">
                <a:solidFill>
                  <a:srgbClr val="526778"/>
                </a:solidFill>
                <a:latin typeface="DejaVu Sans"/>
                <a:ea typeface="DejaVu Sans"/>
                <a:cs typeface="DejaVu Sans"/>
              </a:rPr>
              <a:t>Illustrative subset of the enrollment example</a:t>
            </a:r>
          </a:p>
        </p:txBody>
      </p:sp>
    </p:spTree>
    <p:extLst>
      <p:ext uri="{BB962C8B-B14F-4D97-AF65-F5344CB8AC3E}">
        <p14:creationId xmlns:p14="http://schemas.microsoft.com/office/powerpoint/2010/main" val="898070928"/>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D298CF8-E247-4BD9-9CA1-4CF6C00156F1}"/>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Adapter contract</a:t>
            </a:r>
          </a:p>
        </p:txBody>
      </p:sp>
      <p:sp>
        <p:nvSpPr>
          <p:cNvPr id="2" name="text-31">
            <a:extLst xmlns:a="http://schemas.openxmlformats.org/drawingml/2006/main">
              <a:ext uri="{FF2B5EF4-FFF2-40B4-BE49-F238E27FC236}">
                <a16:creationId xmlns:a16="http://schemas.microsoft.com/office/drawing/2014/main" id="{B618DB00-25A6-4625-86F0-5E67D8F2D070}"/>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Spring discovers parser beans through one interface.</a:t>
            </a:r>
          </a:p>
        </p:txBody>
      </p:sp>
      <p:sp>
        <p:nvSpPr>
          <p:cNvPr id="3" name="slide-number">
            <a:extLst xmlns:a="http://schemas.openxmlformats.org/drawingml/2006/main">
              <a:ext uri="{FF2B5EF4-FFF2-40B4-BE49-F238E27FC236}">
                <a16:creationId xmlns:a16="http://schemas.microsoft.com/office/drawing/2014/main" id="{46A5C296-3A19-49B4-85FC-DBE77F29AD46}"/>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7</a:t>
            </a:r>
          </a:p>
        </p:txBody>
      </p:sp>
      <p:sp>
        <p:nvSpPr>
          <p:cNvPr id="4" name="text-32">
            <a:extLst xmlns:a="http://schemas.openxmlformats.org/drawingml/2006/main">
              <a:ext uri="{FF2B5EF4-FFF2-40B4-BE49-F238E27FC236}">
                <a16:creationId xmlns:a16="http://schemas.microsoft.com/office/drawing/2014/main" id="{9CF352EC-94FB-47DD-9270-B9528D91E4FB}"/>
              </a:ext>
            </a:extLst>
          </p:cNvPr>
          <p:cNvSpPr>
            <a:spLocks xmlns:a="http://schemas.openxmlformats.org/drawingml/2006/main" noGrp="1"/>
          </p:cNvSpPr>
          <p:nvPr/>
        </p:nvSpPr>
        <p:spPr>
          <a:xfrm xmlns:a="http://schemas.openxmlformats.org/drawingml/2006/main">
            <a:off x="609600" y="2028825"/>
            <a:ext cx="68961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public interface FileFormatAdapter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Profile.Format format();</a:t>
            </a:r>
          </a:p>
          <a:p xmlns:a="http://schemas.openxmlformats.org/drawingml/2006/main">
            <a: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void read(</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Path file,</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Profile.Layout layout,</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Consumer&lt;SourceRecord&gt; consumer</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throws IOException;</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p:txBody>
      </p:sp>
      <p:sp>
        <p:nvSpPr>
          <p:cNvPr id="5" name="text-33">
            <a:extLst xmlns:a="http://schemas.openxmlformats.org/drawingml/2006/main">
              <a:ext uri="{FF2B5EF4-FFF2-40B4-BE49-F238E27FC236}">
                <a16:creationId xmlns:a16="http://schemas.microsoft.com/office/drawing/2014/main" id="{5AFE41E2-51B9-41F9-AF39-6670D56F33DE}"/>
              </a:ext>
            </a:extLst>
          </p:cNvPr>
          <p:cNvSpPr>
            <a:spLocks xmlns:a="http://schemas.openxmlformats.org/drawingml/2006/main" noGrp="1"/>
          </p:cNvSpPr>
          <p:nvPr/>
        </p:nvSpPr>
        <p:spPr>
          <a:xfrm xmlns:a="http://schemas.openxmlformats.org/drawingml/2006/main">
            <a:off x="8039100" y="20574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Own and close parser resources</a:t>
            </a:r>
          </a:p>
        </p:txBody>
      </p:sp>
      <p:sp>
        <p:nvSpPr>
          <p:cNvPr id="6" name="text-34">
            <a:extLst xmlns:a="http://schemas.openxmlformats.org/drawingml/2006/main">
              <a:ext uri="{FF2B5EF4-FFF2-40B4-BE49-F238E27FC236}">
                <a16:creationId xmlns:a16="http://schemas.microsoft.com/office/drawing/2014/main" id="{8E438BD6-9EE6-49DA-A5EB-7C9FA6CA8757}"/>
              </a:ext>
            </a:extLst>
          </p:cNvPr>
          <p:cNvSpPr>
            <a:spLocks xmlns:a="http://schemas.openxmlformats.org/drawingml/2006/main" noGrp="1"/>
          </p:cNvSpPr>
          <p:nvPr/>
        </p:nvSpPr>
        <p:spPr>
          <a:xfrm xmlns:a="http://schemas.openxmlformats.org/drawingml/2006/main">
            <a:off x="8039100" y="318135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Emit stable logical record numbers</a:t>
            </a:r>
          </a:p>
        </p:txBody>
      </p:sp>
      <p:sp>
        <p:nvSpPr>
          <p:cNvPr id="7" name="text-35">
            <a:extLst xmlns:a="http://schemas.openxmlformats.org/drawingml/2006/main">
              <a:ext uri="{FF2B5EF4-FFF2-40B4-BE49-F238E27FC236}">
                <a16:creationId xmlns:a16="http://schemas.microsoft.com/office/drawing/2014/main" id="{B0D04E21-817E-43C3-B0CD-F2AB3858289B}"/>
              </a:ext>
            </a:extLst>
          </p:cNvPr>
          <p:cNvSpPr>
            <a:spLocks xmlns:a="http://schemas.openxmlformats.org/drawingml/2006/main" noGrp="1"/>
          </p:cNvSpPr>
          <p:nvPr/>
        </p:nvSpPr>
        <p:spPr>
          <a:xfrm xmlns:a="http://schemas.openxmlformats.org/drawingml/2006/main">
            <a:off x="8039100" y="43053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Keep business mapping outside the parser</a:t>
            </a:r>
          </a:p>
        </p:txBody>
      </p:sp>
    </p:spTree>
    <p:extLst>
      <p:ext uri="{BB962C8B-B14F-4D97-AF65-F5344CB8AC3E}">
        <p14:creationId xmlns:p14="http://schemas.microsoft.com/office/powerpoint/2010/main" val="1711100506"/>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36C3AE8-EB12-4107-990B-714CB2413E70}"/>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Supported file formats</a:t>
            </a:r>
          </a:p>
        </p:txBody>
      </p:sp>
      <p:sp>
        <p:nvSpPr>
          <p:cNvPr id="2" name="text-36">
            <a:extLst xmlns:a="http://schemas.openxmlformats.org/drawingml/2006/main">
              <a:ext uri="{FF2B5EF4-FFF2-40B4-BE49-F238E27FC236}">
                <a16:creationId xmlns:a16="http://schemas.microsoft.com/office/drawing/2014/main" id="{1FFB7708-8768-4ED1-AE58-F533CE7194E0}"/>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Profiles define record boundaries explicitly.</a:t>
            </a:r>
          </a:p>
        </p:txBody>
      </p:sp>
      <p:sp>
        <p:nvSpPr>
          <p:cNvPr id="3" name="slide-number">
            <a:extLst xmlns:a="http://schemas.openxmlformats.org/drawingml/2006/main">
              <a:ext uri="{FF2B5EF4-FFF2-40B4-BE49-F238E27FC236}">
                <a16:creationId xmlns:a16="http://schemas.microsoft.com/office/drawing/2014/main" id="{8EA668F1-B54B-4180-8F2F-5D440A9A07F9}"/>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8</a:t>
            </a:r>
          </a:p>
        </p:txBody>
      </p:sp>
      <p:graphicFrame>
        <p:nvGraphicFramePr>
          <p:cNvPr id="4" name="">
            <a:extLst xmlns:a="http://schemas.openxmlformats.org/drawingml/2006/main">
              <a:ext uri="{FF2B5EF4-FFF2-40B4-BE49-F238E27FC236}">
                <a16:creationId xmlns:a16="http://schemas.microsoft.com/office/drawing/2014/main" id="{79519BF2-ED88-4348-9CA4-952A99E6D9D8}"/>
              </a:ext>
            </a:extLst>
          </p:cNvPr>
          <p:cNvGraphicFramePr/>
          <p:nvPr/>
        </p:nvGraphicFramePr>
        <p:xfrm>
          <a:off xmlns:a="http://schemas.openxmlformats.org/drawingml/2006/main" x="609600" y="2000250"/>
          <a:ext xmlns:a="http://schemas.openxmlformats.org/drawingml/2006/main" cx="10972800" cy="4000500"/>
        </p:xfrm>
        <a:graphic xmlns:a="http://schemas.openxmlformats.org/drawingml/2006/main">
          <a:graphicData uri="http://schemas.openxmlformats.org/drawingml/2006/table">
            <a:tbl>
              <a:tblPr/>
              <a:tblGrid>
                <a:gridCol w="2238375"/>
                <a:gridCol w="3476625"/>
                <a:gridCol w="5257800"/>
              </a:tblGrid>
              <a:tr h="800100">
                <a:tc>
                  <a:txBody>
                    <a:bodyPr wrap="square" lIns="76200" tIns="76200" rIns="76200" bIns="76200">
                      <a:noAutofit/>
                    </a:bodyPr>
                    <a:lstStyle/>
                    <a:p>
                      <a:r>
                        <a:rPr sz="1800" b="1">
                          <a:solidFill>
                            <a:srgbClr val="FFFFFF"/>
                          </a:solidFill>
                          <a:latin typeface="DejaVu Sans"/>
                          <a:ea typeface="DejaVu Sans"/>
                          <a:cs typeface="DejaVu Sans"/>
                        </a:rPr>
                        <a:t>Adapter</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Record boundary</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Layout controls</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Delimited</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CSV-aware record</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Delimiter, headers or columns</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Fixed-width</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One physical line</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Character offsets and exact length</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XML</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Selected element</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Absolute path and namespace aliases</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JSON</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Object, array item or line</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OBJECT, ARRAY or LINES mode</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bl>
          </a:graphicData>
        </a:graphic>
      </p:graphicFrame>
    </p:spTree>
    <p:extLst>
      <p:ext uri="{BB962C8B-B14F-4D97-AF65-F5344CB8AC3E}">
        <p14:creationId xmlns:p14="http://schemas.microsoft.com/office/powerpoint/2010/main" val="410654095"/>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E15A7AE-A386-43C7-8101-E136A32AF528}"/>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Delimited and fixed-width layouts</a:t>
            </a:r>
          </a:p>
        </p:txBody>
      </p:sp>
      <p:sp>
        <p:nvSpPr>
          <p:cNvPr id="2" name="text-37">
            <a:extLst xmlns:a="http://schemas.openxmlformats.org/drawingml/2006/main">
              <a:ext uri="{FF2B5EF4-FFF2-40B4-BE49-F238E27FC236}">
                <a16:creationId xmlns:a16="http://schemas.microsoft.com/office/drawing/2014/main" id="{5CF31EF2-E32B-4EFE-A50A-4AD2C6479D4E}"/>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Layout excerpts show how the parser locates fields.</a:t>
            </a:r>
          </a:p>
        </p:txBody>
      </p:sp>
      <p:sp>
        <p:nvSpPr>
          <p:cNvPr id="3" name="slide-number">
            <a:extLst xmlns:a="http://schemas.openxmlformats.org/drawingml/2006/main">
              <a:ext uri="{FF2B5EF4-FFF2-40B4-BE49-F238E27FC236}">
                <a16:creationId xmlns:a16="http://schemas.microsoft.com/office/drawing/2014/main" id="{EC9B26B5-D9D7-4DD1-9931-36C71C02DB04}"/>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9</a:t>
            </a:r>
          </a:p>
        </p:txBody>
      </p:sp>
      <p:sp>
        <p:nvSpPr>
          <p:cNvPr id="4" name="text-38">
            <a:extLst xmlns:a="http://schemas.openxmlformats.org/drawingml/2006/main">
              <a:ext uri="{FF2B5EF4-FFF2-40B4-BE49-F238E27FC236}">
                <a16:creationId xmlns:a16="http://schemas.microsoft.com/office/drawing/2014/main" id="{A12BE552-7BD9-4927-A818-8A20010A2D00}"/>
              </a:ext>
            </a:extLst>
          </p:cNvPr>
          <p:cNvSpPr>
            <a:spLocks xmlns:a="http://schemas.openxmlformats.org/drawingml/2006/main" noGrp="1"/>
          </p:cNvSpPr>
          <p:nvPr/>
        </p:nvSpPr>
        <p:spPr>
          <a:xfrm xmlns:a="http://schemas.openxmlformats.org/drawingml/2006/main">
            <a:off x="609600" y="2000250"/>
            <a:ext cx="5191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Headerless pipe</a:t>
            </a:r>
          </a:p>
        </p:txBody>
      </p:sp>
      <p:sp>
        <p:nvSpPr>
          <p:cNvPr id="5" name="text-39">
            <a:extLst xmlns:a="http://schemas.openxmlformats.org/drawingml/2006/main">
              <a:ext uri="{FF2B5EF4-FFF2-40B4-BE49-F238E27FC236}">
                <a16:creationId xmlns:a16="http://schemas.microsoft.com/office/drawing/2014/main" id="{B0C388CC-3C54-4806-B031-92A2401A9002}"/>
              </a:ext>
            </a:extLst>
          </p:cNvPr>
          <p:cNvSpPr>
            <a:spLocks xmlns:a="http://schemas.openxmlformats.org/drawingml/2006/main" noGrp="1"/>
          </p:cNvSpPr>
          <p:nvPr/>
        </p:nvSpPr>
        <p:spPr>
          <a:xfrm xmlns:a="http://schemas.openxmlformats.org/drawingml/2006/main">
            <a:off x="6381750" y="2000250"/>
            <a:ext cx="520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Headerless fixed-width</a:t>
            </a:r>
          </a:p>
        </p:txBody>
      </p:sp>
      <p:sp>
        <p:nvSpPr>
          <p:cNvPr id="6" name="text-40">
            <a:extLst xmlns:a="http://schemas.openxmlformats.org/drawingml/2006/main">
              <a:ext uri="{FF2B5EF4-FFF2-40B4-BE49-F238E27FC236}">
                <a16:creationId xmlns:a16="http://schemas.microsoft.com/office/drawing/2014/main" id="{A57AEC7D-20E6-4B22-967E-C33D63ED0093}"/>
              </a:ext>
            </a:extLst>
          </p:cNvPr>
          <p:cNvSpPr>
            <a:spLocks xmlns:a="http://schemas.openxmlformats.org/drawingml/2006/main" noGrp="1"/>
          </p:cNvSpPr>
          <p:nvPr/>
        </p:nvSpPr>
        <p:spPr>
          <a:xfrm xmlns:a="http://schemas.openxmlformats.org/drawingml/2006/main">
            <a:off x="609600" y="2533650"/>
            <a:ext cx="5191125"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format: DELIMITED</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charset: UTF-8</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delimiter: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header-mode: NONE</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columns:</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employee_id</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first_name</a:t>
            </a:r>
          </a:p>
        </p:txBody>
      </p:sp>
      <p:sp>
        <p:nvSpPr>
          <p:cNvPr id="7" name="text-41">
            <a:extLst xmlns:a="http://schemas.openxmlformats.org/drawingml/2006/main">
              <a:ext uri="{FF2B5EF4-FFF2-40B4-BE49-F238E27FC236}">
                <a16:creationId xmlns:a16="http://schemas.microsoft.com/office/drawing/2014/main" id="{87178AD1-0D24-43BB-BD99-0B58ED06D42A}"/>
              </a:ext>
            </a:extLst>
          </p:cNvPr>
          <p:cNvSpPr>
            <a:spLocks xmlns:a="http://schemas.openxmlformats.org/drawingml/2006/main" noGrp="1"/>
          </p:cNvSpPr>
          <p:nvPr/>
        </p:nvSpPr>
        <p:spPr>
          <a:xfrm xmlns:a="http://schemas.openxmlformats.org/drawingml/2006/main">
            <a:off x="6381750" y="2533650"/>
            <a:ext cx="5200650"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format: FIXED_WIDTH</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charset: UTF-8</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header-mode: NONE</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fixed-width:</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record-length: 20</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columns:</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 name: employee_id,</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offset: 0, length: 8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 name: first_name,</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offset: 8, length: 12 }</a:t>
            </a:r>
          </a:p>
        </p:txBody>
      </p:sp>
      <p:sp>
        <p:nvSpPr>
          <p:cNvPr id="8" name="text-42">
            <a:extLst xmlns:a="http://schemas.openxmlformats.org/drawingml/2006/main">
              <a:ext uri="{FF2B5EF4-FFF2-40B4-BE49-F238E27FC236}">
                <a16:creationId xmlns:a16="http://schemas.microsoft.com/office/drawing/2014/main" id="{F3607371-9657-4A72-B458-D9DA5C1E30E8}"/>
              </a:ext>
            </a:extLst>
          </p:cNvPr>
          <p:cNvSpPr>
            <a:spLocks xmlns:a="http://schemas.openxmlformats.org/drawingml/2006/main" noGrp="1"/>
          </p:cNvSpPr>
          <p:nvPr/>
        </p:nvSpPr>
        <p:spPr>
          <a:xfrm xmlns:a="http://schemas.openxmlformats.org/drawingml/2006/main">
            <a:off x="609600" y="5981700"/>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778"/>
                </a:solidFill>
                <a:latin typeface="DejaVu Sans"/>
                <a:ea typeface="DejaVu Sans"/>
                <a:cs typeface="DejaVu Sans"/>
              </a:defRPr>
            </a:defPPr>
            <a:lvl1pPr algn="l">
              <a:defRPr sz="1650" b="0">
                <a:solidFill>
                  <a:srgbClr val="526778"/>
                </a:solidFill>
                <a:latin typeface="DejaVu Sans"/>
                <a:ea typeface="DejaVu Sans"/>
                <a:cs typeface="DejaVu Sans"/>
              </a:defRPr>
            </a:lvl1pPr>
            <a:lvl2pPr algn="l">
              <a:defRPr sz="1650" b="0">
                <a:solidFill>
                  <a:srgbClr val="526778"/>
                </a:solidFill>
                <a:latin typeface="DejaVu Sans"/>
                <a:ea typeface="DejaVu Sans"/>
                <a:cs typeface="DejaVu Sans"/>
              </a:defRPr>
            </a:lvl2pPr>
            <a:lvl3pPr algn="l">
              <a:defRPr sz="1650" b="0">
                <a:solidFill>
                  <a:srgbClr val="526778"/>
                </a:solidFill>
                <a:latin typeface="DejaVu Sans"/>
                <a:ea typeface="DejaVu Sans"/>
                <a:cs typeface="DejaVu Sans"/>
              </a:defRPr>
            </a:lvl3pPr>
            <a:lvl4pPr algn="l">
              <a:defRPr sz="1650" b="0">
                <a:solidFill>
                  <a:srgbClr val="526778"/>
                </a:solidFill>
                <a:latin typeface="DejaVu Sans"/>
                <a:ea typeface="DejaVu Sans"/>
                <a:cs typeface="DejaVu Sans"/>
              </a:defRPr>
            </a:lvl4pPr>
            <a:lvl5pPr algn="l">
              <a:defRPr sz="1650" b="0">
                <a:solidFill>
                  <a:srgbClr val="526778"/>
                </a:solidFill>
                <a:latin typeface="DejaVu Sans"/>
                <a:ea typeface="DejaVu Sans"/>
                <a:cs typeface="DejaVu Sans"/>
              </a:defRPr>
            </a:lvl5pPr>
            <a:lvl6pPr algn="l">
              <a:defRPr sz="1650" b="0">
                <a:solidFill>
                  <a:srgbClr val="526778"/>
                </a:solidFill>
                <a:latin typeface="DejaVu Sans"/>
                <a:ea typeface="DejaVu Sans"/>
                <a:cs typeface="DejaVu Sans"/>
              </a:defRPr>
            </a:lvl6pPr>
            <a:lvl7pPr algn="l">
              <a:defRPr sz="1650" b="0">
                <a:solidFill>
                  <a:srgbClr val="526778"/>
                </a:solidFill>
                <a:latin typeface="DejaVu Sans"/>
                <a:ea typeface="DejaVu Sans"/>
                <a:cs typeface="DejaVu Sans"/>
              </a:defRPr>
            </a:lvl7pPr>
            <a:lvl8pPr algn="l">
              <a:defRPr sz="1650" b="0">
                <a:solidFill>
                  <a:srgbClr val="526778"/>
                </a:solidFill>
                <a:latin typeface="DejaVu Sans"/>
                <a:ea typeface="DejaVu Sans"/>
                <a:cs typeface="DejaVu Sans"/>
              </a:defRPr>
            </a:lvl8pPr>
            <a:lvl9pPr algn="l">
              <a:defRPr sz="1650" b="0">
                <a:solidFill>
                  <a:srgbClr val="526778"/>
                </a:solidFill>
                <a:latin typeface="DejaVu Sans"/>
                <a:ea typeface="DejaVu Sans"/>
                <a:cs typeface="DejaVu Sans"/>
              </a:defRPr>
            </a:lvl9pPr>
          </a:lstStyle>
          <a:p xmlns:a="http://schemas.openxmlformats.org/drawingml/2006/main">
            <a:pPr algn="l">
              <a:lnSpc>
                <a:spcPct val="115000"/>
              </a:lnSpc>
              <a:buNone/>
              <a:defRPr sz="1650" b="0">
                <a:solidFill>
                  <a:srgbClr val="526778"/>
                </a:solidFill>
                <a:latin typeface="DejaVu Sans"/>
                <a:ea typeface="DejaVu Sans"/>
                <a:cs typeface="DejaVu Sans"/>
              </a:defRPr>
            </a:pPr>
            <a:r>
              <a:rPr sz="1650" b="0">
                <a:solidFill>
                  <a:srgbClr val="526778"/>
                </a:solidFill>
                <a:latin typeface="DejaVu Sans"/>
                <a:ea typeface="DejaVu Sans"/>
                <a:cs typeface="DejaVu Sans"/>
              </a:rPr>
              <a:t>Fixed-width offsets count characters. Byte layouts need an agreed parser.</a:t>
            </a:r>
          </a:p>
        </p:txBody>
      </p:sp>
    </p:spTree>
    <p:extLst>
      <p:ext uri="{BB962C8B-B14F-4D97-AF65-F5344CB8AC3E}">
        <p14:creationId xmlns:p14="http://schemas.microsoft.com/office/powerpoint/2010/main" val="2140990211"/>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0D1C8F4-1178-4F83-AB2D-796532F6773E}"/>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XML record selection</a:t>
            </a:r>
          </a:p>
        </p:txBody>
      </p:sp>
      <p:sp>
        <p:nvSpPr>
          <p:cNvPr id="2" name="text-43">
            <a:extLst xmlns:a="http://schemas.openxmlformats.org/drawingml/2006/main">
              <a:ext uri="{FF2B5EF4-FFF2-40B4-BE49-F238E27FC236}">
                <a16:creationId xmlns:a16="http://schemas.microsoft.com/office/drawing/2014/main" id="{880DCC57-921C-44AA-A790-02ADAABA5382}"/>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One selected element becomes one source record.</a:t>
            </a:r>
          </a:p>
        </p:txBody>
      </p:sp>
      <p:sp>
        <p:nvSpPr>
          <p:cNvPr id="3" name="slide-number">
            <a:extLst xmlns:a="http://schemas.openxmlformats.org/drawingml/2006/main">
              <a:ext uri="{FF2B5EF4-FFF2-40B4-BE49-F238E27FC236}">
                <a16:creationId xmlns:a16="http://schemas.microsoft.com/office/drawing/2014/main" id="{E0E6ED97-F8FB-4C97-9EF6-8D411787FAFC}"/>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10</a:t>
            </a:r>
          </a:p>
        </p:txBody>
      </p:sp>
      <p:sp>
        <p:nvSpPr>
          <p:cNvPr id="4" name="text-44">
            <a:extLst xmlns:a="http://schemas.openxmlformats.org/drawingml/2006/main">
              <a:ext uri="{FF2B5EF4-FFF2-40B4-BE49-F238E27FC236}">
                <a16:creationId xmlns:a16="http://schemas.microsoft.com/office/drawing/2014/main" id="{D5AEB65F-FB16-4A8C-92C3-CC2255528FF8}"/>
              </a:ext>
            </a:extLst>
          </p:cNvPr>
          <p:cNvSpPr>
            <a:spLocks xmlns:a="http://schemas.openxmlformats.org/drawingml/2006/main" noGrp="1"/>
          </p:cNvSpPr>
          <p:nvPr/>
        </p:nvSpPr>
        <p:spPr>
          <a:xfrm xmlns:a="http://schemas.openxmlformats.org/drawingml/2006/main">
            <a:off x="609600" y="2000250"/>
            <a:ext cx="5191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Input excerpt</a:t>
            </a:r>
          </a:p>
        </p:txBody>
      </p:sp>
      <p:sp>
        <p:nvSpPr>
          <p:cNvPr id="5" name="text-45">
            <a:extLst xmlns:a="http://schemas.openxmlformats.org/drawingml/2006/main">
              <a:ext uri="{FF2B5EF4-FFF2-40B4-BE49-F238E27FC236}">
                <a16:creationId xmlns:a16="http://schemas.microsoft.com/office/drawing/2014/main" id="{ECE74DBE-19B8-4621-9E48-4609FC6A04D8}"/>
              </a:ext>
            </a:extLst>
          </p:cNvPr>
          <p:cNvSpPr>
            <a:spLocks xmlns:a="http://schemas.openxmlformats.org/drawingml/2006/main" noGrp="1"/>
          </p:cNvSpPr>
          <p:nvPr/>
        </p:nvSpPr>
        <p:spPr>
          <a:xfrm xmlns:a="http://schemas.openxmlformats.org/drawingml/2006/main">
            <a:off x="6381750" y="2000250"/>
            <a:ext cx="520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Layout excerpt</a:t>
            </a:r>
          </a:p>
        </p:txBody>
      </p:sp>
      <p:sp>
        <p:nvSpPr>
          <p:cNvPr id="6" name="text-46">
            <a:extLst xmlns:a="http://schemas.openxmlformats.org/drawingml/2006/main">
              <a:ext uri="{FF2B5EF4-FFF2-40B4-BE49-F238E27FC236}">
                <a16:creationId xmlns:a16="http://schemas.microsoft.com/office/drawing/2014/main" id="{1D755A99-78FF-43F4-9F11-BE40F92303D8}"/>
              </a:ext>
            </a:extLst>
          </p:cNvPr>
          <p:cNvSpPr>
            <a:spLocks xmlns:a="http://schemas.openxmlformats.org/drawingml/2006/main" noGrp="1"/>
          </p:cNvSpPr>
          <p:nvPr/>
        </p:nvSpPr>
        <p:spPr>
          <a:xfrm xmlns:a="http://schemas.openxmlformats.org/drawingml/2006/main">
            <a:off x="609600" y="2533650"/>
            <a:ext cx="5191125"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02A43"/>
                </a:solidFill>
                <a:latin typeface="DejaVu Sans Mono"/>
                <a:ea typeface="DejaVu Sans Mono"/>
                <a:cs typeface="DejaVu Sans Mono"/>
              </a:defRPr>
            </a:defPPr>
            <a:lvl1pPr algn="l">
              <a:defRPr sz="1650" b="0">
                <a:solidFill>
                  <a:srgbClr val="102A43"/>
                </a:solidFill>
                <a:latin typeface="DejaVu Sans Mono"/>
                <a:ea typeface="DejaVu Sans Mono"/>
                <a:cs typeface="DejaVu Sans Mono"/>
              </a:defRPr>
            </a:lvl1pPr>
            <a:lvl2pPr algn="l">
              <a:defRPr sz="1650" b="0">
                <a:solidFill>
                  <a:srgbClr val="102A43"/>
                </a:solidFill>
                <a:latin typeface="DejaVu Sans Mono"/>
                <a:ea typeface="DejaVu Sans Mono"/>
                <a:cs typeface="DejaVu Sans Mono"/>
              </a:defRPr>
            </a:lvl2pPr>
            <a:lvl3pPr algn="l">
              <a:defRPr sz="1650" b="0">
                <a:solidFill>
                  <a:srgbClr val="102A43"/>
                </a:solidFill>
                <a:latin typeface="DejaVu Sans Mono"/>
                <a:ea typeface="DejaVu Sans Mono"/>
                <a:cs typeface="DejaVu Sans Mono"/>
              </a:defRPr>
            </a:lvl3pPr>
            <a:lvl4pPr algn="l">
              <a:defRPr sz="1650" b="0">
                <a:solidFill>
                  <a:srgbClr val="102A43"/>
                </a:solidFill>
                <a:latin typeface="DejaVu Sans Mono"/>
                <a:ea typeface="DejaVu Sans Mono"/>
                <a:cs typeface="DejaVu Sans Mono"/>
              </a:defRPr>
            </a:lvl4pPr>
            <a:lvl5pPr algn="l">
              <a:defRPr sz="1650" b="0">
                <a:solidFill>
                  <a:srgbClr val="102A43"/>
                </a:solidFill>
                <a:latin typeface="DejaVu Sans Mono"/>
                <a:ea typeface="DejaVu Sans Mono"/>
                <a:cs typeface="DejaVu Sans Mono"/>
              </a:defRPr>
            </a:lvl5pPr>
            <a:lvl6pPr algn="l">
              <a:defRPr sz="1650" b="0">
                <a:solidFill>
                  <a:srgbClr val="102A43"/>
                </a:solidFill>
                <a:latin typeface="DejaVu Sans Mono"/>
                <a:ea typeface="DejaVu Sans Mono"/>
                <a:cs typeface="DejaVu Sans Mono"/>
              </a:defRPr>
            </a:lvl6pPr>
            <a:lvl7pPr algn="l">
              <a:defRPr sz="1650" b="0">
                <a:solidFill>
                  <a:srgbClr val="102A43"/>
                </a:solidFill>
                <a:latin typeface="DejaVu Sans Mono"/>
                <a:ea typeface="DejaVu Sans Mono"/>
                <a:cs typeface="DejaVu Sans Mono"/>
              </a:defRPr>
            </a:lvl7pPr>
            <a:lvl8pPr algn="l">
              <a:defRPr sz="1650" b="0">
                <a:solidFill>
                  <a:srgbClr val="102A43"/>
                </a:solidFill>
                <a:latin typeface="DejaVu Sans Mono"/>
                <a:ea typeface="DejaVu Sans Mono"/>
                <a:cs typeface="DejaVu Sans Mono"/>
              </a:defRPr>
            </a:lvl8pPr>
            <a:lvl9pPr algn="l">
              <a:defRPr sz="1650" b="0">
                <a:solidFill>
                  <a:srgbClr val="102A43"/>
                </a:solidFill>
                <a:latin typeface="DejaVu Sans Mono"/>
                <a:ea typeface="DejaVu Sans Mono"/>
                <a:cs typeface="DejaVu Sans Mono"/>
              </a:defRPr>
            </a:lvl9pPr>
          </a:lstStyle>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&lt;employees&gt;</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&lt;employee id="E1001"&gt;</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&lt;person&gt;</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&lt;firstName&gt;Jordan&lt;/firstName&gt;</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&lt;/person&gt;</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&lt;/employee&gt;</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&lt;/employees&gt;</a:t>
            </a:r>
          </a:p>
        </p:txBody>
      </p:sp>
      <p:sp>
        <p:nvSpPr>
          <p:cNvPr id="7" name="text-47">
            <a:extLst xmlns:a="http://schemas.openxmlformats.org/drawingml/2006/main">
              <a:ext uri="{FF2B5EF4-FFF2-40B4-BE49-F238E27FC236}">
                <a16:creationId xmlns:a16="http://schemas.microsoft.com/office/drawing/2014/main" id="{F9CAA195-BE43-4208-A6B6-689BED4F47C7}"/>
              </a:ext>
            </a:extLst>
          </p:cNvPr>
          <p:cNvSpPr>
            <a:spLocks xmlns:a="http://schemas.openxmlformats.org/drawingml/2006/main" noGrp="1"/>
          </p:cNvSpPr>
          <p:nvPr/>
        </p:nvSpPr>
        <p:spPr>
          <a:xfrm xmlns:a="http://schemas.openxmlformats.org/drawingml/2006/main">
            <a:off x="6381750" y="2533650"/>
            <a:ext cx="5200650"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02A43"/>
                </a:solidFill>
                <a:latin typeface="DejaVu Sans Mono"/>
                <a:ea typeface="DejaVu Sans Mono"/>
                <a:cs typeface="DejaVu Sans Mono"/>
              </a:defRPr>
            </a:defPPr>
            <a:lvl1pPr algn="l">
              <a:defRPr sz="1650" b="0">
                <a:solidFill>
                  <a:srgbClr val="102A43"/>
                </a:solidFill>
                <a:latin typeface="DejaVu Sans Mono"/>
                <a:ea typeface="DejaVu Sans Mono"/>
                <a:cs typeface="DejaVu Sans Mono"/>
              </a:defRPr>
            </a:lvl1pPr>
            <a:lvl2pPr algn="l">
              <a:defRPr sz="1650" b="0">
                <a:solidFill>
                  <a:srgbClr val="102A43"/>
                </a:solidFill>
                <a:latin typeface="DejaVu Sans Mono"/>
                <a:ea typeface="DejaVu Sans Mono"/>
                <a:cs typeface="DejaVu Sans Mono"/>
              </a:defRPr>
            </a:lvl2pPr>
            <a:lvl3pPr algn="l">
              <a:defRPr sz="1650" b="0">
                <a:solidFill>
                  <a:srgbClr val="102A43"/>
                </a:solidFill>
                <a:latin typeface="DejaVu Sans Mono"/>
                <a:ea typeface="DejaVu Sans Mono"/>
                <a:cs typeface="DejaVu Sans Mono"/>
              </a:defRPr>
            </a:lvl3pPr>
            <a:lvl4pPr algn="l">
              <a:defRPr sz="1650" b="0">
                <a:solidFill>
                  <a:srgbClr val="102A43"/>
                </a:solidFill>
                <a:latin typeface="DejaVu Sans Mono"/>
                <a:ea typeface="DejaVu Sans Mono"/>
                <a:cs typeface="DejaVu Sans Mono"/>
              </a:defRPr>
            </a:lvl4pPr>
            <a:lvl5pPr algn="l">
              <a:defRPr sz="1650" b="0">
                <a:solidFill>
                  <a:srgbClr val="102A43"/>
                </a:solidFill>
                <a:latin typeface="DejaVu Sans Mono"/>
                <a:ea typeface="DejaVu Sans Mono"/>
                <a:cs typeface="DejaVu Sans Mono"/>
              </a:defRPr>
            </a:lvl5pPr>
            <a:lvl6pPr algn="l">
              <a:defRPr sz="1650" b="0">
                <a:solidFill>
                  <a:srgbClr val="102A43"/>
                </a:solidFill>
                <a:latin typeface="DejaVu Sans Mono"/>
                <a:ea typeface="DejaVu Sans Mono"/>
                <a:cs typeface="DejaVu Sans Mono"/>
              </a:defRPr>
            </a:lvl6pPr>
            <a:lvl7pPr algn="l">
              <a:defRPr sz="1650" b="0">
                <a:solidFill>
                  <a:srgbClr val="102A43"/>
                </a:solidFill>
                <a:latin typeface="DejaVu Sans Mono"/>
                <a:ea typeface="DejaVu Sans Mono"/>
                <a:cs typeface="DejaVu Sans Mono"/>
              </a:defRPr>
            </a:lvl7pPr>
            <a:lvl8pPr algn="l">
              <a:defRPr sz="1650" b="0">
                <a:solidFill>
                  <a:srgbClr val="102A43"/>
                </a:solidFill>
                <a:latin typeface="DejaVu Sans Mono"/>
                <a:ea typeface="DejaVu Sans Mono"/>
                <a:cs typeface="DejaVu Sans Mono"/>
              </a:defRPr>
            </a:lvl8pPr>
            <a:lvl9pPr algn="l">
              <a:defRPr sz="1650" b="0">
                <a:solidFill>
                  <a:srgbClr val="102A43"/>
                </a:solidFill>
                <a:latin typeface="DejaVu Sans Mono"/>
                <a:ea typeface="DejaVu Sans Mono"/>
                <a:cs typeface="DejaVu Sans Mono"/>
              </a:defRPr>
            </a:lvl9pPr>
          </a:lstStyle>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format: XML</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charset: UTF-8</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xml:</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record-path: /employees/employee</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fields:</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employeeId:</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column: "/@id"</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firstName:</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column: /person/firstName</a:t>
            </a:r>
          </a:p>
        </p:txBody>
      </p:sp>
      <p:sp>
        <p:nvSpPr>
          <p:cNvPr id="8" name="text-48">
            <a:extLst xmlns:a="http://schemas.openxmlformats.org/drawingml/2006/main">
              <a:ext uri="{FF2B5EF4-FFF2-40B4-BE49-F238E27FC236}">
                <a16:creationId xmlns:a16="http://schemas.microsoft.com/office/drawing/2014/main" id="{D4D19037-6E4E-464B-A1A2-89DDC0FA9BF8}"/>
              </a:ext>
            </a:extLst>
          </p:cNvPr>
          <p:cNvSpPr>
            <a:spLocks xmlns:a="http://schemas.openxmlformats.org/drawingml/2006/main" noGrp="1"/>
          </p:cNvSpPr>
          <p:nvPr/>
        </p:nvSpPr>
        <p:spPr>
          <a:xfrm xmlns:a="http://schemas.openxmlformats.org/drawingml/2006/main">
            <a:off x="609600" y="5981700"/>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778"/>
                </a:solidFill>
                <a:latin typeface="DejaVu Sans"/>
                <a:ea typeface="DejaVu Sans"/>
                <a:cs typeface="DejaVu Sans"/>
              </a:defRPr>
            </a:defPPr>
            <a:lvl1pPr algn="l">
              <a:defRPr sz="1650" b="0">
                <a:solidFill>
                  <a:srgbClr val="526778"/>
                </a:solidFill>
                <a:latin typeface="DejaVu Sans"/>
                <a:ea typeface="DejaVu Sans"/>
                <a:cs typeface="DejaVu Sans"/>
              </a:defRPr>
            </a:lvl1pPr>
            <a:lvl2pPr algn="l">
              <a:defRPr sz="1650" b="0">
                <a:solidFill>
                  <a:srgbClr val="526778"/>
                </a:solidFill>
                <a:latin typeface="DejaVu Sans"/>
                <a:ea typeface="DejaVu Sans"/>
                <a:cs typeface="DejaVu Sans"/>
              </a:defRPr>
            </a:lvl2pPr>
            <a:lvl3pPr algn="l">
              <a:defRPr sz="1650" b="0">
                <a:solidFill>
                  <a:srgbClr val="526778"/>
                </a:solidFill>
                <a:latin typeface="DejaVu Sans"/>
                <a:ea typeface="DejaVu Sans"/>
                <a:cs typeface="DejaVu Sans"/>
              </a:defRPr>
            </a:lvl3pPr>
            <a:lvl4pPr algn="l">
              <a:defRPr sz="1650" b="0">
                <a:solidFill>
                  <a:srgbClr val="526778"/>
                </a:solidFill>
                <a:latin typeface="DejaVu Sans"/>
                <a:ea typeface="DejaVu Sans"/>
                <a:cs typeface="DejaVu Sans"/>
              </a:defRPr>
            </a:lvl4pPr>
            <a:lvl5pPr algn="l">
              <a:defRPr sz="1650" b="0">
                <a:solidFill>
                  <a:srgbClr val="526778"/>
                </a:solidFill>
                <a:latin typeface="DejaVu Sans"/>
                <a:ea typeface="DejaVu Sans"/>
                <a:cs typeface="DejaVu Sans"/>
              </a:defRPr>
            </a:lvl5pPr>
            <a:lvl6pPr algn="l">
              <a:defRPr sz="1650" b="0">
                <a:solidFill>
                  <a:srgbClr val="526778"/>
                </a:solidFill>
                <a:latin typeface="DejaVu Sans"/>
                <a:ea typeface="DejaVu Sans"/>
                <a:cs typeface="DejaVu Sans"/>
              </a:defRPr>
            </a:lvl6pPr>
            <a:lvl7pPr algn="l">
              <a:defRPr sz="1650" b="0">
                <a:solidFill>
                  <a:srgbClr val="526778"/>
                </a:solidFill>
                <a:latin typeface="DejaVu Sans"/>
                <a:ea typeface="DejaVu Sans"/>
                <a:cs typeface="DejaVu Sans"/>
              </a:defRPr>
            </a:lvl7pPr>
            <a:lvl8pPr algn="l">
              <a:defRPr sz="1650" b="0">
                <a:solidFill>
                  <a:srgbClr val="526778"/>
                </a:solidFill>
                <a:latin typeface="DejaVu Sans"/>
                <a:ea typeface="DejaVu Sans"/>
                <a:cs typeface="DejaVu Sans"/>
              </a:defRPr>
            </a:lvl8pPr>
            <a:lvl9pPr algn="l">
              <a:defRPr sz="1650" b="0">
                <a:solidFill>
                  <a:srgbClr val="526778"/>
                </a:solidFill>
                <a:latin typeface="DejaVu Sans"/>
                <a:ea typeface="DejaVu Sans"/>
                <a:cs typeface="DejaVu Sans"/>
              </a:defRPr>
            </a:lvl9pPr>
          </a:lstStyle>
          <a:p xmlns:a="http://schemas.openxmlformats.org/drawingml/2006/main">
            <a:pPr algn="l">
              <a:lnSpc>
                <a:spcPct val="115000"/>
              </a:lnSpc>
              <a:buNone/>
              <a:defRPr sz="1650" b="0">
                <a:solidFill>
                  <a:srgbClr val="526778"/>
                </a:solidFill>
                <a:latin typeface="DejaVu Sans"/>
                <a:ea typeface="DejaVu Sans"/>
                <a:cs typeface="DejaVu Sans"/>
              </a:defRPr>
            </a:pPr>
            <a:r>
              <a:rPr sz="1650" b="0">
                <a:solidFill>
                  <a:srgbClr val="526778"/>
                </a:solidFill>
                <a:latin typeface="DejaVu Sans"/>
                <a:ea typeface="DejaVu Sans"/>
                <a:cs typeface="DejaVu Sans"/>
              </a:rPr>
              <a:t>Namespace aliases, attributes, nulls and repeated elements retain explicit rules.</a:t>
            </a:r>
          </a:p>
        </p:txBody>
      </p:sp>
    </p:spTree>
    <p:extLst>
      <p:ext uri="{BB962C8B-B14F-4D97-AF65-F5344CB8AC3E}">
        <p14:creationId xmlns:p14="http://schemas.microsoft.com/office/powerpoint/2010/main" val="1198869056"/>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29E0898-E36E-406B-9F50-A1745D42F5E6}"/>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JSON record boundaries</a:t>
            </a:r>
          </a:p>
        </p:txBody>
      </p:sp>
      <p:sp>
        <p:nvSpPr>
          <p:cNvPr id="2" name="text-49">
            <a:extLst xmlns:a="http://schemas.openxmlformats.org/drawingml/2006/main">
              <a:ext uri="{FF2B5EF4-FFF2-40B4-BE49-F238E27FC236}">
                <a16:creationId xmlns:a16="http://schemas.microsoft.com/office/drawing/2014/main" id="{1809525A-7D03-426D-9107-1D7FFDB1E28B}"/>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profile chooses the mode before parsing begins.</a:t>
            </a:r>
          </a:p>
        </p:txBody>
      </p:sp>
      <p:sp>
        <p:nvSpPr>
          <p:cNvPr id="3" name="slide-number">
            <a:extLst xmlns:a="http://schemas.openxmlformats.org/drawingml/2006/main">
              <a:ext uri="{FF2B5EF4-FFF2-40B4-BE49-F238E27FC236}">
                <a16:creationId xmlns:a16="http://schemas.microsoft.com/office/drawing/2014/main" id="{0F538A83-419C-4EDA-B18C-A4FA45CE610F}"/>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11</a:t>
            </a:r>
          </a:p>
        </p:txBody>
      </p:sp>
      <p:sp>
        <p:nvSpPr>
          <p:cNvPr id="4" name="text-50">
            <a:extLst xmlns:a="http://schemas.openxmlformats.org/drawingml/2006/main">
              <a:ext uri="{FF2B5EF4-FFF2-40B4-BE49-F238E27FC236}">
                <a16:creationId xmlns:a16="http://schemas.microsoft.com/office/drawing/2014/main" id="{05BB188C-6607-4CEC-8424-D5575F4DA6FD}"/>
              </a:ext>
            </a:extLst>
          </p:cNvPr>
          <p:cNvSpPr>
            <a:spLocks xmlns:a="http://schemas.openxmlformats.org/drawingml/2006/main" noGrp="1"/>
          </p:cNvSpPr>
          <p:nvPr/>
        </p:nvSpPr>
        <p:spPr>
          <a:xfrm xmlns:a="http://schemas.openxmlformats.org/drawingml/2006/main">
            <a:off x="609600" y="21336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7F86"/>
                </a:solidFill>
                <a:latin typeface="DejaVu Sans"/>
                <a:ea typeface="DejaVu Sans"/>
                <a:cs typeface="DejaVu Sans"/>
              </a:defRPr>
            </a:defPPr>
            <a:lvl1pPr algn="l">
              <a:defRPr sz="2100" b="1">
                <a:solidFill>
                  <a:srgbClr val="007F86"/>
                </a:solidFill>
                <a:latin typeface="DejaVu Sans"/>
                <a:ea typeface="DejaVu Sans"/>
                <a:cs typeface="DejaVu Sans"/>
              </a:defRPr>
            </a:lvl1pPr>
            <a:lvl2pPr algn="l">
              <a:defRPr sz="2100" b="1">
                <a:solidFill>
                  <a:srgbClr val="007F86"/>
                </a:solidFill>
                <a:latin typeface="DejaVu Sans"/>
                <a:ea typeface="DejaVu Sans"/>
                <a:cs typeface="DejaVu Sans"/>
              </a:defRPr>
            </a:lvl2pPr>
            <a:lvl3pPr algn="l">
              <a:defRPr sz="2100" b="1">
                <a:solidFill>
                  <a:srgbClr val="007F86"/>
                </a:solidFill>
                <a:latin typeface="DejaVu Sans"/>
                <a:ea typeface="DejaVu Sans"/>
                <a:cs typeface="DejaVu Sans"/>
              </a:defRPr>
            </a:lvl3pPr>
            <a:lvl4pPr algn="l">
              <a:defRPr sz="2100" b="1">
                <a:solidFill>
                  <a:srgbClr val="007F86"/>
                </a:solidFill>
                <a:latin typeface="DejaVu Sans"/>
                <a:ea typeface="DejaVu Sans"/>
                <a:cs typeface="DejaVu Sans"/>
              </a:defRPr>
            </a:lvl4pPr>
            <a:lvl5pPr algn="l">
              <a:defRPr sz="2100" b="1">
                <a:solidFill>
                  <a:srgbClr val="007F86"/>
                </a:solidFill>
                <a:latin typeface="DejaVu Sans"/>
                <a:ea typeface="DejaVu Sans"/>
                <a:cs typeface="DejaVu Sans"/>
              </a:defRPr>
            </a:lvl5pPr>
            <a:lvl6pPr algn="l">
              <a:defRPr sz="2100" b="1">
                <a:solidFill>
                  <a:srgbClr val="007F86"/>
                </a:solidFill>
                <a:latin typeface="DejaVu Sans"/>
                <a:ea typeface="DejaVu Sans"/>
                <a:cs typeface="DejaVu Sans"/>
              </a:defRPr>
            </a:lvl6pPr>
            <a:lvl7pPr algn="l">
              <a:defRPr sz="2100" b="1">
                <a:solidFill>
                  <a:srgbClr val="007F86"/>
                </a:solidFill>
                <a:latin typeface="DejaVu Sans"/>
                <a:ea typeface="DejaVu Sans"/>
                <a:cs typeface="DejaVu Sans"/>
              </a:defRPr>
            </a:lvl7pPr>
            <a:lvl8pPr algn="l">
              <a:defRPr sz="2100" b="1">
                <a:solidFill>
                  <a:srgbClr val="007F86"/>
                </a:solidFill>
                <a:latin typeface="DejaVu Sans"/>
                <a:ea typeface="DejaVu Sans"/>
                <a:cs typeface="DejaVu Sans"/>
              </a:defRPr>
            </a:lvl8pPr>
            <a:lvl9pPr algn="l">
              <a:defRPr sz="2100" b="1">
                <a:solidFill>
                  <a:srgbClr val="007F86"/>
                </a:solidFill>
                <a:latin typeface="DejaVu Sans"/>
                <a:ea typeface="DejaVu Sans"/>
                <a:cs typeface="DejaVu Sans"/>
              </a:defRPr>
            </a:lvl9pPr>
          </a:lstStyle>
          <a:p xmlns:a="http://schemas.openxmlformats.org/drawingml/2006/main">
            <a:pPr algn="l">
              <a:lnSpc>
                <a:spcPct val="115000"/>
              </a:lnSpc>
              <a:buNone/>
              <a:defRPr sz="2100" b="1">
                <a:solidFill>
                  <a:srgbClr val="007F86"/>
                </a:solidFill>
                <a:latin typeface="DejaVu Sans"/>
                <a:ea typeface="DejaVu Sans"/>
                <a:cs typeface="DejaVu Sans"/>
              </a:defRPr>
            </a:pPr>
            <a:r>
              <a:rPr sz="2100" b="1">
                <a:solidFill>
                  <a:srgbClr val="007F86"/>
                </a:solidFill>
                <a:latin typeface="DejaVu Sans"/>
                <a:ea typeface="DejaVu Sans"/>
                <a:cs typeface="DejaVu Sans"/>
              </a:rPr>
              <a:t>OBJECT</a:t>
            </a:r>
          </a:p>
        </p:txBody>
      </p:sp>
      <p:sp>
        <p:nvSpPr>
          <p:cNvPr id="5" name="text-51">
            <a:extLst xmlns:a="http://schemas.openxmlformats.org/drawingml/2006/main">
              <a:ext uri="{FF2B5EF4-FFF2-40B4-BE49-F238E27FC236}">
                <a16:creationId xmlns:a16="http://schemas.microsoft.com/office/drawing/2014/main" id="{07AA3703-BC2B-4979-9AA8-9D9401A92517}"/>
              </a:ext>
            </a:extLst>
          </p:cNvPr>
          <p:cNvSpPr>
            <a:spLocks xmlns:a="http://schemas.openxmlformats.org/drawingml/2006/main" noGrp="1"/>
          </p:cNvSpPr>
          <p:nvPr/>
        </p:nvSpPr>
        <p:spPr>
          <a:xfrm xmlns:a="http://schemas.openxmlformats.org/drawingml/2006/main">
            <a:off x="609600" y="2809875"/>
            <a:ext cx="3333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"id": "E1001",</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"active": true</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p:txBody>
      </p:sp>
      <p:sp>
        <p:nvSpPr>
          <p:cNvPr id="6" name="text-52">
            <a:extLst xmlns:a="http://schemas.openxmlformats.org/drawingml/2006/main">
              <a:ext uri="{FF2B5EF4-FFF2-40B4-BE49-F238E27FC236}">
                <a16:creationId xmlns:a16="http://schemas.microsoft.com/office/drawing/2014/main" id="{02E35510-BE0B-4782-9BAC-D39F86A14E94}"/>
              </a:ext>
            </a:extLst>
          </p:cNvPr>
          <p:cNvSpPr>
            <a:spLocks xmlns:a="http://schemas.openxmlformats.org/drawingml/2006/main" noGrp="1"/>
          </p:cNvSpPr>
          <p:nvPr/>
        </p:nvSpPr>
        <p:spPr>
          <a:xfrm xmlns:a="http://schemas.openxmlformats.org/drawingml/2006/main">
            <a:off x="609600" y="4981575"/>
            <a:ext cx="3333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One root object</a:t>
            </a:r>
          </a:p>
        </p:txBody>
      </p:sp>
      <p:sp>
        <p:nvSpPr>
          <p:cNvPr id="7" name="text-53">
            <a:extLst xmlns:a="http://schemas.openxmlformats.org/drawingml/2006/main">
              <a:ext uri="{FF2B5EF4-FFF2-40B4-BE49-F238E27FC236}">
                <a16:creationId xmlns:a16="http://schemas.microsoft.com/office/drawing/2014/main" id="{E4253542-7F24-45A0-924C-343758500F8D}"/>
              </a:ext>
            </a:extLst>
          </p:cNvPr>
          <p:cNvSpPr>
            <a:spLocks xmlns:a="http://schemas.openxmlformats.org/drawingml/2006/main" noGrp="1"/>
          </p:cNvSpPr>
          <p:nvPr/>
        </p:nvSpPr>
        <p:spPr>
          <a:xfrm xmlns:a="http://schemas.openxmlformats.org/drawingml/2006/main">
            <a:off x="4362450" y="21336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7F86"/>
                </a:solidFill>
                <a:latin typeface="DejaVu Sans"/>
                <a:ea typeface="DejaVu Sans"/>
                <a:cs typeface="DejaVu Sans"/>
              </a:defRPr>
            </a:defPPr>
            <a:lvl1pPr algn="l">
              <a:defRPr sz="2100" b="1">
                <a:solidFill>
                  <a:srgbClr val="007F86"/>
                </a:solidFill>
                <a:latin typeface="DejaVu Sans"/>
                <a:ea typeface="DejaVu Sans"/>
                <a:cs typeface="DejaVu Sans"/>
              </a:defRPr>
            </a:lvl1pPr>
            <a:lvl2pPr algn="l">
              <a:defRPr sz="2100" b="1">
                <a:solidFill>
                  <a:srgbClr val="007F86"/>
                </a:solidFill>
                <a:latin typeface="DejaVu Sans"/>
                <a:ea typeface="DejaVu Sans"/>
                <a:cs typeface="DejaVu Sans"/>
              </a:defRPr>
            </a:lvl2pPr>
            <a:lvl3pPr algn="l">
              <a:defRPr sz="2100" b="1">
                <a:solidFill>
                  <a:srgbClr val="007F86"/>
                </a:solidFill>
                <a:latin typeface="DejaVu Sans"/>
                <a:ea typeface="DejaVu Sans"/>
                <a:cs typeface="DejaVu Sans"/>
              </a:defRPr>
            </a:lvl3pPr>
            <a:lvl4pPr algn="l">
              <a:defRPr sz="2100" b="1">
                <a:solidFill>
                  <a:srgbClr val="007F86"/>
                </a:solidFill>
                <a:latin typeface="DejaVu Sans"/>
                <a:ea typeface="DejaVu Sans"/>
                <a:cs typeface="DejaVu Sans"/>
              </a:defRPr>
            </a:lvl4pPr>
            <a:lvl5pPr algn="l">
              <a:defRPr sz="2100" b="1">
                <a:solidFill>
                  <a:srgbClr val="007F86"/>
                </a:solidFill>
                <a:latin typeface="DejaVu Sans"/>
                <a:ea typeface="DejaVu Sans"/>
                <a:cs typeface="DejaVu Sans"/>
              </a:defRPr>
            </a:lvl5pPr>
            <a:lvl6pPr algn="l">
              <a:defRPr sz="2100" b="1">
                <a:solidFill>
                  <a:srgbClr val="007F86"/>
                </a:solidFill>
                <a:latin typeface="DejaVu Sans"/>
                <a:ea typeface="DejaVu Sans"/>
                <a:cs typeface="DejaVu Sans"/>
              </a:defRPr>
            </a:lvl6pPr>
            <a:lvl7pPr algn="l">
              <a:defRPr sz="2100" b="1">
                <a:solidFill>
                  <a:srgbClr val="007F86"/>
                </a:solidFill>
                <a:latin typeface="DejaVu Sans"/>
                <a:ea typeface="DejaVu Sans"/>
                <a:cs typeface="DejaVu Sans"/>
              </a:defRPr>
            </a:lvl7pPr>
            <a:lvl8pPr algn="l">
              <a:defRPr sz="2100" b="1">
                <a:solidFill>
                  <a:srgbClr val="007F86"/>
                </a:solidFill>
                <a:latin typeface="DejaVu Sans"/>
                <a:ea typeface="DejaVu Sans"/>
                <a:cs typeface="DejaVu Sans"/>
              </a:defRPr>
            </a:lvl8pPr>
            <a:lvl9pPr algn="l">
              <a:defRPr sz="2100" b="1">
                <a:solidFill>
                  <a:srgbClr val="007F86"/>
                </a:solidFill>
                <a:latin typeface="DejaVu Sans"/>
                <a:ea typeface="DejaVu Sans"/>
                <a:cs typeface="DejaVu Sans"/>
              </a:defRPr>
            </a:lvl9pPr>
          </a:lstStyle>
          <a:p xmlns:a="http://schemas.openxmlformats.org/drawingml/2006/main">
            <a:pPr algn="l">
              <a:lnSpc>
                <a:spcPct val="115000"/>
              </a:lnSpc>
              <a:buNone/>
              <a:defRPr sz="2100" b="1">
                <a:solidFill>
                  <a:srgbClr val="007F86"/>
                </a:solidFill>
                <a:latin typeface="DejaVu Sans"/>
                <a:ea typeface="DejaVu Sans"/>
                <a:cs typeface="DejaVu Sans"/>
              </a:defRPr>
            </a:pPr>
            <a:r>
              <a:rPr sz="2100" b="1">
                <a:solidFill>
                  <a:srgbClr val="007F86"/>
                </a:solidFill>
                <a:latin typeface="DejaVu Sans"/>
                <a:ea typeface="DejaVu Sans"/>
                <a:cs typeface="DejaVu Sans"/>
              </a:rPr>
              <a:t>ARRAY</a:t>
            </a:r>
          </a:p>
        </p:txBody>
      </p:sp>
      <p:sp>
        <p:nvSpPr>
          <p:cNvPr id="8" name="text-54">
            <a:extLst xmlns:a="http://schemas.openxmlformats.org/drawingml/2006/main">
              <a:ext uri="{FF2B5EF4-FFF2-40B4-BE49-F238E27FC236}">
                <a16:creationId xmlns:a16="http://schemas.microsoft.com/office/drawing/2014/main" id="{8BAD5EF0-5B46-4D9A-AD0D-9E73A0BDC9FD}"/>
              </a:ext>
            </a:extLst>
          </p:cNvPr>
          <p:cNvSpPr>
            <a:spLocks xmlns:a="http://schemas.openxmlformats.org/drawingml/2006/main" noGrp="1"/>
          </p:cNvSpPr>
          <p:nvPr/>
        </p:nvSpPr>
        <p:spPr>
          <a:xfrm xmlns:a="http://schemas.openxmlformats.org/drawingml/2006/main">
            <a:off x="4362450" y="2809875"/>
            <a:ext cx="3333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"id": "E1001"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 "id": "E1002"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a:t>
            </a:r>
          </a:p>
        </p:txBody>
      </p:sp>
      <p:sp>
        <p:nvSpPr>
          <p:cNvPr id="9" name="text-55">
            <a:extLst xmlns:a="http://schemas.openxmlformats.org/drawingml/2006/main">
              <a:ext uri="{FF2B5EF4-FFF2-40B4-BE49-F238E27FC236}">
                <a16:creationId xmlns:a16="http://schemas.microsoft.com/office/drawing/2014/main" id="{4406D39B-03CE-4E19-B7BF-49826661FBB5}"/>
              </a:ext>
            </a:extLst>
          </p:cNvPr>
          <p:cNvSpPr>
            <a:spLocks xmlns:a="http://schemas.openxmlformats.org/drawingml/2006/main" noGrp="1"/>
          </p:cNvSpPr>
          <p:nvPr/>
        </p:nvSpPr>
        <p:spPr>
          <a:xfrm xmlns:a="http://schemas.openxmlformats.org/drawingml/2006/main">
            <a:off x="4362450" y="4981575"/>
            <a:ext cx="3333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One object per array item</a:t>
            </a:r>
          </a:p>
        </p:txBody>
      </p:sp>
      <p:sp>
        <p:nvSpPr>
          <p:cNvPr id="10" name="text-56">
            <a:extLst xmlns:a="http://schemas.openxmlformats.org/drawingml/2006/main">
              <a:ext uri="{FF2B5EF4-FFF2-40B4-BE49-F238E27FC236}">
                <a16:creationId xmlns:a16="http://schemas.microsoft.com/office/drawing/2014/main" id="{223ADE05-AB14-40FA-A915-06C1797218E9}"/>
              </a:ext>
            </a:extLst>
          </p:cNvPr>
          <p:cNvSpPr>
            <a:spLocks xmlns:a="http://schemas.openxmlformats.org/drawingml/2006/main" noGrp="1"/>
          </p:cNvSpPr>
          <p:nvPr/>
        </p:nvSpPr>
        <p:spPr>
          <a:xfrm xmlns:a="http://schemas.openxmlformats.org/drawingml/2006/main">
            <a:off x="8115300" y="21336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7F86"/>
                </a:solidFill>
                <a:latin typeface="DejaVu Sans"/>
                <a:ea typeface="DejaVu Sans"/>
                <a:cs typeface="DejaVu Sans"/>
              </a:defRPr>
            </a:defPPr>
            <a:lvl1pPr algn="l">
              <a:defRPr sz="2100" b="1">
                <a:solidFill>
                  <a:srgbClr val="007F86"/>
                </a:solidFill>
                <a:latin typeface="DejaVu Sans"/>
                <a:ea typeface="DejaVu Sans"/>
                <a:cs typeface="DejaVu Sans"/>
              </a:defRPr>
            </a:lvl1pPr>
            <a:lvl2pPr algn="l">
              <a:defRPr sz="2100" b="1">
                <a:solidFill>
                  <a:srgbClr val="007F86"/>
                </a:solidFill>
                <a:latin typeface="DejaVu Sans"/>
                <a:ea typeface="DejaVu Sans"/>
                <a:cs typeface="DejaVu Sans"/>
              </a:defRPr>
            </a:lvl2pPr>
            <a:lvl3pPr algn="l">
              <a:defRPr sz="2100" b="1">
                <a:solidFill>
                  <a:srgbClr val="007F86"/>
                </a:solidFill>
                <a:latin typeface="DejaVu Sans"/>
                <a:ea typeface="DejaVu Sans"/>
                <a:cs typeface="DejaVu Sans"/>
              </a:defRPr>
            </a:lvl3pPr>
            <a:lvl4pPr algn="l">
              <a:defRPr sz="2100" b="1">
                <a:solidFill>
                  <a:srgbClr val="007F86"/>
                </a:solidFill>
                <a:latin typeface="DejaVu Sans"/>
                <a:ea typeface="DejaVu Sans"/>
                <a:cs typeface="DejaVu Sans"/>
              </a:defRPr>
            </a:lvl4pPr>
            <a:lvl5pPr algn="l">
              <a:defRPr sz="2100" b="1">
                <a:solidFill>
                  <a:srgbClr val="007F86"/>
                </a:solidFill>
                <a:latin typeface="DejaVu Sans"/>
                <a:ea typeface="DejaVu Sans"/>
                <a:cs typeface="DejaVu Sans"/>
              </a:defRPr>
            </a:lvl5pPr>
            <a:lvl6pPr algn="l">
              <a:defRPr sz="2100" b="1">
                <a:solidFill>
                  <a:srgbClr val="007F86"/>
                </a:solidFill>
                <a:latin typeface="DejaVu Sans"/>
                <a:ea typeface="DejaVu Sans"/>
                <a:cs typeface="DejaVu Sans"/>
              </a:defRPr>
            </a:lvl6pPr>
            <a:lvl7pPr algn="l">
              <a:defRPr sz="2100" b="1">
                <a:solidFill>
                  <a:srgbClr val="007F86"/>
                </a:solidFill>
                <a:latin typeface="DejaVu Sans"/>
                <a:ea typeface="DejaVu Sans"/>
                <a:cs typeface="DejaVu Sans"/>
              </a:defRPr>
            </a:lvl7pPr>
            <a:lvl8pPr algn="l">
              <a:defRPr sz="2100" b="1">
                <a:solidFill>
                  <a:srgbClr val="007F86"/>
                </a:solidFill>
                <a:latin typeface="DejaVu Sans"/>
                <a:ea typeface="DejaVu Sans"/>
                <a:cs typeface="DejaVu Sans"/>
              </a:defRPr>
            </a:lvl8pPr>
            <a:lvl9pPr algn="l">
              <a:defRPr sz="2100" b="1">
                <a:solidFill>
                  <a:srgbClr val="007F86"/>
                </a:solidFill>
                <a:latin typeface="DejaVu Sans"/>
                <a:ea typeface="DejaVu Sans"/>
                <a:cs typeface="DejaVu Sans"/>
              </a:defRPr>
            </a:lvl9pPr>
          </a:lstStyle>
          <a:p xmlns:a="http://schemas.openxmlformats.org/drawingml/2006/main">
            <a:pPr algn="l">
              <a:lnSpc>
                <a:spcPct val="115000"/>
              </a:lnSpc>
              <a:buNone/>
              <a:defRPr sz="2100" b="1">
                <a:solidFill>
                  <a:srgbClr val="007F86"/>
                </a:solidFill>
                <a:latin typeface="DejaVu Sans"/>
                <a:ea typeface="DejaVu Sans"/>
                <a:cs typeface="DejaVu Sans"/>
              </a:defRPr>
            </a:pPr>
            <a:r>
              <a:rPr sz="2100" b="1">
                <a:solidFill>
                  <a:srgbClr val="007F86"/>
                </a:solidFill>
                <a:latin typeface="DejaVu Sans"/>
                <a:ea typeface="DejaVu Sans"/>
                <a:cs typeface="DejaVu Sans"/>
              </a:rPr>
              <a:t>LINES</a:t>
            </a:r>
          </a:p>
        </p:txBody>
      </p:sp>
      <p:sp>
        <p:nvSpPr>
          <p:cNvPr id="11" name="text-57">
            <a:extLst xmlns:a="http://schemas.openxmlformats.org/drawingml/2006/main">
              <a:ext uri="{FF2B5EF4-FFF2-40B4-BE49-F238E27FC236}">
                <a16:creationId xmlns:a16="http://schemas.microsoft.com/office/drawing/2014/main" id="{518ED247-82EE-4EA5-881D-D02E1C7F502F}"/>
              </a:ext>
            </a:extLst>
          </p:cNvPr>
          <p:cNvSpPr>
            <a:spLocks xmlns:a="http://schemas.openxmlformats.org/drawingml/2006/main" noGrp="1"/>
          </p:cNvSpPr>
          <p:nvPr/>
        </p:nvSpPr>
        <p:spPr>
          <a:xfrm xmlns:a="http://schemas.openxmlformats.org/drawingml/2006/main">
            <a:off x="8115300" y="2809875"/>
            <a:ext cx="3333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"id": "E1001"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"id": "E1002" }</a:t>
            </a:r>
          </a:p>
        </p:txBody>
      </p:sp>
      <p:sp>
        <p:nvSpPr>
          <p:cNvPr id="12" name="text-58">
            <a:extLst xmlns:a="http://schemas.openxmlformats.org/drawingml/2006/main">
              <a:ext uri="{FF2B5EF4-FFF2-40B4-BE49-F238E27FC236}">
                <a16:creationId xmlns:a16="http://schemas.microsoft.com/office/drawing/2014/main" id="{45831B32-ACB1-45EB-AA17-7C286FA48533}"/>
              </a:ext>
            </a:extLst>
          </p:cNvPr>
          <p:cNvSpPr>
            <a:spLocks xmlns:a="http://schemas.openxmlformats.org/drawingml/2006/main" noGrp="1"/>
          </p:cNvSpPr>
          <p:nvPr/>
        </p:nvSpPr>
        <p:spPr>
          <a:xfrm xmlns:a="http://schemas.openxmlformats.org/drawingml/2006/main">
            <a:off x="8115300" y="4981575"/>
            <a:ext cx="3333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One object per nonblank line</a:t>
            </a:r>
          </a:p>
        </p:txBody>
      </p:sp>
      <p:sp>
        <p:nvSpPr>
          <p:cNvPr id="13" name="text-59">
            <a:extLst xmlns:a="http://schemas.openxmlformats.org/drawingml/2006/main">
              <a:ext uri="{FF2B5EF4-FFF2-40B4-BE49-F238E27FC236}">
                <a16:creationId xmlns:a16="http://schemas.microsoft.com/office/drawing/2014/main" id="{99FD0B7F-1955-4799-B47A-5D106758C54E}"/>
              </a:ext>
            </a:extLst>
          </p:cNvPr>
          <p:cNvSpPr>
            <a:spLocks xmlns:a="http://schemas.openxmlformats.org/drawingml/2006/main" noGrp="1"/>
          </p:cNvSpPr>
          <p:nvPr/>
        </p:nvSpPr>
        <p:spPr>
          <a:xfrm xmlns:a="http://schemas.openxmlformats.org/drawingml/2006/main">
            <a:off x="609600" y="5953125"/>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Nested values and native JSON types survive parsing.</a:t>
            </a:r>
          </a:p>
        </p:txBody>
      </p:sp>
    </p:spTree>
    <p:extLst>
      <p:ext uri="{BB962C8B-B14F-4D97-AF65-F5344CB8AC3E}">
        <p14:creationId xmlns:p14="http://schemas.microsoft.com/office/powerpoint/2010/main" val="392153439"/>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23924BE-72C5-452F-A6B4-C376719BF4A1}"/>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Physical fields and target paths</a:t>
            </a:r>
          </a:p>
        </p:txBody>
      </p:sp>
      <p:sp>
        <p:nvSpPr>
          <p:cNvPr id="2" name="text-60">
            <a:extLst xmlns:a="http://schemas.openxmlformats.org/drawingml/2006/main">
              <a:ext uri="{FF2B5EF4-FFF2-40B4-BE49-F238E27FC236}">
                <a16:creationId xmlns:a16="http://schemas.microsoft.com/office/drawing/2014/main" id="{4D7D62F4-CB7F-49ED-BA6A-26301E3FC301}"/>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Normalization separates source layout from output structure.</a:t>
            </a:r>
          </a:p>
        </p:txBody>
      </p:sp>
      <p:sp>
        <p:nvSpPr>
          <p:cNvPr id="3" name="slide-number">
            <a:extLst xmlns:a="http://schemas.openxmlformats.org/drawingml/2006/main">
              <a:ext uri="{FF2B5EF4-FFF2-40B4-BE49-F238E27FC236}">
                <a16:creationId xmlns:a16="http://schemas.microsoft.com/office/drawing/2014/main" id="{22B44B13-01EF-4426-A260-F5BB6D70EFB3}"/>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12</a:t>
            </a:r>
          </a:p>
        </p:txBody>
      </p:sp>
      <p:graphicFrame>
        <p:nvGraphicFramePr>
          <p:cNvPr id="4" name="">
            <a:extLst xmlns:a="http://schemas.openxmlformats.org/drawingml/2006/main">
              <a:ext uri="{FF2B5EF4-FFF2-40B4-BE49-F238E27FC236}">
                <a16:creationId xmlns:a16="http://schemas.microsoft.com/office/drawing/2014/main" id="{8E7DD9D8-02B0-48EA-9E3E-04E31FA9F783}"/>
              </a:ext>
            </a:extLst>
          </p:cNvPr>
          <p:cNvGraphicFramePr/>
          <p:nvPr/>
        </p:nvGraphicFramePr>
        <p:xfrm>
          <a:off xmlns:a="http://schemas.openxmlformats.org/drawingml/2006/main" x="609600" y="2000250"/>
          <a:ext xmlns:a="http://schemas.openxmlformats.org/drawingml/2006/main" cx="10972800" cy="4000500"/>
        </p:xfrm>
        <a:graphic xmlns:a="http://schemas.openxmlformats.org/drawingml/2006/main">
          <a:graphicData uri="http://schemas.openxmlformats.org/drawingml/2006/table">
            <a:tbl>
              <a:tblPr/>
              <a:tblGrid>
                <a:gridCol w="3810000"/>
                <a:gridCol w="2571750"/>
                <a:gridCol w="4591050"/>
              </a:tblGrid>
              <a:tr h="800100">
                <a:tc>
                  <a:txBody>
                    <a:bodyPr wrap="square" lIns="76200" tIns="76200" rIns="76200" bIns="76200">
                      <a:noAutofit/>
                    </a:bodyPr>
                    <a:lstStyle/>
                    <a:p>
                      <a:r>
                        <a:rPr sz="1800" b="1">
                          <a:solidFill>
                            <a:srgbClr val="FFFFFF"/>
                          </a:solidFill>
                          <a:latin typeface="DejaVu Sans"/>
                          <a:ea typeface="DejaVu Sans"/>
                          <a:cs typeface="DejaVu Sans"/>
                        </a:rPr>
                        <a:t>Input selector</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Logical field</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Output path</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employee_id or emp_id</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employeeId</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employeeId</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/@id in XML</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employeeId</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employeeId</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/person/contact/email</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email</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person.contact.email</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800100">
                <a:tc>
                  <a:txBody>
                    <a:bodyPr wrap="square" lIns="76200" tIns="76200" rIns="76200" bIns="76200">
                      <a:noAutofit/>
                    </a:bodyPr>
                    <a:lstStyle/>
                    <a:p>
                      <a:r>
                        <a:rPr sz="1800" b="0">
                          <a:solidFill>
                            <a:srgbClr val="102A43"/>
                          </a:solidFill>
                          <a:latin typeface="DejaVu Sans"/>
                          <a:ea typeface="DejaVu Sans"/>
                          <a:cs typeface="DejaVu Sans"/>
                        </a:rPr>
                        <a:t>effective_date</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effectiveDate</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coverage.effectiveDate</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bl>
          </a:graphicData>
        </a:graphic>
      </p:graphicFrame>
    </p:spTree>
    <p:extLst>
      <p:ext uri="{BB962C8B-B14F-4D97-AF65-F5344CB8AC3E}">
        <p14:creationId xmlns:p14="http://schemas.microsoft.com/office/powerpoint/2010/main" val="956138193"/>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8F6A982-42D1-4CC2-AF26-4A62381BB409}"/>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Mapping rules and conversions</a:t>
            </a:r>
          </a:p>
        </p:txBody>
      </p:sp>
      <p:sp>
        <p:nvSpPr>
          <p:cNvPr id="2" name="text-61">
            <a:extLst xmlns:a="http://schemas.openxmlformats.org/drawingml/2006/main">
              <a:ext uri="{FF2B5EF4-FFF2-40B4-BE49-F238E27FC236}">
                <a16:creationId xmlns:a16="http://schemas.microsoft.com/office/drawing/2014/main" id="{AE38C311-5C34-49A0-961C-FAC097DAF94B}"/>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Mapping definitions build the service request.</a:t>
            </a:r>
          </a:p>
        </p:txBody>
      </p:sp>
      <p:sp>
        <p:nvSpPr>
          <p:cNvPr id="3" name="slide-number">
            <a:extLst xmlns:a="http://schemas.openxmlformats.org/drawingml/2006/main">
              <a:ext uri="{FF2B5EF4-FFF2-40B4-BE49-F238E27FC236}">
                <a16:creationId xmlns:a16="http://schemas.microsoft.com/office/drawing/2014/main" id="{9D171492-34CD-47F6-8687-78D9AD41015B}"/>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13</a:t>
            </a:r>
          </a:p>
        </p:txBody>
      </p:sp>
      <p:sp>
        <p:nvSpPr>
          <p:cNvPr id="4" name="text-62">
            <a:extLst xmlns:a="http://schemas.openxmlformats.org/drawingml/2006/main">
              <a:ext uri="{FF2B5EF4-FFF2-40B4-BE49-F238E27FC236}">
                <a16:creationId xmlns:a16="http://schemas.microsoft.com/office/drawing/2014/main" id="{6C9EF83F-3E2C-4A44-8744-E14E375D2AAE}"/>
              </a:ext>
            </a:extLst>
          </p:cNvPr>
          <p:cNvSpPr>
            <a:spLocks xmlns:a="http://schemas.openxmlformats.org/drawingml/2006/main" noGrp="1"/>
          </p:cNvSpPr>
          <p:nvPr/>
        </p:nvSpPr>
        <p:spPr>
          <a:xfrm xmlns:a="http://schemas.openxmlformats.org/drawingml/2006/main">
            <a:off x="609600" y="2028825"/>
            <a:ext cx="68961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02A43"/>
                </a:solidFill>
                <a:latin typeface="DejaVu Sans Mono"/>
                <a:ea typeface="DejaVu Sans Mono"/>
                <a:cs typeface="DejaVu Sans Mono"/>
              </a:defRPr>
            </a:defPPr>
            <a:lvl1pPr algn="l">
              <a:defRPr sz="1800" b="0">
                <a:solidFill>
                  <a:srgbClr val="102A43"/>
                </a:solidFill>
                <a:latin typeface="DejaVu Sans Mono"/>
                <a:ea typeface="DejaVu Sans Mono"/>
                <a:cs typeface="DejaVu Sans Mono"/>
              </a:defRPr>
            </a:lvl1pPr>
            <a:lvl2pPr algn="l">
              <a:defRPr sz="1800" b="0">
                <a:solidFill>
                  <a:srgbClr val="102A43"/>
                </a:solidFill>
                <a:latin typeface="DejaVu Sans Mono"/>
                <a:ea typeface="DejaVu Sans Mono"/>
                <a:cs typeface="DejaVu Sans Mono"/>
              </a:defRPr>
            </a:lvl2pPr>
            <a:lvl3pPr algn="l">
              <a:defRPr sz="1800" b="0">
                <a:solidFill>
                  <a:srgbClr val="102A43"/>
                </a:solidFill>
                <a:latin typeface="DejaVu Sans Mono"/>
                <a:ea typeface="DejaVu Sans Mono"/>
                <a:cs typeface="DejaVu Sans Mono"/>
              </a:defRPr>
            </a:lvl3pPr>
            <a:lvl4pPr algn="l">
              <a:defRPr sz="1800" b="0">
                <a:solidFill>
                  <a:srgbClr val="102A43"/>
                </a:solidFill>
                <a:latin typeface="DejaVu Sans Mono"/>
                <a:ea typeface="DejaVu Sans Mono"/>
                <a:cs typeface="DejaVu Sans Mono"/>
              </a:defRPr>
            </a:lvl4pPr>
            <a:lvl5pPr algn="l">
              <a:defRPr sz="1800" b="0">
                <a:solidFill>
                  <a:srgbClr val="102A43"/>
                </a:solidFill>
                <a:latin typeface="DejaVu Sans Mono"/>
                <a:ea typeface="DejaVu Sans Mono"/>
                <a:cs typeface="DejaVu Sans Mono"/>
              </a:defRPr>
            </a:lvl5pPr>
            <a:lvl6pPr algn="l">
              <a:defRPr sz="1800" b="0">
                <a:solidFill>
                  <a:srgbClr val="102A43"/>
                </a:solidFill>
                <a:latin typeface="DejaVu Sans Mono"/>
                <a:ea typeface="DejaVu Sans Mono"/>
                <a:cs typeface="DejaVu Sans Mono"/>
              </a:defRPr>
            </a:lvl6pPr>
            <a:lvl7pPr algn="l">
              <a:defRPr sz="1800" b="0">
                <a:solidFill>
                  <a:srgbClr val="102A43"/>
                </a:solidFill>
                <a:latin typeface="DejaVu Sans Mono"/>
                <a:ea typeface="DejaVu Sans Mono"/>
                <a:cs typeface="DejaVu Sans Mono"/>
              </a:defRPr>
            </a:lvl7pPr>
            <a:lvl8pPr algn="l">
              <a:defRPr sz="1800" b="0">
                <a:solidFill>
                  <a:srgbClr val="102A43"/>
                </a:solidFill>
                <a:latin typeface="DejaVu Sans Mono"/>
                <a:ea typeface="DejaVu Sans Mono"/>
                <a:cs typeface="DejaVu Sans Mono"/>
              </a:defRPr>
            </a:lvl8pPr>
            <a:lvl9pPr algn="l">
              <a:defRPr sz="1800" b="0">
                <a:solidFill>
                  <a:srgbClr val="102A43"/>
                </a:solidFill>
                <a:latin typeface="DejaVu Sans Mono"/>
                <a:ea typeface="DejaVu Sans Mono"/>
                <a:cs typeface="DejaVu Sans Mono"/>
              </a:defRPr>
            </a:lvl9pPr>
          </a:lstStyle>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mappings:</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 source: email</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target: person.contact.email</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blank-policy: OMIT</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transforms: [trim]</a:t>
            </a:r>
          </a:p>
          <a:p xmlns:a="http://schemas.openxmlformats.org/drawingml/2006/main">
            <a:r>
              <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 source: effectiveDate</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target: coverage.effectiveDate</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required: true</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transforms: [trim, iso-date]</a:t>
            </a:r>
          </a:p>
        </p:txBody>
      </p:sp>
      <p:sp>
        <p:nvSpPr>
          <p:cNvPr id="5" name="text-63">
            <a:extLst xmlns:a="http://schemas.openxmlformats.org/drawingml/2006/main">
              <a:ext uri="{FF2B5EF4-FFF2-40B4-BE49-F238E27FC236}">
                <a16:creationId xmlns:a16="http://schemas.microsoft.com/office/drawing/2014/main" id="{8477DC80-C830-4D9A-A2D2-B64503B25333}"/>
              </a:ext>
            </a:extLst>
          </p:cNvPr>
          <p:cNvSpPr>
            <a:spLocks xmlns:a="http://schemas.openxmlformats.org/drawingml/2006/main" noGrp="1"/>
          </p:cNvSpPr>
          <p:nvPr/>
        </p:nvSpPr>
        <p:spPr>
          <a:xfrm xmlns:a="http://schemas.openxmlformats.org/drawingml/2006/main">
            <a:off x="8039100" y="20574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Defaults apply to missing fields</a:t>
            </a:r>
          </a:p>
        </p:txBody>
      </p:sp>
      <p:sp>
        <p:nvSpPr>
          <p:cNvPr id="6" name="text-64">
            <a:extLst xmlns:a="http://schemas.openxmlformats.org/drawingml/2006/main">
              <a:ext uri="{FF2B5EF4-FFF2-40B4-BE49-F238E27FC236}">
                <a16:creationId xmlns:a16="http://schemas.microsoft.com/office/drawing/2014/main" id="{708CEDAB-0277-4A01-A806-11488014B955}"/>
              </a:ext>
            </a:extLst>
          </p:cNvPr>
          <p:cNvSpPr>
            <a:spLocks xmlns:a="http://schemas.openxmlformats.org/drawingml/2006/main" noGrp="1"/>
          </p:cNvSpPr>
          <p:nvPr/>
        </p:nvSpPr>
        <p:spPr>
          <a:xfrm xmlns:a="http://schemas.openxmlformats.org/drawingml/2006/main">
            <a:off x="8039100" y="318135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Transforms run in listed order</a:t>
            </a:r>
          </a:p>
        </p:txBody>
      </p:sp>
      <p:sp>
        <p:nvSpPr>
          <p:cNvPr id="7" name="text-65">
            <a:extLst xmlns:a="http://schemas.openxmlformats.org/drawingml/2006/main">
              <a:ext uri="{FF2B5EF4-FFF2-40B4-BE49-F238E27FC236}">
                <a16:creationId xmlns:a16="http://schemas.microsoft.com/office/drawing/2014/main" id="{558C6B3C-548E-48EA-89C4-B712AFA175C2}"/>
              </a:ext>
            </a:extLst>
          </p:cNvPr>
          <p:cNvSpPr>
            <a:spLocks xmlns:a="http://schemas.openxmlformats.org/drawingml/2006/main" noGrp="1"/>
          </p:cNvSpPr>
          <p:nvPr/>
        </p:nvSpPr>
        <p:spPr>
          <a:xfrm xmlns:a="http://schemas.openxmlformats.org/drawingml/2006/main">
            <a:off x="8039100" y="4305300"/>
            <a:ext cx="3524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The output contract checks the result</a:t>
            </a:r>
          </a:p>
        </p:txBody>
      </p:sp>
    </p:spTree>
    <p:extLst>
      <p:ext uri="{BB962C8B-B14F-4D97-AF65-F5344CB8AC3E}">
        <p14:creationId xmlns:p14="http://schemas.microsoft.com/office/powerpoint/2010/main" val="1076053470"/>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2D49A4A-8EAC-41DD-A110-8DFA102F2B73}"/>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Missing, null and blank values</a:t>
            </a:r>
          </a:p>
        </p:txBody>
      </p:sp>
      <p:sp>
        <p:nvSpPr>
          <p:cNvPr id="2" name="text-66">
            <a:extLst xmlns:a="http://schemas.openxmlformats.org/drawingml/2006/main">
              <a:ext uri="{FF2B5EF4-FFF2-40B4-BE49-F238E27FC236}">
                <a16:creationId xmlns:a16="http://schemas.microsoft.com/office/drawing/2014/main" id="{5AECB3B9-8F95-4D17-A55E-02779BA3F15F}"/>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service contract determines the effect of omission and clearing.</a:t>
            </a:r>
          </a:p>
        </p:txBody>
      </p:sp>
      <p:sp>
        <p:nvSpPr>
          <p:cNvPr id="3" name="slide-number">
            <a:extLst xmlns:a="http://schemas.openxmlformats.org/drawingml/2006/main">
              <a:ext uri="{FF2B5EF4-FFF2-40B4-BE49-F238E27FC236}">
                <a16:creationId xmlns:a16="http://schemas.microsoft.com/office/drawing/2014/main" id="{9D2BB3D5-1D09-4781-9B16-F54A37798728}"/>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14</a:t>
            </a:r>
          </a:p>
        </p:txBody>
      </p:sp>
      <p:graphicFrame>
        <p:nvGraphicFramePr>
          <p:cNvPr id="4" name="">
            <a:extLst xmlns:a="http://schemas.openxmlformats.org/drawingml/2006/main">
              <a:ext uri="{FF2B5EF4-FFF2-40B4-BE49-F238E27FC236}">
                <a16:creationId xmlns:a16="http://schemas.microsoft.com/office/drawing/2014/main" id="{19C26AF6-50D4-45E3-9F16-461C706F58FF}"/>
              </a:ext>
            </a:extLst>
          </p:cNvPr>
          <p:cNvGraphicFramePr/>
          <p:nvPr/>
        </p:nvGraphicFramePr>
        <p:xfrm>
          <a:off xmlns:a="http://schemas.openxmlformats.org/drawingml/2006/main" x="609600" y="2000250"/>
          <a:ext xmlns:a="http://schemas.openxmlformats.org/drawingml/2006/main" cx="10972800" cy="4057650"/>
        </p:xfrm>
        <a:graphic xmlns:a="http://schemas.openxmlformats.org/drawingml/2006/main">
          <a:graphicData uri="http://schemas.openxmlformats.org/drawingml/2006/table">
            <a:tbl>
              <a:tblPr/>
              <a:tblGrid>
                <a:gridCol w="3429000"/>
                <a:gridCol w="4191000"/>
                <a:gridCol w="3352800"/>
              </a:tblGrid>
              <a:tr h="676275">
                <a:tc>
                  <a:txBody>
                    <a:bodyPr wrap="square" lIns="76200" tIns="76200" rIns="76200" bIns="76200">
                      <a:noAutofit/>
                    </a:bodyPr>
                    <a:lstStyle/>
                    <a:p>
                      <a:r>
                        <a:rPr sz="1800" b="1">
                          <a:solidFill>
                            <a:srgbClr val="FFFFFF"/>
                          </a:solidFill>
                          <a:latin typeface="DejaVu Sans"/>
                          <a:ea typeface="DejaVu Sans"/>
                          <a:cs typeface="DejaVu Sans"/>
                        </a:rPr>
                        <a:t>Source condition</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Mapping behavior</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Example output</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676275">
                <a:tc>
                  <a:txBody>
                    <a:bodyPr wrap="square" lIns="76200" tIns="76200" rIns="76200" bIns="76200">
                      <a:noAutofit/>
                    </a:bodyPr>
                    <a:lstStyle/>
                    <a:p>
                      <a:r>
                        <a:rPr sz="1800" b="0">
                          <a:solidFill>
                            <a:srgbClr val="102A43"/>
                          </a:solidFill>
                          <a:latin typeface="DejaVu Sans"/>
                          <a:ea typeface="DejaVu Sans"/>
                          <a:cs typeface="DejaVu Sans"/>
                        </a:rPr>
                        <a:t>Missing optional field</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Omit, or use configured default</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No email property</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76275">
                <a:tc>
                  <a:txBody>
                    <a:bodyPr wrap="square" lIns="76200" tIns="76200" rIns="76200" bIns="76200">
                      <a:noAutofit/>
                    </a:bodyPr>
                    <a:lstStyle/>
                    <a:p>
                      <a:r>
                        <a:rPr sz="1800" b="0">
                          <a:solidFill>
                            <a:srgbClr val="102A43"/>
                          </a:solidFill>
                          <a:latin typeface="DejaVu Sans"/>
                          <a:ea typeface="DejaVu Sans"/>
                          <a:cs typeface="DejaVu Sans"/>
                        </a:rPr>
                        <a:t>Explicit optional null</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Preserve null</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"email": null</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76275">
                <a:tc>
                  <a:txBody>
                    <a:bodyPr wrap="square" lIns="76200" tIns="76200" rIns="76200" bIns="76200">
                      <a:noAutofit/>
                    </a:bodyPr>
                    <a:lstStyle/>
                    <a:p>
                      <a:r>
                        <a:rPr sz="1800" b="0">
                          <a:solidFill>
                            <a:srgbClr val="102A43"/>
                          </a:solidFill>
                          <a:latin typeface="DejaVu Sans"/>
                          <a:ea typeface="DejaVu Sans"/>
                          <a:cs typeface="DejaVu Sans"/>
                        </a:rPr>
                        <a:t>Blank with OMIT</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Omit the property</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No email property</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76275">
                <a:tc>
                  <a:txBody>
                    <a:bodyPr wrap="square" lIns="76200" tIns="76200" rIns="76200" bIns="76200">
                      <a:noAutofit/>
                    </a:bodyPr>
                    <a:lstStyle/>
                    <a:p>
                      <a:r>
                        <a:rPr sz="1800" b="0">
                          <a:solidFill>
                            <a:srgbClr val="102A43"/>
                          </a:solidFill>
                          <a:latin typeface="DejaVu Sans"/>
                          <a:ea typeface="DejaVu Sans"/>
                          <a:cs typeface="DejaVu Sans"/>
                        </a:rPr>
                        <a:t>Blank with NULL / EMPTY</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Write null or empty string</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null or ""</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76275">
                <a:tc>
                  <a:txBody>
                    <a:bodyPr wrap="square" lIns="76200" tIns="76200" rIns="76200" bIns="76200">
                      <a:noAutofit/>
                    </a:bodyPr>
                    <a:lstStyle/>
                    <a:p>
                      <a:r>
                        <a:rPr sz="1800" b="0">
                          <a:solidFill>
                            <a:srgbClr val="102A43"/>
                          </a:solidFill>
                          <a:latin typeface="DejaVu Sans"/>
                          <a:ea typeface="DejaVu Sans"/>
                          <a:cs typeface="DejaVu Sans"/>
                        </a:rPr>
                        <a:t>Required missing/null/blank</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Reject during preflight</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No delivery</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
        <p:nvSpPr>
          <p:cNvPr id="5" name="text-67">
            <a:extLst xmlns:a="http://schemas.openxmlformats.org/drawingml/2006/main">
              <a:ext uri="{FF2B5EF4-FFF2-40B4-BE49-F238E27FC236}">
                <a16:creationId xmlns:a16="http://schemas.microsoft.com/office/drawing/2014/main" id="{A6CEFF83-5CDB-4622-B1FB-2745562C0ED3}"/>
              </a:ext>
            </a:extLst>
          </p:cNvPr>
          <p:cNvSpPr>
            <a:spLocks xmlns:a="http://schemas.openxmlformats.org/drawingml/2006/main" noGrp="1"/>
          </p:cNvSpPr>
          <p:nvPr/>
        </p:nvSpPr>
        <p:spPr>
          <a:xfrm xmlns:a="http://schemas.openxmlformats.org/drawingml/2006/main">
            <a:off x="609600" y="6134100"/>
            <a:ext cx="10572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778"/>
                </a:solidFill>
                <a:latin typeface="DejaVu Sans"/>
                <a:ea typeface="DejaVu Sans"/>
                <a:cs typeface="DejaVu Sans"/>
              </a:defRPr>
            </a:defPPr>
            <a:lvl1pPr algn="l">
              <a:defRPr sz="1650" b="0">
                <a:solidFill>
                  <a:srgbClr val="526778"/>
                </a:solidFill>
                <a:latin typeface="DejaVu Sans"/>
                <a:ea typeface="DejaVu Sans"/>
                <a:cs typeface="DejaVu Sans"/>
              </a:defRPr>
            </a:lvl1pPr>
            <a:lvl2pPr algn="l">
              <a:defRPr sz="1650" b="0">
                <a:solidFill>
                  <a:srgbClr val="526778"/>
                </a:solidFill>
                <a:latin typeface="DejaVu Sans"/>
                <a:ea typeface="DejaVu Sans"/>
                <a:cs typeface="DejaVu Sans"/>
              </a:defRPr>
            </a:lvl2pPr>
            <a:lvl3pPr algn="l">
              <a:defRPr sz="1650" b="0">
                <a:solidFill>
                  <a:srgbClr val="526778"/>
                </a:solidFill>
                <a:latin typeface="DejaVu Sans"/>
                <a:ea typeface="DejaVu Sans"/>
                <a:cs typeface="DejaVu Sans"/>
              </a:defRPr>
            </a:lvl3pPr>
            <a:lvl4pPr algn="l">
              <a:defRPr sz="1650" b="0">
                <a:solidFill>
                  <a:srgbClr val="526778"/>
                </a:solidFill>
                <a:latin typeface="DejaVu Sans"/>
                <a:ea typeface="DejaVu Sans"/>
                <a:cs typeface="DejaVu Sans"/>
              </a:defRPr>
            </a:lvl4pPr>
            <a:lvl5pPr algn="l">
              <a:defRPr sz="1650" b="0">
                <a:solidFill>
                  <a:srgbClr val="526778"/>
                </a:solidFill>
                <a:latin typeface="DejaVu Sans"/>
                <a:ea typeface="DejaVu Sans"/>
                <a:cs typeface="DejaVu Sans"/>
              </a:defRPr>
            </a:lvl5pPr>
            <a:lvl6pPr algn="l">
              <a:defRPr sz="1650" b="0">
                <a:solidFill>
                  <a:srgbClr val="526778"/>
                </a:solidFill>
                <a:latin typeface="DejaVu Sans"/>
                <a:ea typeface="DejaVu Sans"/>
                <a:cs typeface="DejaVu Sans"/>
              </a:defRPr>
            </a:lvl6pPr>
            <a:lvl7pPr algn="l">
              <a:defRPr sz="1650" b="0">
                <a:solidFill>
                  <a:srgbClr val="526778"/>
                </a:solidFill>
                <a:latin typeface="DejaVu Sans"/>
                <a:ea typeface="DejaVu Sans"/>
                <a:cs typeface="DejaVu Sans"/>
              </a:defRPr>
            </a:lvl7pPr>
            <a:lvl8pPr algn="l">
              <a:defRPr sz="1650" b="0">
                <a:solidFill>
                  <a:srgbClr val="526778"/>
                </a:solidFill>
                <a:latin typeface="DejaVu Sans"/>
                <a:ea typeface="DejaVu Sans"/>
                <a:cs typeface="DejaVu Sans"/>
              </a:defRPr>
            </a:lvl8pPr>
            <a:lvl9pPr algn="l">
              <a:defRPr sz="1650" b="0">
                <a:solidFill>
                  <a:srgbClr val="526778"/>
                </a:solidFill>
                <a:latin typeface="DejaVu Sans"/>
                <a:ea typeface="DejaVu Sans"/>
                <a:cs typeface="DejaVu Sans"/>
              </a:defRPr>
            </a:lvl9pPr>
          </a:lstStyle>
          <a:p xmlns:a="http://schemas.openxmlformats.org/drawingml/2006/main">
            <a:pPr algn="l">
              <a:lnSpc>
                <a:spcPct val="115000"/>
              </a:lnSpc>
              <a:buNone/>
              <a:defRPr sz="1650" b="0">
                <a:solidFill>
                  <a:srgbClr val="526778"/>
                </a:solidFill>
                <a:latin typeface="DejaVu Sans"/>
                <a:ea typeface="DejaVu Sans"/>
                <a:cs typeface="DejaVu Sans"/>
              </a:defRPr>
            </a:pPr>
            <a:r>
              <a:rPr sz="1650" b="0">
                <a:solidFill>
                  <a:srgbClr val="526778"/>
                </a:solidFill>
                <a:latin typeface="DejaVu Sans"/>
                <a:ea typeface="DejaVu Sans"/>
                <a:cs typeface="DejaVu Sans"/>
              </a:rPr>
              <a:t>Confirm whether omitted fields preserve data and whether null clears data.</a:t>
            </a:r>
          </a:p>
        </p:txBody>
      </p:sp>
    </p:spTree>
    <p:extLst>
      <p:ext uri="{BB962C8B-B14F-4D97-AF65-F5344CB8AC3E}">
        <p14:creationId xmlns:p14="http://schemas.microsoft.com/office/powerpoint/2010/main" val="238583789"/>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0291026-1CFF-4A56-B14C-1613FEE59AAD}"/>
              </a:ext>
            </a:extLst>
          </p:cNvPr>
          <p:cNvCxnSpPr>
            <a:stCxn xmlns:a="http://schemas.openxmlformats.org/drawingml/2006/main" id="6" idx="3"/>
            <a:endCxn xmlns:a="http://schemas.openxmlformats.org/drawingml/2006/main" id="7" idx="1"/>
          </p:cNvCxnSpPr>
          <p:nvPr/>
        </p:nvCxnSpPr>
        <p:spPr>
          <a:xfrm xmlns:a="http://schemas.openxmlformats.org/drawingml/2006/main">
            <a:off x="8629650" y="2581275"/>
            <a:ext cx="43815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4E90BEA8-1087-4D4F-9CB3-060E92B5F9C0}"/>
              </a:ext>
            </a:extLst>
          </p:cNvPr>
          <p:cNvCxnSpPr>
            <a:stCxn xmlns:a="http://schemas.openxmlformats.org/drawingml/2006/main" id="5" idx="3"/>
            <a:endCxn xmlns:a="http://schemas.openxmlformats.org/drawingml/2006/main" id="6" idx="1"/>
          </p:cNvCxnSpPr>
          <p:nvPr/>
        </p:nvCxnSpPr>
        <p:spPr>
          <a:xfrm xmlns:a="http://schemas.openxmlformats.org/drawingml/2006/main">
            <a:off x="5810250" y="2581275"/>
            <a:ext cx="43815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198A0EB4-F3CC-40D0-8D75-EA33372ECEE8}"/>
              </a:ext>
            </a:extLst>
          </p:cNvPr>
          <p:cNvCxnSpPr>
            <a:stCxn xmlns:a="http://schemas.openxmlformats.org/drawingml/2006/main" id="4" idx="3"/>
            <a:endCxn xmlns:a="http://schemas.openxmlformats.org/drawingml/2006/main" id="5" idx="1"/>
          </p:cNvCxnSpPr>
          <p:nvPr/>
        </p:nvCxnSpPr>
        <p:spPr>
          <a:xfrm xmlns:a="http://schemas.openxmlformats.org/drawingml/2006/main">
            <a:off x="2990850" y="2581275"/>
            <a:ext cx="43815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sp>
        <p:nvSpPr>
          <p:cNvPr id="13" name="slide-title">
            <a:extLst xmlns:a="http://schemas.openxmlformats.org/drawingml/2006/main">
              <a:ext uri="{FF2B5EF4-FFF2-40B4-BE49-F238E27FC236}">
                <a16:creationId xmlns:a16="http://schemas.microsoft.com/office/drawing/2014/main" id="{FCA1AE81-8E1C-4404-AB87-5433DA205558}"/>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Whole-file preflight</a:t>
            </a:r>
          </a:p>
        </p:txBody>
      </p:sp>
      <p:sp>
        <p:nvSpPr>
          <p:cNvPr id="2" name="text-68">
            <a:extLst xmlns:a="http://schemas.openxmlformats.org/drawingml/2006/main">
              <a:ext uri="{FF2B5EF4-FFF2-40B4-BE49-F238E27FC236}">
                <a16:creationId xmlns:a16="http://schemas.microsoft.com/office/drawing/2014/main" id="{8B9265B8-4437-4BFC-9C6B-92336BE7F3EC}"/>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Successful record mapping alone does not start HTTP delivery.</a:t>
            </a:r>
          </a:p>
        </p:txBody>
      </p:sp>
      <p:sp>
        <p:nvSpPr>
          <p:cNvPr id="3" name="slide-number">
            <a:extLst xmlns:a="http://schemas.openxmlformats.org/drawingml/2006/main">
              <a:ext uri="{FF2B5EF4-FFF2-40B4-BE49-F238E27FC236}">
                <a16:creationId xmlns:a16="http://schemas.microsoft.com/office/drawing/2014/main" id="{4CF5C031-9B66-43D6-A6DA-A75FC25ED7D1}"/>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15</a:t>
            </a:r>
          </a:p>
        </p:txBody>
      </p:sp>
      <p:sp>
        <p:nvSpPr>
          <p:cNvPr id="4" name="node-69">
            <a:extLst xmlns:a="http://schemas.openxmlformats.org/drawingml/2006/main">
              <a:ext uri="{FF2B5EF4-FFF2-40B4-BE49-F238E27FC236}">
                <a16:creationId xmlns:a16="http://schemas.microsoft.com/office/drawing/2014/main" id="{0FB57089-87DC-4070-9345-021D20DF47BA}"/>
              </a:ext>
            </a:extLst>
          </p:cNvPr>
          <p:cNvSpPr>
            <a:spLocks xmlns:a="http://schemas.openxmlformats.org/drawingml/2006/main" noGrp="1"/>
          </p:cNvSpPr>
          <p:nvPr/>
        </p:nvSpPr>
        <p:spPr>
          <a:xfrm xmlns:a="http://schemas.openxmlformats.org/drawingml/2006/main">
            <a:off x="609600" y="2190750"/>
            <a:ext cx="2381250" cy="78105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Parse, map, validate</a:t>
            </a:r>
          </a:p>
        </p:txBody>
      </p:sp>
      <p:sp>
        <p:nvSpPr>
          <p:cNvPr id="5" name="node-70">
            <a:extLst xmlns:a="http://schemas.openxmlformats.org/drawingml/2006/main">
              <a:ext uri="{FF2B5EF4-FFF2-40B4-BE49-F238E27FC236}">
                <a16:creationId xmlns:a16="http://schemas.microsoft.com/office/drawing/2014/main" id="{688CF593-C7BF-4656-8814-11B5622CD7E6}"/>
              </a:ext>
            </a:extLst>
          </p:cNvPr>
          <p:cNvSpPr>
            <a:spLocks xmlns:a="http://schemas.openxmlformats.org/drawingml/2006/main" noGrp="1"/>
          </p:cNvSpPr>
          <p:nvPr/>
        </p:nvSpPr>
        <p:spPr>
          <a:xfrm xmlns:a="http://schemas.openxmlformats.org/drawingml/2006/main">
            <a:off x="3429000" y="2190750"/>
            <a:ext cx="2381250" cy="78105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PENDING requests</a:t>
            </a:r>
          </a:p>
        </p:txBody>
      </p:sp>
      <p:sp>
        <p:nvSpPr>
          <p:cNvPr id="6" name="node-71">
            <a:extLst xmlns:a="http://schemas.openxmlformats.org/drawingml/2006/main">
              <a:ext uri="{FF2B5EF4-FFF2-40B4-BE49-F238E27FC236}">
                <a16:creationId xmlns:a16="http://schemas.microsoft.com/office/drawing/2014/main" id="{00EC0170-50BA-41C2-AC7C-3457297FD00D}"/>
              </a:ext>
            </a:extLst>
          </p:cNvPr>
          <p:cNvSpPr>
            <a:spLocks xmlns:a="http://schemas.openxmlformats.org/drawingml/2006/main" noGrp="1"/>
          </p:cNvSpPr>
          <p:nvPr/>
        </p:nvSpPr>
        <p:spPr>
          <a:xfrm xmlns:a="http://schemas.openxmlformats.org/drawingml/2006/main">
            <a:off x="6248400" y="2190750"/>
            <a:ext cx="2381250" cy="781050"/>
          </a:xfrm>
          <a:prstGeom xmlns:a="http://schemas.openxmlformats.org/drawingml/2006/main" prst="rect">
            <a:avLst/>
          </a:prstGeom>
          <a:solidFill xmlns:a="http://schemas.openxmlformats.org/drawingml/2006/main">
            <a:srgbClr val="E4F2F1"/>
          </a:solidFill>
          <a:ln xmlns:a="http://schemas.openxmlformats.org/drawingml/2006/main" w="15240">
            <a:solidFill>
              <a:srgbClr val="007F8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02A43"/>
                </a:solidFill>
                <a:latin typeface="DejaVu Sans"/>
                <a:ea typeface="DejaVu Sans"/>
                <a:cs typeface="DejaVu Sans"/>
              </a:defRPr>
            </a:defPPr>
            <a:lvl1pPr algn="ctr">
              <a:defRPr sz="1800" b="1">
                <a:solidFill>
                  <a:srgbClr val="102A43"/>
                </a:solidFill>
                <a:latin typeface="DejaVu Sans"/>
                <a:ea typeface="DejaVu Sans"/>
                <a:cs typeface="DejaVu Sans"/>
              </a:defRPr>
            </a:lvl1pPr>
            <a:lvl2pPr algn="ctr">
              <a:defRPr sz="1800" b="1">
                <a:solidFill>
                  <a:srgbClr val="102A43"/>
                </a:solidFill>
                <a:latin typeface="DejaVu Sans"/>
                <a:ea typeface="DejaVu Sans"/>
                <a:cs typeface="DejaVu Sans"/>
              </a:defRPr>
            </a:lvl2pPr>
            <a:lvl3pPr algn="ctr">
              <a:defRPr sz="1800" b="1">
                <a:solidFill>
                  <a:srgbClr val="102A43"/>
                </a:solidFill>
                <a:latin typeface="DejaVu Sans"/>
                <a:ea typeface="DejaVu Sans"/>
                <a:cs typeface="DejaVu Sans"/>
              </a:defRPr>
            </a:lvl3pPr>
            <a:lvl4pPr algn="ctr">
              <a:defRPr sz="1800" b="1">
                <a:solidFill>
                  <a:srgbClr val="102A43"/>
                </a:solidFill>
                <a:latin typeface="DejaVu Sans"/>
                <a:ea typeface="DejaVu Sans"/>
                <a:cs typeface="DejaVu Sans"/>
              </a:defRPr>
            </a:lvl4pPr>
            <a:lvl5pPr algn="ctr">
              <a:defRPr sz="1800" b="1">
                <a:solidFill>
                  <a:srgbClr val="102A43"/>
                </a:solidFill>
                <a:latin typeface="DejaVu Sans"/>
                <a:ea typeface="DejaVu Sans"/>
                <a:cs typeface="DejaVu Sans"/>
              </a:defRPr>
            </a:lvl5pPr>
            <a:lvl6pPr algn="ctr">
              <a:defRPr sz="1800" b="1">
                <a:solidFill>
                  <a:srgbClr val="102A43"/>
                </a:solidFill>
                <a:latin typeface="DejaVu Sans"/>
                <a:ea typeface="DejaVu Sans"/>
                <a:cs typeface="DejaVu Sans"/>
              </a:defRPr>
            </a:lvl6pPr>
            <a:lvl7pPr algn="ctr">
              <a:defRPr sz="1800" b="1">
                <a:solidFill>
                  <a:srgbClr val="102A43"/>
                </a:solidFill>
                <a:latin typeface="DejaVu Sans"/>
                <a:ea typeface="DejaVu Sans"/>
                <a:cs typeface="DejaVu Sans"/>
              </a:defRPr>
            </a:lvl7pPr>
            <a:lvl8pPr algn="ctr">
              <a:defRPr sz="1800" b="1">
                <a:solidFill>
                  <a:srgbClr val="102A43"/>
                </a:solidFill>
                <a:latin typeface="DejaVu Sans"/>
                <a:ea typeface="DejaVu Sans"/>
                <a:cs typeface="DejaVu Sans"/>
              </a:defRPr>
            </a:lvl8pPr>
            <a:lvl9pPr algn="ctr">
              <a:defRPr sz="1800" b="1">
                <a:solidFill>
                  <a:srgbClr val="102A43"/>
                </a:solidFill>
                <a:latin typeface="DejaVu Sans"/>
                <a:ea typeface="DejaVu Sans"/>
                <a:cs typeface="DejaVu Sans"/>
              </a:defRPr>
            </a:lvl9pPr>
          </a:lstStyle>
          <a:p xmlns:a="http://schemas.openxmlformats.org/drawingml/2006/main">
            <a:pPr algn="ctr">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READY file</a:t>
            </a:r>
          </a:p>
        </p:txBody>
      </p:sp>
      <p:sp>
        <p:nvSpPr>
          <p:cNvPr id="7" name="node-72">
            <a:extLst xmlns:a="http://schemas.openxmlformats.org/drawingml/2006/main">
              <a:ext uri="{FF2B5EF4-FFF2-40B4-BE49-F238E27FC236}">
                <a16:creationId xmlns:a16="http://schemas.microsoft.com/office/drawing/2014/main" id="{B68B7793-AB5A-4B96-BE15-AACDED3E83B3}"/>
              </a:ext>
            </a:extLst>
          </p:cNvPr>
          <p:cNvSpPr>
            <a:spLocks xmlns:a="http://schemas.openxmlformats.org/drawingml/2006/main" noGrp="1"/>
          </p:cNvSpPr>
          <p:nvPr/>
        </p:nvSpPr>
        <p:spPr>
          <a:xfrm xmlns:a="http://schemas.openxmlformats.org/drawingml/2006/main">
            <a:off x="9067800" y="2190750"/>
            <a:ext cx="2514600" cy="781050"/>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Preview or POST</a:t>
            </a:r>
          </a:p>
        </p:txBody>
      </p:sp>
      <p:graphicFrame>
        <p:nvGraphicFramePr>
          <p:cNvPr id="11" name="">
            <a:extLst xmlns:a="http://schemas.openxmlformats.org/drawingml/2006/main">
              <a:ext uri="{FF2B5EF4-FFF2-40B4-BE49-F238E27FC236}">
                <a16:creationId xmlns:a16="http://schemas.microsoft.com/office/drawing/2014/main" id="{6FA2255D-4E4F-413F-BAD2-B58CD17454AD}"/>
              </a:ext>
            </a:extLst>
          </p:cNvPr>
          <p:cNvGraphicFramePr/>
          <p:nvPr/>
        </p:nvGraphicFramePr>
        <p:xfrm>
          <a:off xmlns:a="http://schemas.openxmlformats.org/drawingml/2006/main" x="609600" y="3943350"/>
          <a:ext xmlns:a="http://schemas.openxmlformats.org/drawingml/2006/main" cx="10972800" cy="1600200"/>
        </p:xfrm>
        <a:graphic xmlns:a="http://schemas.openxmlformats.org/drawingml/2006/main">
          <a:graphicData uri="http://schemas.openxmlformats.org/drawingml/2006/table">
            <a:tbl>
              <a:tblPr/>
              <a:tblGrid>
                <a:gridCol w="3857625"/>
                <a:gridCol w="4191000"/>
                <a:gridCol w="2924175"/>
              </a:tblGrid>
              <a:tr h="800100">
                <a:tc>
                  <a:txBody>
                    <a:bodyPr wrap="square" lIns="76200" tIns="76200" rIns="76200" bIns="76200">
                      <a:noAutofit/>
                    </a:bodyPr>
                    <a:lstStyle/>
                    <a:p>
                      <a:r>
                        <a:rPr sz="1875" b="1">
                          <a:solidFill>
                            <a:srgbClr val="FFFFFF"/>
                          </a:solidFill>
                          <a:latin typeface="DejaVu Sans"/>
                          <a:ea typeface="DejaVu Sans"/>
                          <a:cs typeface="DejaVu Sans"/>
                        </a:rPr>
                        <a:t>Example input</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75" b="1">
                          <a:solidFill>
                            <a:srgbClr val="FFFFFF"/>
                          </a:solidFill>
                          <a:latin typeface="DejaVu Sans"/>
                          <a:ea typeface="DejaVu Sans"/>
                          <a:cs typeface="DejaVu Sans"/>
                        </a:rPr>
                        <a:t>Preflight result</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75" b="1">
                          <a:solidFill>
                            <a:srgbClr val="FFFFFF"/>
                          </a:solidFill>
                          <a:latin typeface="DejaVu Sans"/>
                          <a:ea typeface="DejaVu Sans"/>
                          <a:cs typeface="DejaVu Sans"/>
                        </a:rPr>
                        <a:t>HTTP requests</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800100">
                <a:tc>
                  <a:txBody>
                    <a:bodyPr wrap="square" lIns="76200" tIns="76200" rIns="76200" bIns="76200">
                      <a:noAutofit/>
                    </a:bodyPr>
                    <a:lstStyle/>
                    <a:p>
                      <a:r>
                        <a:rPr sz="1875" b="0">
                          <a:solidFill>
                            <a:srgbClr val="102A43"/>
                          </a:solidFill>
                          <a:latin typeface="DejaVu Sans"/>
                          <a:ea typeface="DejaVu Sans"/>
                          <a:cs typeface="DejaVu Sans"/>
                        </a:rPr>
                        <a:t>Record 1 valid</a:t>
                      </a:r>
                    </a:p>
                    <a:p>
                      <a:r>
                        <a:rPr sz="1875" b="0">
                          <a:solidFill>
                            <a:srgbClr val="102A43"/>
                          </a:solidFill>
                          <a:latin typeface="DejaVu Sans"/>
                          <a:ea typeface="DejaVu Sans"/>
                          <a:cs typeface="DejaVu Sans"/>
                        </a:rPr>
                        <a:t>Record 2 malformed</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75" b="0">
                          <a:solidFill>
                            <a:srgbClr val="102A43"/>
                          </a:solidFill>
                          <a:latin typeface="DejaVu Sans"/>
                          <a:ea typeface="DejaVu Sans"/>
                          <a:cs typeface="DejaVu Sans"/>
                        </a:rPr>
                        <a:t>FAILED and quarantine</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75" b="0">
                          <a:solidFill>
                            <a:srgbClr val="102A43"/>
                          </a:solidFill>
                          <a:latin typeface="DejaVu Sans"/>
                          <a:ea typeface="DejaVu Sans"/>
                          <a:cs typeface="DejaVu Sans"/>
                        </a:rPr>
                        <a:t>0</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
        <p:nvSpPr>
          <p:cNvPr id="12" name="text-73">
            <a:extLst xmlns:a="http://schemas.openxmlformats.org/drawingml/2006/main">
              <a:ext uri="{FF2B5EF4-FFF2-40B4-BE49-F238E27FC236}">
                <a16:creationId xmlns:a16="http://schemas.microsoft.com/office/drawing/2014/main" id="{8E958B4A-68A7-4C46-863E-5162F0A55B4E}"/>
              </a:ext>
            </a:extLst>
          </p:cNvPr>
          <p:cNvSpPr>
            <a:spLocks xmlns:a="http://schemas.openxmlformats.org/drawingml/2006/main" noGrp="1"/>
          </p:cNvSpPr>
          <p:nvPr/>
        </p:nvSpPr>
        <p:spPr>
          <a:xfrm xmlns:a="http://schemas.openxmlformats.org/drawingml/2006/main">
            <a:off x="609600" y="59626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Staged records alone never authorize delivery.</a:t>
            </a:r>
          </a:p>
        </p:txBody>
      </p:sp>
    </p:spTree>
    <p:extLst>
      <p:ext uri="{BB962C8B-B14F-4D97-AF65-F5344CB8AC3E}">
        <p14:creationId xmlns:p14="http://schemas.microsoft.com/office/powerpoint/2010/main" val="1043693791"/>
      </p:ext>
    </p:extLst>
  </p:cSld>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F27E112-0E11-4519-BDE5-31AC8DCC0B95}"/>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Run identity and saved configuration</a:t>
            </a:r>
          </a:p>
        </p:txBody>
      </p:sp>
      <p:sp>
        <p:nvSpPr>
          <p:cNvPr id="2" name="text-74">
            <a:extLst xmlns:a="http://schemas.openxmlformats.org/drawingml/2006/main">
              <a:ext uri="{FF2B5EF4-FFF2-40B4-BE49-F238E27FC236}">
                <a16:creationId xmlns:a16="http://schemas.microsoft.com/office/drawing/2014/main" id="{4F3DA698-A9CA-4F86-B2EC-614C2D73D7EE}"/>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A restart uses the original request contract and delivery settings.</a:t>
            </a:r>
          </a:p>
        </p:txBody>
      </p:sp>
      <p:sp>
        <p:nvSpPr>
          <p:cNvPr id="3" name="slide-number">
            <a:extLst xmlns:a="http://schemas.openxmlformats.org/drawingml/2006/main">
              <a:ext uri="{FF2B5EF4-FFF2-40B4-BE49-F238E27FC236}">
                <a16:creationId xmlns:a16="http://schemas.microsoft.com/office/drawing/2014/main" id="{37E1A490-1117-43FA-9F23-7E8094F59DF2}"/>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16</a:t>
            </a:r>
          </a:p>
        </p:txBody>
      </p:sp>
      <p:sp>
        <p:nvSpPr>
          <p:cNvPr id="4" name="text-75">
            <a:extLst xmlns:a="http://schemas.openxmlformats.org/drawingml/2006/main">
              <a:ext uri="{FF2B5EF4-FFF2-40B4-BE49-F238E27FC236}">
                <a16:creationId xmlns:a16="http://schemas.microsoft.com/office/drawing/2014/main" id="{7DD6BE2A-0DCD-4C1A-B980-5BF9E29BC762}"/>
              </a:ext>
            </a:extLst>
          </p:cNvPr>
          <p:cNvSpPr>
            <a:spLocks xmlns:a="http://schemas.openxmlformats.org/drawingml/2006/main" noGrp="1"/>
          </p:cNvSpPr>
          <p:nvPr/>
        </p:nvSpPr>
        <p:spPr>
          <a:xfrm xmlns:a="http://schemas.openxmlformats.org/drawingml/2006/main">
            <a:off x="609600" y="2028825"/>
            <a:ext cx="695325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02A43"/>
                </a:solidFill>
                <a:latin typeface="DejaVu Sans Mono"/>
                <a:ea typeface="DejaVu Sans Mono"/>
                <a:cs typeface="DejaVu Sans Mono"/>
              </a:defRPr>
            </a:defPPr>
            <a:lvl1pPr algn="l">
              <a:defRPr sz="1800" b="0">
                <a:solidFill>
                  <a:srgbClr val="102A43"/>
                </a:solidFill>
                <a:latin typeface="DejaVu Sans Mono"/>
                <a:ea typeface="DejaVu Sans Mono"/>
                <a:cs typeface="DejaVu Sans Mono"/>
              </a:defRPr>
            </a:lvl1pPr>
            <a:lvl2pPr algn="l">
              <a:defRPr sz="1800" b="0">
                <a:solidFill>
                  <a:srgbClr val="102A43"/>
                </a:solidFill>
                <a:latin typeface="DejaVu Sans Mono"/>
                <a:ea typeface="DejaVu Sans Mono"/>
                <a:cs typeface="DejaVu Sans Mono"/>
              </a:defRPr>
            </a:lvl2pPr>
            <a:lvl3pPr algn="l">
              <a:defRPr sz="1800" b="0">
                <a:solidFill>
                  <a:srgbClr val="102A43"/>
                </a:solidFill>
                <a:latin typeface="DejaVu Sans Mono"/>
                <a:ea typeface="DejaVu Sans Mono"/>
                <a:cs typeface="DejaVu Sans Mono"/>
              </a:defRPr>
            </a:lvl3pPr>
            <a:lvl4pPr algn="l">
              <a:defRPr sz="1800" b="0">
                <a:solidFill>
                  <a:srgbClr val="102A43"/>
                </a:solidFill>
                <a:latin typeface="DejaVu Sans Mono"/>
                <a:ea typeface="DejaVu Sans Mono"/>
                <a:cs typeface="DejaVu Sans Mono"/>
              </a:defRPr>
            </a:lvl4pPr>
            <a:lvl5pPr algn="l">
              <a:defRPr sz="1800" b="0">
                <a:solidFill>
                  <a:srgbClr val="102A43"/>
                </a:solidFill>
                <a:latin typeface="DejaVu Sans Mono"/>
                <a:ea typeface="DejaVu Sans Mono"/>
                <a:cs typeface="DejaVu Sans Mono"/>
              </a:defRPr>
            </a:lvl5pPr>
            <a:lvl6pPr algn="l">
              <a:defRPr sz="1800" b="0">
                <a:solidFill>
                  <a:srgbClr val="102A43"/>
                </a:solidFill>
                <a:latin typeface="DejaVu Sans Mono"/>
                <a:ea typeface="DejaVu Sans Mono"/>
                <a:cs typeface="DejaVu Sans Mono"/>
              </a:defRPr>
            </a:lvl6pPr>
            <a:lvl7pPr algn="l">
              <a:defRPr sz="1800" b="0">
                <a:solidFill>
                  <a:srgbClr val="102A43"/>
                </a:solidFill>
                <a:latin typeface="DejaVu Sans Mono"/>
                <a:ea typeface="DejaVu Sans Mono"/>
                <a:cs typeface="DejaVu Sans Mono"/>
              </a:defRPr>
            </a:lvl7pPr>
            <a:lvl8pPr algn="l">
              <a:defRPr sz="1800" b="0">
                <a:solidFill>
                  <a:srgbClr val="102A43"/>
                </a:solidFill>
                <a:latin typeface="DejaVu Sans Mono"/>
                <a:ea typeface="DejaVu Sans Mono"/>
                <a:cs typeface="DejaVu Sans Mono"/>
              </a:defRPr>
            </a:lvl8pPr>
            <a:lvl9pPr algn="l">
              <a:defRPr sz="1800" b="0">
                <a:solidFill>
                  <a:srgbClr val="102A43"/>
                </a:solidFill>
                <a:latin typeface="DejaVu Sans Mono"/>
                <a:ea typeface="DejaVu Sans Mono"/>
                <a:cs typeface="DejaVu Sans Mono"/>
              </a:defRPr>
            </a:lvl9pPr>
          </a:lstStyle>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contentHash = SHA256(input bytes)</a:t>
            </a:r>
          </a:p>
          <a:p xmlns:a="http://schemas.openxmlformats.org/drawingml/2006/main">
            <a:r>
              <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runId = SHA256(</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contentHash + "\n"</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    + canonicalSnapshotJson</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a:t>
            </a:r>
          </a:p>
          <a:p xmlns:a="http://schemas.openxmlformats.org/drawingml/2006/main">
            <a:r>
              <a:t/>
            </a:r>
          </a:p>
          <a:p xmlns:a="http://schemas.openxmlformats.org/drawingml/2006/main">
            <a:pPr algn="l">
              <a:lnSpc>
                <a:spcPct val="115000"/>
              </a:lnSpc>
              <a:buNone/>
              <a:defRPr sz="1800" b="0">
                <a:solidFill>
                  <a:srgbClr val="102A43"/>
                </a:solidFill>
                <a:latin typeface="DejaVu Sans Mono"/>
                <a:ea typeface="DejaVu Sans Mono"/>
                <a:cs typeface="DejaVu Sans Mono"/>
              </a:defRPr>
            </a:pPr>
            <a:r>
              <a:rPr sz="1800" b="0">
                <a:solidFill>
                  <a:srgbClr val="102A43"/>
                </a:solidFill>
                <a:latin typeface="DejaVu Sans Mono"/>
                <a:ea typeface="DejaVu Sans Mono"/>
                <a:cs typeface="DejaVu Sans Mono"/>
              </a:rPr>
              <a:t>requestKey = runId + ":" + recordNumber</a:t>
            </a:r>
          </a:p>
        </p:txBody>
      </p:sp>
      <p:sp>
        <p:nvSpPr>
          <p:cNvPr id="5" name="text-76">
            <a:extLst xmlns:a="http://schemas.openxmlformats.org/drawingml/2006/main">
              <a:ext uri="{FF2B5EF4-FFF2-40B4-BE49-F238E27FC236}">
                <a16:creationId xmlns:a16="http://schemas.microsoft.com/office/drawing/2014/main" id="{36B3074D-D78A-4AC3-9943-6838F955D766}"/>
              </a:ext>
            </a:extLst>
          </p:cNvPr>
          <p:cNvSpPr>
            <a:spLocks xmlns:a="http://schemas.openxmlformats.org/drawingml/2006/main" noGrp="1"/>
          </p:cNvSpPr>
          <p:nvPr/>
        </p:nvSpPr>
        <p:spPr>
          <a:xfrm xmlns:a="http://schemas.openxmlformats.org/drawingml/2006/main">
            <a:off x="8039100" y="2057400"/>
            <a:ext cx="3524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Snapshot stores profile and delivery settings</a:t>
            </a:r>
          </a:p>
        </p:txBody>
      </p:sp>
      <p:sp>
        <p:nvSpPr>
          <p:cNvPr id="6" name="text-77">
            <a:extLst xmlns:a="http://schemas.openxmlformats.org/drawingml/2006/main">
              <a:ext uri="{FF2B5EF4-FFF2-40B4-BE49-F238E27FC236}">
                <a16:creationId xmlns:a16="http://schemas.microsoft.com/office/drawing/2014/main" id="{11CB4998-2C1E-4D83-9702-1E04FF3B19EB}"/>
              </a:ext>
            </a:extLst>
          </p:cNvPr>
          <p:cNvSpPr>
            <a:spLocks xmlns:a="http://schemas.openxmlformats.org/drawingml/2006/main" noGrp="1"/>
          </p:cNvSpPr>
          <p:nvPr/>
        </p:nvSpPr>
        <p:spPr>
          <a:xfrm xmlns:a="http://schemas.openxmlformats.org/drawingml/2006/main">
            <a:off x="8039100" y="3200400"/>
            <a:ext cx="3524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Current bearer token stays outside the snapshot</a:t>
            </a:r>
          </a:p>
        </p:txBody>
      </p:sp>
      <p:sp>
        <p:nvSpPr>
          <p:cNvPr id="7" name="text-78">
            <a:extLst xmlns:a="http://schemas.openxmlformats.org/drawingml/2006/main">
              <a:ext uri="{FF2B5EF4-FFF2-40B4-BE49-F238E27FC236}">
                <a16:creationId xmlns:a16="http://schemas.microsoft.com/office/drawing/2014/main" id="{7597A4A5-E5C7-4BA9-82A4-761980C08FAC}"/>
              </a:ext>
            </a:extLst>
          </p:cNvPr>
          <p:cNvSpPr>
            <a:spLocks xmlns:a="http://schemas.openxmlformats.org/drawingml/2006/main" noGrp="1"/>
          </p:cNvSpPr>
          <p:nvPr/>
        </p:nvSpPr>
        <p:spPr>
          <a:xfrm xmlns:a="http://schemas.openxmlformats.org/drawingml/2006/main">
            <a:off x="8039100" y="4343400"/>
            <a:ext cx="3524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a:ea typeface="DejaVu Sans"/>
                <a:cs typeface="DejaVu Sans"/>
              </a:defRPr>
            </a:defPPr>
            <a:lvl1pPr algn="l">
              <a:defRPr sz="1875" b="0">
                <a:solidFill>
                  <a:srgbClr val="102A43"/>
                </a:solidFill>
                <a:latin typeface="DejaVu Sans"/>
                <a:ea typeface="DejaVu Sans"/>
                <a:cs typeface="DejaVu Sans"/>
              </a:defRPr>
            </a:lvl1pPr>
            <a:lvl2pPr algn="l">
              <a:defRPr sz="1875" b="0">
                <a:solidFill>
                  <a:srgbClr val="102A43"/>
                </a:solidFill>
                <a:latin typeface="DejaVu Sans"/>
                <a:ea typeface="DejaVu Sans"/>
                <a:cs typeface="DejaVu Sans"/>
              </a:defRPr>
            </a:lvl2pPr>
            <a:lvl3pPr algn="l">
              <a:defRPr sz="1875" b="0">
                <a:solidFill>
                  <a:srgbClr val="102A43"/>
                </a:solidFill>
                <a:latin typeface="DejaVu Sans"/>
                <a:ea typeface="DejaVu Sans"/>
                <a:cs typeface="DejaVu Sans"/>
              </a:defRPr>
            </a:lvl3pPr>
            <a:lvl4pPr algn="l">
              <a:defRPr sz="1875" b="0">
                <a:solidFill>
                  <a:srgbClr val="102A43"/>
                </a:solidFill>
                <a:latin typeface="DejaVu Sans"/>
                <a:ea typeface="DejaVu Sans"/>
                <a:cs typeface="DejaVu Sans"/>
              </a:defRPr>
            </a:lvl4pPr>
            <a:lvl5pPr algn="l">
              <a:defRPr sz="1875" b="0">
                <a:solidFill>
                  <a:srgbClr val="102A43"/>
                </a:solidFill>
                <a:latin typeface="DejaVu Sans"/>
                <a:ea typeface="DejaVu Sans"/>
                <a:cs typeface="DejaVu Sans"/>
              </a:defRPr>
            </a:lvl5pPr>
            <a:lvl6pPr algn="l">
              <a:defRPr sz="1875" b="0">
                <a:solidFill>
                  <a:srgbClr val="102A43"/>
                </a:solidFill>
                <a:latin typeface="DejaVu Sans"/>
                <a:ea typeface="DejaVu Sans"/>
                <a:cs typeface="DejaVu Sans"/>
              </a:defRPr>
            </a:lvl6pPr>
            <a:lvl7pPr algn="l">
              <a:defRPr sz="1875" b="0">
                <a:solidFill>
                  <a:srgbClr val="102A43"/>
                </a:solidFill>
                <a:latin typeface="DejaVu Sans"/>
                <a:ea typeface="DejaVu Sans"/>
                <a:cs typeface="DejaVu Sans"/>
              </a:defRPr>
            </a:lvl7pPr>
            <a:lvl8pPr algn="l">
              <a:defRPr sz="1875" b="0">
                <a:solidFill>
                  <a:srgbClr val="102A43"/>
                </a:solidFill>
                <a:latin typeface="DejaVu Sans"/>
                <a:ea typeface="DejaVu Sans"/>
                <a:cs typeface="DejaVu Sans"/>
              </a:defRPr>
            </a:lvl8pPr>
            <a:lvl9pPr algn="l">
              <a:defRPr sz="1875" b="0">
                <a:solidFill>
                  <a:srgbClr val="102A43"/>
                </a:solidFill>
                <a:latin typeface="DejaVu Sans"/>
                <a:ea typeface="DejaVu Sans"/>
                <a:cs typeface="DejaVu Sans"/>
              </a:defRPr>
            </a:lvl9pPr>
          </a:lstStyle>
          <a:p xmlns:a="http://schemas.openxmlformats.org/drawingml/2006/main">
            <a:pPr algn="l">
              <a:lnSpc>
                <a:spcPct val="115000"/>
              </a:lnSpc>
              <a:buNone/>
              <a:defRPr sz="1875" b="0">
                <a:solidFill>
                  <a:srgbClr val="102A43"/>
                </a:solidFill>
                <a:latin typeface="DejaVu Sans"/>
                <a:ea typeface="DejaVu Sans"/>
                <a:cs typeface="DejaVu Sans"/>
              </a:defRPr>
            </a:pPr>
            <a:r>
              <a:rPr sz="1875" b="0">
                <a:solidFill>
                  <a:srgbClr val="102A43"/>
                </a:solidFill>
                <a:latin typeface="DejaVu Sans"/>
                <a:ea typeface="DejaVu Sans"/>
                <a:cs typeface="DejaVu Sans"/>
              </a:rPr>
              <a:t>Changed content or settings create a new run</a:t>
            </a:r>
          </a:p>
        </p:txBody>
      </p:sp>
    </p:spTree>
    <p:extLst>
      <p:ext uri="{BB962C8B-B14F-4D97-AF65-F5344CB8AC3E}">
        <p14:creationId xmlns:p14="http://schemas.microsoft.com/office/powerpoint/2010/main" val="31854435"/>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FD18B2B-F938-4A5F-A5AD-3781A9761018}"/>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Previews with source traceability</a:t>
            </a:r>
          </a:p>
        </p:txBody>
      </p:sp>
      <p:sp>
        <p:nvSpPr>
          <p:cNvPr id="2" name="text-79">
            <a:extLst xmlns:a="http://schemas.openxmlformats.org/drawingml/2006/main">
              <a:ext uri="{FF2B5EF4-FFF2-40B4-BE49-F238E27FC236}">
                <a16:creationId xmlns:a16="http://schemas.microsoft.com/office/drawing/2014/main" id="{4E6E571F-B945-4CEB-984D-DE74C6432702}"/>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filename and metadata identify the originating feed.</a:t>
            </a:r>
          </a:p>
        </p:txBody>
      </p:sp>
      <p:sp>
        <p:nvSpPr>
          <p:cNvPr id="3" name="slide-number">
            <a:extLst xmlns:a="http://schemas.openxmlformats.org/drawingml/2006/main">
              <a:ext uri="{FF2B5EF4-FFF2-40B4-BE49-F238E27FC236}">
                <a16:creationId xmlns:a16="http://schemas.microsoft.com/office/drawing/2014/main" id="{5DEF75A8-B2F1-44AA-93A0-B8019B79AA68}"/>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17</a:t>
            </a:r>
          </a:p>
        </p:txBody>
      </p:sp>
      <p:sp>
        <p:nvSpPr>
          <p:cNvPr id="4" name="text-80">
            <a:extLst xmlns:a="http://schemas.openxmlformats.org/drawingml/2006/main">
              <a:ext uri="{FF2B5EF4-FFF2-40B4-BE49-F238E27FC236}">
                <a16:creationId xmlns:a16="http://schemas.microsoft.com/office/drawing/2014/main" id="{131AA909-FB00-4BE7-96D4-7D6D532CF032}"/>
              </a:ext>
            </a:extLst>
          </p:cNvPr>
          <p:cNvSpPr>
            <a:spLocks xmlns:a="http://schemas.openxmlformats.org/drawingml/2006/main" noGrp="1"/>
          </p:cNvSpPr>
          <p:nvPr/>
        </p:nvSpPr>
        <p:spPr>
          <a:xfrm xmlns:a="http://schemas.openxmlformats.org/drawingml/2006/main">
            <a:off x="609600" y="2000250"/>
            <a:ext cx="5191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Source metadata excerpt</a:t>
            </a:r>
          </a:p>
        </p:txBody>
      </p:sp>
      <p:sp>
        <p:nvSpPr>
          <p:cNvPr id="5" name="text-81">
            <a:extLst xmlns:a="http://schemas.openxmlformats.org/drawingml/2006/main">
              <a:ext uri="{FF2B5EF4-FFF2-40B4-BE49-F238E27FC236}">
                <a16:creationId xmlns:a16="http://schemas.microsoft.com/office/drawing/2014/main" id="{37BA6591-546D-4D07-BB0A-D7D936654574}"/>
              </a:ext>
            </a:extLst>
          </p:cNvPr>
          <p:cNvSpPr>
            <a:spLocks xmlns:a="http://schemas.openxmlformats.org/drawingml/2006/main" noGrp="1"/>
          </p:cNvSpPr>
          <p:nvPr/>
        </p:nvSpPr>
        <p:spPr>
          <a:xfrm xmlns:a="http://schemas.openxmlformats.org/drawingml/2006/main">
            <a:off x="6381750" y="2000250"/>
            <a:ext cx="520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F86"/>
                </a:solidFill>
                <a:latin typeface="DejaVu Sans"/>
                <a:ea typeface="DejaVu Sans"/>
                <a:cs typeface="DejaVu Sans"/>
              </a:defRPr>
            </a:defPPr>
            <a:lvl1pPr algn="l">
              <a:defRPr sz="1875" b="1">
                <a:solidFill>
                  <a:srgbClr val="007F86"/>
                </a:solidFill>
                <a:latin typeface="DejaVu Sans"/>
                <a:ea typeface="DejaVu Sans"/>
                <a:cs typeface="DejaVu Sans"/>
              </a:defRPr>
            </a:lvl1pPr>
            <a:lvl2pPr algn="l">
              <a:defRPr sz="1875" b="1">
                <a:solidFill>
                  <a:srgbClr val="007F86"/>
                </a:solidFill>
                <a:latin typeface="DejaVu Sans"/>
                <a:ea typeface="DejaVu Sans"/>
                <a:cs typeface="DejaVu Sans"/>
              </a:defRPr>
            </a:lvl2pPr>
            <a:lvl3pPr algn="l">
              <a:defRPr sz="1875" b="1">
                <a:solidFill>
                  <a:srgbClr val="007F86"/>
                </a:solidFill>
                <a:latin typeface="DejaVu Sans"/>
                <a:ea typeface="DejaVu Sans"/>
                <a:cs typeface="DejaVu Sans"/>
              </a:defRPr>
            </a:lvl3pPr>
            <a:lvl4pPr algn="l">
              <a:defRPr sz="1875" b="1">
                <a:solidFill>
                  <a:srgbClr val="007F86"/>
                </a:solidFill>
                <a:latin typeface="DejaVu Sans"/>
                <a:ea typeface="DejaVu Sans"/>
                <a:cs typeface="DejaVu Sans"/>
              </a:defRPr>
            </a:lvl4pPr>
            <a:lvl5pPr algn="l">
              <a:defRPr sz="1875" b="1">
                <a:solidFill>
                  <a:srgbClr val="007F86"/>
                </a:solidFill>
                <a:latin typeface="DejaVu Sans"/>
                <a:ea typeface="DejaVu Sans"/>
                <a:cs typeface="DejaVu Sans"/>
              </a:defRPr>
            </a:lvl5pPr>
            <a:lvl6pPr algn="l">
              <a:defRPr sz="1875" b="1">
                <a:solidFill>
                  <a:srgbClr val="007F86"/>
                </a:solidFill>
                <a:latin typeface="DejaVu Sans"/>
                <a:ea typeface="DejaVu Sans"/>
                <a:cs typeface="DejaVu Sans"/>
              </a:defRPr>
            </a:lvl6pPr>
            <a:lvl7pPr algn="l">
              <a:defRPr sz="1875" b="1">
                <a:solidFill>
                  <a:srgbClr val="007F86"/>
                </a:solidFill>
                <a:latin typeface="DejaVu Sans"/>
                <a:ea typeface="DejaVu Sans"/>
                <a:cs typeface="DejaVu Sans"/>
              </a:defRPr>
            </a:lvl7pPr>
            <a:lvl8pPr algn="l">
              <a:defRPr sz="1875" b="1">
                <a:solidFill>
                  <a:srgbClr val="007F86"/>
                </a:solidFill>
                <a:latin typeface="DejaVu Sans"/>
                <a:ea typeface="DejaVu Sans"/>
                <a:cs typeface="DejaVu Sans"/>
              </a:defRPr>
            </a:lvl8pPr>
            <a:lvl9pPr algn="l">
              <a:defRPr sz="1875" b="1">
                <a:solidFill>
                  <a:srgbClr val="007F86"/>
                </a:solidFill>
                <a:latin typeface="DejaVu Sans"/>
                <a:ea typeface="DejaVu Sans"/>
                <a:cs typeface="DejaVu Sans"/>
              </a:defRPr>
            </a:lvl9pPr>
          </a:lstStyle>
          <a:p xmlns:a="http://schemas.openxmlformats.org/drawingml/2006/main">
            <a:pPr algn="l">
              <a:lnSpc>
                <a:spcPct val="115000"/>
              </a:lnSpc>
              <a:buNone/>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Files under preview/&lt;run-id&gt;/</a:t>
            </a:r>
          </a:p>
        </p:txBody>
      </p:sp>
      <p:sp>
        <p:nvSpPr>
          <p:cNvPr id="6" name="text-82">
            <a:extLst xmlns:a="http://schemas.openxmlformats.org/drawingml/2006/main">
              <a:ext uri="{FF2B5EF4-FFF2-40B4-BE49-F238E27FC236}">
                <a16:creationId xmlns:a16="http://schemas.microsoft.com/office/drawing/2014/main" id="{D1CE40B8-952A-4811-B636-9C8F7BF008D8}"/>
              </a:ext>
            </a:extLst>
          </p:cNvPr>
          <p:cNvSpPr>
            <a:spLocks xmlns:a="http://schemas.openxmlformats.org/drawingml/2006/main" noGrp="1"/>
          </p:cNvSpPr>
          <p:nvPr/>
        </p:nvSpPr>
        <p:spPr>
          <a:xfrm xmlns:a="http://schemas.openxmlformats.org/drawingml/2006/main">
            <a:off x="609600" y="2533650"/>
            <a:ext cx="5191125"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02A43"/>
                </a:solidFill>
                <a:latin typeface="DejaVu Sans Mono"/>
                <a:ea typeface="DejaVu Sans Mono"/>
                <a:cs typeface="DejaVu Sans Mono"/>
              </a:defRPr>
            </a:defPPr>
            <a:lvl1pPr algn="l">
              <a:defRPr sz="1650" b="0">
                <a:solidFill>
                  <a:srgbClr val="102A43"/>
                </a:solidFill>
                <a:latin typeface="DejaVu Sans Mono"/>
                <a:ea typeface="DejaVu Sans Mono"/>
                <a:cs typeface="DejaVu Sans Mono"/>
              </a:defRPr>
            </a:lvl1pPr>
            <a:lvl2pPr algn="l">
              <a:defRPr sz="1650" b="0">
                <a:solidFill>
                  <a:srgbClr val="102A43"/>
                </a:solidFill>
                <a:latin typeface="DejaVu Sans Mono"/>
                <a:ea typeface="DejaVu Sans Mono"/>
                <a:cs typeface="DejaVu Sans Mono"/>
              </a:defRPr>
            </a:lvl2pPr>
            <a:lvl3pPr algn="l">
              <a:defRPr sz="1650" b="0">
                <a:solidFill>
                  <a:srgbClr val="102A43"/>
                </a:solidFill>
                <a:latin typeface="DejaVu Sans Mono"/>
                <a:ea typeface="DejaVu Sans Mono"/>
                <a:cs typeface="DejaVu Sans Mono"/>
              </a:defRPr>
            </a:lvl3pPr>
            <a:lvl4pPr algn="l">
              <a:defRPr sz="1650" b="0">
                <a:solidFill>
                  <a:srgbClr val="102A43"/>
                </a:solidFill>
                <a:latin typeface="DejaVu Sans Mono"/>
                <a:ea typeface="DejaVu Sans Mono"/>
                <a:cs typeface="DejaVu Sans Mono"/>
              </a:defRPr>
            </a:lvl4pPr>
            <a:lvl5pPr algn="l">
              <a:defRPr sz="1650" b="0">
                <a:solidFill>
                  <a:srgbClr val="102A43"/>
                </a:solidFill>
                <a:latin typeface="DejaVu Sans Mono"/>
                <a:ea typeface="DejaVu Sans Mono"/>
                <a:cs typeface="DejaVu Sans Mono"/>
              </a:defRPr>
            </a:lvl5pPr>
            <a:lvl6pPr algn="l">
              <a:defRPr sz="1650" b="0">
                <a:solidFill>
                  <a:srgbClr val="102A43"/>
                </a:solidFill>
                <a:latin typeface="DejaVu Sans Mono"/>
                <a:ea typeface="DejaVu Sans Mono"/>
                <a:cs typeface="DejaVu Sans Mono"/>
              </a:defRPr>
            </a:lvl6pPr>
            <a:lvl7pPr algn="l">
              <a:defRPr sz="1650" b="0">
                <a:solidFill>
                  <a:srgbClr val="102A43"/>
                </a:solidFill>
                <a:latin typeface="DejaVu Sans Mono"/>
                <a:ea typeface="DejaVu Sans Mono"/>
                <a:cs typeface="DejaVu Sans Mono"/>
              </a:defRPr>
            </a:lvl7pPr>
            <a:lvl8pPr algn="l">
              <a:defRPr sz="1650" b="0">
                <a:solidFill>
                  <a:srgbClr val="102A43"/>
                </a:solidFill>
                <a:latin typeface="DejaVu Sans Mono"/>
                <a:ea typeface="DejaVu Sans Mono"/>
                <a:cs typeface="DejaVu Sans Mono"/>
              </a:defRPr>
            </a:lvl8pPr>
            <a:lvl9pPr algn="l">
              <a:defRPr sz="1650" b="0">
                <a:solidFill>
                  <a:srgbClr val="102A43"/>
                </a:solidFill>
                <a:latin typeface="DejaVu Sans Mono"/>
                <a:ea typeface="DejaVu Sans Mono"/>
                <a:cs typeface="DejaVu Sans Mono"/>
              </a:defRPr>
            </a:lvl9pPr>
          </a:lstStyle>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"source": {</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"fileName": "enrollment.xml",</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"fileType": "XML",</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"profileId": "enrollment-xml-v1",</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"requestCount": 2,</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"recordPath":</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"/employees/employee"</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a:t>
            </a:r>
          </a:p>
        </p:txBody>
      </p:sp>
      <p:sp>
        <p:nvSpPr>
          <p:cNvPr id="7" name="text-83">
            <a:extLst xmlns:a="http://schemas.openxmlformats.org/drawingml/2006/main">
              <a:ext uri="{FF2B5EF4-FFF2-40B4-BE49-F238E27FC236}">
                <a16:creationId xmlns:a16="http://schemas.microsoft.com/office/drawing/2014/main" id="{E1E20709-A712-4114-8DD9-D2624ABCD893}"/>
              </a:ext>
            </a:extLst>
          </p:cNvPr>
          <p:cNvSpPr>
            <a:spLocks xmlns:a="http://schemas.openxmlformats.org/drawingml/2006/main" noGrp="1"/>
          </p:cNvSpPr>
          <p:nvPr/>
        </p:nvSpPr>
        <p:spPr>
          <a:xfrm xmlns:a="http://schemas.openxmlformats.org/drawingml/2006/main">
            <a:off x="6381750" y="2533650"/>
            <a:ext cx="5200650"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02A43"/>
                </a:solidFill>
                <a:latin typeface="DejaVu Sans Mono"/>
                <a:ea typeface="DejaVu Sans Mono"/>
                <a:cs typeface="DejaVu Sans Mono"/>
              </a:defRPr>
            </a:defPPr>
            <a:lvl1pPr algn="l">
              <a:defRPr sz="1650" b="0">
                <a:solidFill>
                  <a:srgbClr val="102A43"/>
                </a:solidFill>
                <a:latin typeface="DejaVu Sans Mono"/>
                <a:ea typeface="DejaVu Sans Mono"/>
                <a:cs typeface="DejaVu Sans Mono"/>
              </a:defRPr>
            </a:lvl1pPr>
            <a:lvl2pPr algn="l">
              <a:defRPr sz="1650" b="0">
                <a:solidFill>
                  <a:srgbClr val="102A43"/>
                </a:solidFill>
                <a:latin typeface="DejaVu Sans Mono"/>
                <a:ea typeface="DejaVu Sans Mono"/>
                <a:cs typeface="DejaVu Sans Mono"/>
              </a:defRPr>
            </a:lvl2pPr>
            <a:lvl3pPr algn="l">
              <a:defRPr sz="1650" b="0">
                <a:solidFill>
                  <a:srgbClr val="102A43"/>
                </a:solidFill>
                <a:latin typeface="DejaVu Sans Mono"/>
                <a:ea typeface="DejaVu Sans Mono"/>
                <a:cs typeface="DejaVu Sans Mono"/>
              </a:defRPr>
            </a:lvl3pPr>
            <a:lvl4pPr algn="l">
              <a:defRPr sz="1650" b="0">
                <a:solidFill>
                  <a:srgbClr val="102A43"/>
                </a:solidFill>
                <a:latin typeface="DejaVu Sans Mono"/>
                <a:ea typeface="DejaVu Sans Mono"/>
                <a:cs typeface="DejaVu Sans Mono"/>
              </a:defRPr>
            </a:lvl4pPr>
            <a:lvl5pPr algn="l">
              <a:defRPr sz="1650" b="0">
                <a:solidFill>
                  <a:srgbClr val="102A43"/>
                </a:solidFill>
                <a:latin typeface="DejaVu Sans Mono"/>
                <a:ea typeface="DejaVu Sans Mono"/>
                <a:cs typeface="DejaVu Sans Mono"/>
              </a:defRPr>
            </a:lvl5pPr>
            <a:lvl6pPr algn="l">
              <a:defRPr sz="1650" b="0">
                <a:solidFill>
                  <a:srgbClr val="102A43"/>
                </a:solidFill>
                <a:latin typeface="DejaVu Sans Mono"/>
                <a:ea typeface="DejaVu Sans Mono"/>
                <a:cs typeface="DejaVu Sans Mono"/>
              </a:defRPr>
            </a:lvl6pPr>
            <a:lvl7pPr algn="l">
              <a:defRPr sz="1650" b="0">
                <a:solidFill>
                  <a:srgbClr val="102A43"/>
                </a:solidFill>
                <a:latin typeface="DejaVu Sans Mono"/>
                <a:ea typeface="DejaVu Sans Mono"/>
                <a:cs typeface="DejaVu Sans Mono"/>
              </a:defRPr>
            </a:lvl7pPr>
            <a:lvl8pPr algn="l">
              <a:defRPr sz="1650" b="0">
                <a:solidFill>
                  <a:srgbClr val="102A43"/>
                </a:solidFill>
                <a:latin typeface="DejaVu Sans Mono"/>
                <a:ea typeface="DejaVu Sans Mono"/>
                <a:cs typeface="DejaVu Sans Mono"/>
              </a:defRPr>
            </a:lvl8pPr>
            <a:lvl9pPr algn="l">
              <a:defRPr sz="1650" b="0">
                <a:solidFill>
                  <a:srgbClr val="102A43"/>
                </a:solidFill>
                <a:latin typeface="DejaVu Sans Mono"/>
                <a:ea typeface="DejaVu Sans Mono"/>
                <a:cs typeface="DejaVu Sans Mono"/>
              </a:defRPr>
            </a:lvl9pPr>
          </a:lstStyle>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enrollment.xml.preview.json</a:t>
            </a:r>
          </a:p>
          <a:p xmlns:a="http://schemas.openxmlformats.org/drawingml/2006/main">
            <a:r>
              <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requests.jsonl</a:t>
            </a:r>
          </a:p>
          <a:p xmlns:a="http://schemas.openxmlformats.org/drawingml/2006/main">
            <a:r>
              <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Named preview:</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source + requests array</a:t>
            </a:r>
          </a:p>
          <a:p xmlns:a="http://schemas.openxmlformats.org/drawingml/2006/main">
            <a:r>
              <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JSON Lines:</a:t>
            </a:r>
          </a:p>
          <a:p xmlns:a="http://schemas.openxmlformats.org/drawingml/2006/main">
            <a:pPr algn="l">
              <a:lnSpc>
                <a:spcPct val="115000"/>
              </a:lnSpc>
              <a:buNone/>
              <a:defRPr sz="1650" b="0">
                <a:solidFill>
                  <a:srgbClr val="102A43"/>
                </a:solidFill>
                <a:latin typeface="DejaVu Sans Mono"/>
                <a:ea typeface="DejaVu Sans Mono"/>
                <a:cs typeface="DejaVu Sans Mono"/>
              </a:defRPr>
            </a:pPr>
            <a:r>
              <a:rPr sz="1650" b="0">
                <a:solidFill>
                  <a:srgbClr val="102A43"/>
                </a:solidFill>
                <a:latin typeface="DejaVu Sans Mono"/>
                <a:ea typeface="DejaVu Sans Mono"/>
                <a:cs typeface="DejaVu Sans Mono"/>
              </a:rPr>
              <a:t>  exact POST-body objects</a:t>
            </a:r>
          </a:p>
        </p:txBody>
      </p:sp>
      <p:sp>
        <p:nvSpPr>
          <p:cNvPr id="8" name="text-84">
            <a:extLst xmlns:a="http://schemas.openxmlformats.org/drawingml/2006/main">
              <a:ext uri="{FF2B5EF4-FFF2-40B4-BE49-F238E27FC236}">
                <a16:creationId xmlns:a16="http://schemas.microsoft.com/office/drawing/2014/main" id="{D3D979FF-DBCB-492A-A3FD-475EAD35AB77}"/>
              </a:ext>
            </a:extLst>
          </p:cNvPr>
          <p:cNvSpPr>
            <a:spLocks xmlns:a="http://schemas.openxmlformats.org/drawingml/2006/main" noGrp="1"/>
          </p:cNvSpPr>
          <p:nvPr/>
        </p:nvSpPr>
        <p:spPr>
          <a:xfrm xmlns:a="http://schemas.openxmlformats.org/drawingml/2006/main">
            <a:off x="609600" y="5981700"/>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778"/>
                </a:solidFill>
                <a:latin typeface="DejaVu Sans"/>
                <a:ea typeface="DejaVu Sans"/>
                <a:cs typeface="DejaVu Sans"/>
              </a:defRPr>
            </a:defPPr>
            <a:lvl1pPr algn="l">
              <a:defRPr sz="1650" b="0">
                <a:solidFill>
                  <a:srgbClr val="526778"/>
                </a:solidFill>
                <a:latin typeface="DejaVu Sans"/>
                <a:ea typeface="DejaVu Sans"/>
                <a:cs typeface="DejaVu Sans"/>
              </a:defRPr>
            </a:lvl1pPr>
            <a:lvl2pPr algn="l">
              <a:defRPr sz="1650" b="0">
                <a:solidFill>
                  <a:srgbClr val="526778"/>
                </a:solidFill>
                <a:latin typeface="DejaVu Sans"/>
                <a:ea typeface="DejaVu Sans"/>
                <a:cs typeface="DejaVu Sans"/>
              </a:defRPr>
            </a:lvl2pPr>
            <a:lvl3pPr algn="l">
              <a:defRPr sz="1650" b="0">
                <a:solidFill>
                  <a:srgbClr val="526778"/>
                </a:solidFill>
                <a:latin typeface="DejaVu Sans"/>
                <a:ea typeface="DejaVu Sans"/>
                <a:cs typeface="DejaVu Sans"/>
              </a:defRPr>
            </a:lvl3pPr>
            <a:lvl4pPr algn="l">
              <a:defRPr sz="1650" b="0">
                <a:solidFill>
                  <a:srgbClr val="526778"/>
                </a:solidFill>
                <a:latin typeface="DejaVu Sans"/>
                <a:ea typeface="DejaVu Sans"/>
                <a:cs typeface="DejaVu Sans"/>
              </a:defRPr>
            </a:lvl4pPr>
            <a:lvl5pPr algn="l">
              <a:defRPr sz="1650" b="0">
                <a:solidFill>
                  <a:srgbClr val="526778"/>
                </a:solidFill>
                <a:latin typeface="DejaVu Sans"/>
                <a:ea typeface="DejaVu Sans"/>
                <a:cs typeface="DejaVu Sans"/>
              </a:defRPr>
            </a:lvl5pPr>
            <a:lvl6pPr algn="l">
              <a:defRPr sz="1650" b="0">
                <a:solidFill>
                  <a:srgbClr val="526778"/>
                </a:solidFill>
                <a:latin typeface="DejaVu Sans"/>
                <a:ea typeface="DejaVu Sans"/>
                <a:cs typeface="DejaVu Sans"/>
              </a:defRPr>
            </a:lvl6pPr>
            <a:lvl7pPr algn="l">
              <a:defRPr sz="1650" b="0">
                <a:solidFill>
                  <a:srgbClr val="526778"/>
                </a:solidFill>
                <a:latin typeface="DejaVu Sans"/>
                <a:ea typeface="DejaVu Sans"/>
                <a:cs typeface="DejaVu Sans"/>
              </a:defRPr>
            </a:lvl7pPr>
            <a:lvl8pPr algn="l">
              <a:defRPr sz="1650" b="0">
                <a:solidFill>
                  <a:srgbClr val="526778"/>
                </a:solidFill>
                <a:latin typeface="DejaVu Sans"/>
                <a:ea typeface="DejaVu Sans"/>
                <a:cs typeface="DejaVu Sans"/>
              </a:defRPr>
            </a:lvl8pPr>
            <a:lvl9pPr algn="l">
              <a:defRPr sz="1650" b="0">
                <a:solidFill>
                  <a:srgbClr val="526778"/>
                </a:solidFill>
                <a:latin typeface="DejaVu Sans"/>
                <a:ea typeface="DejaVu Sans"/>
                <a:cs typeface="DejaVu Sans"/>
              </a:defRPr>
            </a:lvl9pPr>
          </a:lstStyle>
          <a:p xmlns:a="http://schemas.openxmlformats.org/drawingml/2006/main">
            <a:pPr algn="l">
              <a:lnSpc>
                <a:spcPct val="115000"/>
              </a:lnSpc>
              <a:buNone/>
              <a:defRPr sz="1650" b="0">
                <a:solidFill>
                  <a:srgbClr val="526778"/>
                </a:solidFill>
                <a:latin typeface="DejaVu Sans"/>
                <a:ea typeface="DejaVu Sans"/>
                <a:cs typeface="DejaVu Sans"/>
              </a:defRPr>
            </a:pPr>
            <a:r>
              <a:rPr sz="1650" b="0">
                <a:solidFill>
                  <a:srgbClr val="526778"/>
                </a:solidFill>
                <a:latin typeface="DejaVu Sans"/>
                <a:ea typeface="DejaVu Sans"/>
                <a:cs typeface="DejaVu Sans"/>
              </a:rPr>
              <a:t>Existing completed previews gain missing source-labelled artifacts at startup.</a:t>
            </a:r>
          </a:p>
        </p:txBody>
      </p:sp>
    </p:spTree>
    <p:extLst>
      <p:ext uri="{BB962C8B-B14F-4D97-AF65-F5344CB8AC3E}">
        <p14:creationId xmlns:p14="http://schemas.microsoft.com/office/powerpoint/2010/main" val="1716338354"/>
      </p:ext>
    </p:extLst>
  </p:cSld>
</p:sld>
</file>

<file path=ppt/slides/slide1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3E6701B-8478-4C2A-B0CF-1BF010D24B04}"/>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HTTP delivery outcomes</a:t>
            </a:r>
          </a:p>
        </p:txBody>
      </p:sp>
      <p:sp>
        <p:nvSpPr>
          <p:cNvPr id="2" name="text-85">
            <a:extLst xmlns:a="http://schemas.openxmlformats.org/drawingml/2006/main">
              <a:ext uri="{FF2B5EF4-FFF2-40B4-BE49-F238E27FC236}">
                <a16:creationId xmlns:a16="http://schemas.microsoft.com/office/drawing/2014/main" id="{97F2FFCB-60DD-43B8-98D4-AEE41D4BB358}"/>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upsert service owns persistence and its acknowledgement contract.</a:t>
            </a:r>
          </a:p>
        </p:txBody>
      </p:sp>
      <p:sp>
        <p:nvSpPr>
          <p:cNvPr id="3" name="slide-number">
            <a:extLst xmlns:a="http://schemas.openxmlformats.org/drawingml/2006/main">
              <a:ext uri="{FF2B5EF4-FFF2-40B4-BE49-F238E27FC236}">
                <a16:creationId xmlns:a16="http://schemas.microsoft.com/office/drawing/2014/main" id="{B8765A05-BC2D-4A66-B495-1CD503336BAE}"/>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18</a:t>
            </a:r>
          </a:p>
        </p:txBody>
      </p:sp>
      <p:graphicFrame>
        <p:nvGraphicFramePr>
          <p:cNvPr id="4" name="">
            <a:extLst xmlns:a="http://schemas.openxmlformats.org/drawingml/2006/main">
              <a:ext uri="{FF2B5EF4-FFF2-40B4-BE49-F238E27FC236}">
                <a16:creationId xmlns:a16="http://schemas.microsoft.com/office/drawing/2014/main" id="{4611CDE8-C38F-4930-A6A5-86F2F2DBF08F}"/>
              </a:ext>
            </a:extLst>
          </p:cNvPr>
          <p:cNvGraphicFramePr/>
          <p:nvPr/>
        </p:nvGraphicFramePr>
        <p:xfrm>
          <a:off xmlns:a="http://schemas.openxmlformats.org/drawingml/2006/main" x="609600" y="2000250"/>
          <a:ext xmlns:a="http://schemas.openxmlformats.org/drawingml/2006/main" cx="10972800" cy="4171950"/>
        </p:xfrm>
        <a:graphic xmlns:a="http://schemas.openxmlformats.org/drawingml/2006/main">
          <a:graphicData uri="http://schemas.openxmlformats.org/drawingml/2006/table">
            <a:tbl>
              <a:tblPr/>
              <a:tblGrid>
                <a:gridCol w="3571875"/>
                <a:gridCol w="3143250"/>
                <a:gridCol w="4257675"/>
              </a:tblGrid>
              <a:tr h="695325">
                <a:tc>
                  <a:txBody>
                    <a:bodyPr wrap="square" lIns="76200" tIns="76200" rIns="76200" bIns="76200">
                      <a:noAutofit/>
                    </a:bodyPr>
                    <a:lstStyle/>
                    <a:p>
                      <a:r>
                        <a:rPr sz="1800" b="1">
                          <a:solidFill>
                            <a:srgbClr val="FFFFFF"/>
                          </a:solidFill>
                          <a:latin typeface="DejaVu Sans"/>
                          <a:ea typeface="DejaVu Sans"/>
                          <a:cs typeface="DejaVu Sans"/>
                        </a:rPr>
                        <a:t>Response</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Outcome</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Default handling</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200 / 201 / 204</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ACKNOWLEDGED</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Record success and continue</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Other 2xx, including 202</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UNCERTAIN</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Apply replay-safety policy</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408 / 429 / 5xx</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RETRYABLE</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Apply replay-safety policy</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Other HTTP status</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REJECTED</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Fail and quarantine</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Transport failure / timeout</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UNCERTAIN</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Apply replay-safety policy</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Tree>
    <p:extLst>
      <p:ext uri="{BB962C8B-B14F-4D97-AF65-F5344CB8AC3E}">
        <p14:creationId xmlns:p14="http://schemas.microsoft.com/office/powerpoint/2010/main" val="1122149450"/>
      </p:ext>
    </p:extLst>
  </p:cSld>
</p:sld>
</file>

<file path=ppt/slides/slide1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092945-412A-46EB-B9BA-BB2F4582DACB}"/>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Partial success and replay safety</a:t>
            </a:r>
          </a:p>
        </p:txBody>
      </p:sp>
      <p:sp>
        <p:nvSpPr>
          <p:cNvPr id="2" name="text-86">
            <a:extLst xmlns:a="http://schemas.openxmlformats.org/drawingml/2006/main">
              <a:ext uri="{FF2B5EF4-FFF2-40B4-BE49-F238E27FC236}">
                <a16:creationId xmlns:a16="http://schemas.microsoft.com/office/drawing/2014/main" id="{06A31A49-FE8D-4AE5-A43A-10C410F9B162}"/>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A timeout can leave the service result unknown.</a:t>
            </a:r>
          </a:p>
        </p:txBody>
      </p:sp>
      <p:sp>
        <p:nvSpPr>
          <p:cNvPr id="3" name="slide-number">
            <a:extLst xmlns:a="http://schemas.openxmlformats.org/drawingml/2006/main">
              <a:ext uri="{FF2B5EF4-FFF2-40B4-BE49-F238E27FC236}">
                <a16:creationId xmlns:a16="http://schemas.microsoft.com/office/drawing/2014/main" id="{EE3EDFFC-1CED-4AC5-A37D-DBDB55CEF1DA}"/>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19</a:t>
            </a:r>
          </a:p>
        </p:txBody>
      </p:sp>
      <p:graphicFrame>
        <p:nvGraphicFramePr>
          <p:cNvPr id="4" name="">
            <a:extLst xmlns:a="http://schemas.openxmlformats.org/drawingml/2006/main">
              <a:ext uri="{FF2B5EF4-FFF2-40B4-BE49-F238E27FC236}">
                <a16:creationId xmlns:a16="http://schemas.microsoft.com/office/drawing/2014/main" id="{B07F1A5D-C0C1-4C5E-B692-8A5D69BCE19D}"/>
              </a:ext>
            </a:extLst>
          </p:cNvPr>
          <p:cNvGraphicFramePr/>
          <p:nvPr/>
        </p:nvGraphicFramePr>
        <p:xfrm>
          <a:off xmlns:a="http://schemas.openxmlformats.org/drawingml/2006/main" x="609600" y="2000250"/>
          <a:ext xmlns:a="http://schemas.openxmlformats.org/drawingml/2006/main" cx="10972800" cy="3619500"/>
        </p:xfrm>
        <a:graphic xmlns:a="http://schemas.openxmlformats.org/drawingml/2006/main">
          <a:graphicData uri="http://schemas.openxmlformats.org/drawingml/2006/table">
            <a:tbl>
              <a:tblPr/>
              <a:tblGrid>
                <a:gridCol w="1619250"/>
                <a:gridCol w="4476750"/>
                <a:gridCol w="4876800"/>
              </a:tblGrid>
              <a:tr h="904875">
                <a:tc>
                  <a:txBody>
                    <a:bodyPr wrap="square" lIns="76200" tIns="76200" rIns="76200" bIns="76200">
                      <a:noAutofit/>
                    </a:bodyPr>
                    <a:lstStyle/>
                    <a:p>
                      <a:r>
                        <a:rPr sz="1800" b="1">
                          <a:solidFill>
                            <a:srgbClr val="FFFFFF"/>
                          </a:solidFill>
                          <a:latin typeface="DejaVu Sans"/>
                          <a:ea typeface="DejaVu Sans"/>
                          <a:cs typeface="DejaVu Sans"/>
                        </a:rPr>
                        <a:t>Record</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Persisted state</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Next action</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904875">
                <a:tc>
                  <a:txBody>
                    <a:bodyPr wrap="square" lIns="76200" tIns="76200" rIns="76200" bIns="76200">
                      <a:noAutofit/>
                    </a:bodyPr>
                    <a:lstStyle/>
                    <a:p>
                      <a:r>
                        <a:rPr sz="1800" b="0">
                          <a:solidFill>
                            <a:srgbClr val="102A43"/>
                          </a:solidFill>
                          <a:latin typeface="DejaVu Sans"/>
                          <a:ea typeface="DejaVu Sans"/>
                          <a:cs typeface="DejaVu Sans"/>
                        </a:rPr>
                        <a:t>1</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ACKNOWLEDGED</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Skip on recovery/resume</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904875">
                <a:tc>
                  <a:txBody>
                    <a:bodyPr wrap="square" lIns="76200" tIns="76200" rIns="76200" bIns="76200">
                      <a:noAutofit/>
                    </a:bodyPr>
                    <a:lstStyle/>
                    <a:p>
                      <a:r>
                        <a:rPr sz="1800" b="0">
                          <a:solidFill>
                            <a:srgbClr val="102A43"/>
                          </a:solidFill>
                          <a:latin typeface="DejaVu Sans"/>
                          <a:ea typeface="DejaVu Sans"/>
                          <a:cs typeface="DejaVu Sans"/>
                        </a:rPr>
                        <a:t>2</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UNCERTAIN after timeout</a:t>
                      </a:r>
                    </a:p>
                  </a:txBody>
                  <a:tcPr marL="91440" marR="91440" marT="45720" marB="45720" anchor="ctr">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Pause unless replay is safe</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904875">
                <a:tc>
                  <a:txBody>
                    <a:bodyPr wrap="square" lIns="76200" tIns="76200" rIns="76200" bIns="76200">
                      <a:noAutofit/>
                    </a:bodyPr>
                    <a:lstStyle/>
                    <a:p>
                      <a:r>
                        <a:rPr sz="1800" b="0">
                          <a:solidFill>
                            <a:srgbClr val="102A43"/>
                          </a:solidFill>
                          <a:latin typeface="DejaVu Sans"/>
                          <a:ea typeface="DejaVu Sans"/>
                          <a:cs typeface="DejaVu Sans"/>
                        </a:rPr>
                        <a:t>3</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PENDING</a:t>
                      </a:r>
                    </a:p>
                  </a:txBody>
                  <a:tcPr marL="91440" marR="91440" marT="45720" marB="45720" anchor="ctr">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Wait for record 2</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
        <p:nvSpPr>
          <p:cNvPr id="5" name="text-87">
            <a:extLst xmlns:a="http://schemas.openxmlformats.org/drawingml/2006/main">
              <a:ext uri="{FF2B5EF4-FFF2-40B4-BE49-F238E27FC236}">
                <a16:creationId xmlns:a16="http://schemas.microsoft.com/office/drawing/2014/main" id="{977083F0-84DF-4B13-915E-6B62E1D67AB3}"/>
              </a:ext>
            </a:extLst>
          </p:cNvPr>
          <p:cNvSpPr>
            <a:spLocks xmlns:a="http://schemas.openxmlformats.org/drawingml/2006/main" noGrp="1"/>
          </p:cNvSpPr>
          <p:nvPr/>
        </p:nvSpPr>
        <p:spPr>
          <a:xfrm xmlns:a="http://schemas.openxmlformats.org/drawingml/2006/main">
            <a:off x="609600" y="5991225"/>
            <a:ext cx="10572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778"/>
                </a:solidFill>
                <a:latin typeface="DejaVu Sans"/>
                <a:ea typeface="DejaVu Sans"/>
                <a:cs typeface="DejaVu Sans"/>
              </a:defRPr>
            </a:defPPr>
            <a:lvl1pPr algn="l">
              <a:defRPr sz="1650" b="0">
                <a:solidFill>
                  <a:srgbClr val="526778"/>
                </a:solidFill>
                <a:latin typeface="DejaVu Sans"/>
                <a:ea typeface="DejaVu Sans"/>
                <a:cs typeface="DejaVu Sans"/>
              </a:defRPr>
            </a:lvl1pPr>
            <a:lvl2pPr algn="l">
              <a:defRPr sz="1650" b="0">
                <a:solidFill>
                  <a:srgbClr val="526778"/>
                </a:solidFill>
                <a:latin typeface="DejaVu Sans"/>
                <a:ea typeface="DejaVu Sans"/>
                <a:cs typeface="DejaVu Sans"/>
              </a:defRPr>
            </a:lvl2pPr>
            <a:lvl3pPr algn="l">
              <a:defRPr sz="1650" b="0">
                <a:solidFill>
                  <a:srgbClr val="526778"/>
                </a:solidFill>
                <a:latin typeface="DejaVu Sans"/>
                <a:ea typeface="DejaVu Sans"/>
                <a:cs typeface="DejaVu Sans"/>
              </a:defRPr>
            </a:lvl3pPr>
            <a:lvl4pPr algn="l">
              <a:defRPr sz="1650" b="0">
                <a:solidFill>
                  <a:srgbClr val="526778"/>
                </a:solidFill>
                <a:latin typeface="DejaVu Sans"/>
                <a:ea typeface="DejaVu Sans"/>
                <a:cs typeface="DejaVu Sans"/>
              </a:defRPr>
            </a:lvl4pPr>
            <a:lvl5pPr algn="l">
              <a:defRPr sz="1650" b="0">
                <a:solidFill>
                  <a:srgbClr val="526778"/>
                </a:solidFill>
                <a:latin typeface="DejaVu Sans"/>
                <a:ea typeface="DejaVu Sans"/>
                <a:cs typeface="DejaVu Sans"/>
              </a:defRPr>
            </a:lvl5pPr>
            <a:lvl6pPr algn="l">
              <a:defRPr sz="1650" b="0">
                <a:solidFill>
                  <a:srgbClr val="526778"/>
                </a:solidFill>
                <a:latin typeface="DejaVu Sans"/>
                <a:ea typeface="DejaVu Sans"/>
                <a:cs typeface="DejaVu Sans"/>
              </a:defRPr>
            </a:lvl6pPr>
            <a:lvl7pPr algn="l">
              <a:defRPr sz="1650" b="0">
                <a:solidFill>
                  <a:srgbClr val="526778"/>
                </a:solidFill>
                <a:latin typeface="DejaVu Sans"/>
                <a:ea typeface="DejaVu Sans"/>
                <a:cs typeface="DejaVu Sans"/>
              </a:defRPr>
            </a:lvl7pPr>
            <a:lvl8pPr algn="l">
              <a:defRPr sz="1650" b="0">
                <a:solidFill>
                  <a:srgbClr val="526778"/>
                </a:solidFill>
                <a:latin typeface="DejaVu Sans"/>
                <a:ea typeface="DejaVu Sans"/>
                <a:cs typeface="DejaVu Sans"/>
              </a:defRPr>
            </a:lvl8pPr>
            <a:lvl9pPr algn="l">
              <a:defRPr sz="1650" b="0">
                <a:solidFill>
                  <a:srgbClr val="526778"/>
                </a:solidFill>
                <a:latin typeface="DejaVu Sans"/>
                <a:ea typeface="DejaVu Sans"/>
                <a:cs typeface="DejaVu Sans"/>
              </a:defRPr>
            </a:lvl9pPr>
          </a:lstStyle>
          <a:p xmlns:a="http://schemas.openxmlformats.org/drawingml/2006/main">
            <a:pPr algn="l">
              <a:lnSpc>
                <a:spcPct val="115000"/>
              </a:lnSpc>
              <a:buNone/>
              <a:defRPr sz="1650" b="0">
                <a:solidFill>
                  <a:srgbClr val="526778"/>
                </a:solidFill>
                <a:latin typeface="DejaVu Sans"/>
                <a:ea typeface="DejaVu Sans"/>
                <a:cs typeface="DejaVu Sans"/>
              </a:defRPr>
            </a:pPr>
            <a:r>
              <a:rPr sz="1650" b="0">
                <a:solidFill>
                  <a:srgbClr val="526778"/>
                </a:solidFill>
                <a:latin typeface="DejaVu Sans"/>
                <a:ea typeface="DejaVu Sans"/>
                <a:cs typeface="DejaVu Sans"/>
              </a:rPr>
              <a:t>The service must guarantee idempotency. A header alone cannot guarantee it.</a:t>
            </a:r>
          </a:p>
        </p:txBody>
      </p:sp>
    </p:spTree>
    <p:extLst>
      <p:ext uri="{BB962C8B-B14F-4D97-AF65-F5344CB8AC3E}">
        <p14:creationId xmlns:p14="http://schemas.microsoft.com/office/powerpoint/2010/main" val="579205900"/>
      </p:ext>
    </p:extLst>
  </p:cSld>
</p:sld>
</file>

<file path=ppt/slides/slide2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E93EF956-24D9-4DFC-A9B4-CF77F2F7077B}"/>
              </a:ext>
            </a:extLst>
          </p:cNvPr>
          <p:cNvCxnSpPr>
            <a:stCxn xmlns:a="http://schemas.openxmlformats.org/drawingml/2006/main" id="7" idx="2"/>
            <a:endCxn xmlns:a="http://schemas.openxmlformats.org/drawingml/2006/main" id="15" idx="1"/>
          </p:cNvCxnSpPr>
          <p:nvPr/>
        </p:nvCxnSpPr>
        <p:spPr>
          <a:xfrm xmlns:a="http://schemas.openxmlformats.org/drawingml/2006/main">
            <a:off x="8343900" y="3048000"/>
            <a:ext cx="1257300" cy="1595438"/>
          </a:xfrm>
          <a:prstGeom xmlns:a="http://schemas.openxmlformats.org/drawingml/2006/main" prst="bentConnector5">
            <a:avLst>
              <a:gd name="adj1" fmla="val 0"/>
              <a:gd name="adj2" fmla="val 14328"/>
              <a:gd name="adj3" fmla="val 81818"/>
            </a:avLst>
          </a:prstGeom>
          <a:ln xmlns:a="http://schemas.openxmlformats.org/drawingml/2006/main" w="19050">
            <a:solidFill>
              <a:srgbClr val="007F86"/>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719FA85D-76AE-4085-97A7-AD223E0B12E5}"/>
              </a:ext>
            </a:extLst>
          </p:cNvPr>
          <p:cNvCxnSpPr>
            <a:stCxn xmlns:a="http://schemas.openxmlformats.org/drawingml/2006/main" id="6" idx="2"/>
            <a:endCxn xmlns:a="http://schemas.openxmlformats.org/drawingml/2006/main" id="14" idx="0"/>
          </p:cNvCxnSpPr>
          <p:nvPr/>
        </p:nvCxnSpPr>
        <p:spPr>
          <a:xfrm xmlns:a="http://schemas.openxmlformats.org/drawingml/2006/main">
            <a:off x="6096000" y="3048000"/>
            <a:ext cx="0" cy="1238250"/>
          </a:xfrm>
          <a:prstGeom xmlns:a="http://schemas.openxmlformats.org/drawingml/2006/main" prst="straightConnector1">
            <a:avLst/>
          </a:prstGeom>
          <a:ln xmlns:a="http://schemas.openxmlformats.org/drawingml/2006/main" w="19050">
            <a:solidFill>
              <a:srgbClr val="AA4E2D"/>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8F7CC7A5-6FD0-4301-BAC3-EA5BBBAEF980}"/>
              </a:ext>
            </a:extLst>
          </p:cNvPr>
          <p:cNvCxnSpPr>
            <a:stCxn xmlns:a="http://schemas.openxmlformats.org/drawingml/2006/main" id="4" idx="2"/>
            <a:endCxn xmlns:a="http://schemas.openxmlformats.org/drawingml/2006/main" id="13" idx="0"/>
          </p:cNvCxnSpPr>
          <p:nvPr/>
        </p:nvCxnSpPr>
        <p:spPr>
          <a:xfrm xmlns:a="http://schemas.openxmlformats.org/drawingml/2006/main">
            <a:off x="1600200" y="3048000"/>
            <a:ext cx="0" cy="1238250"/>
          </a:xfrm>
          <a:prstGeom xmlns:a="http://schemas.openxmlformats.org/drawingml/2006/main" prst="straightConnector1">
            <a:avLst/>
          </a:prstGeom>
          <a:ln xmlns:a="http://schemas.openxmlformats.org/drawingml/2006/main" w="19050">
            <a:solidFill>
              <a:srgbClr val="AA4E2D"/>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9E45C494-399F-4337-A3AF-1D57B25E35B1}"/>
              </a:ext>
            </a:extLst>
          </p:cNvPr>
          <p:cNvCxnSpPr>
            <a:stCxn xmlns:a="http://schemas.openxmlformats.org/drawingml/2006/main" id="7" idx="3"/>
            <a:endCxn xmlns:a="http://schemas.openxmlformats.org/drawingml/2006/main" id="8" idx="1"/>
          </p:cNvCxnSpPr>
          <p:nvPr/>
        </p:nvCxnSpPr>
        <p:spPr>
          <a:xfrm xmlns:a="http://schemas.openxmlformats.org/drawingml/2006/main">
            <a:off x="9334500" y="2690813"/>
            <a:ext cx="26670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6640F2AF-1E6E-4F6A-A2BB-189299FBA90C}"/>
              </a:ext>
            </a:extLst>
          </p:cNvPr>
          <p:cNvCxnSpPr>
            <a:stCxn xmlns:a="http://schemas.openxmlformats.org/drawingml/2006/main" id="6" idx="3"/>
            <a:endCxn xmlns:a="http://schemas.openxmlformats.org/drawingml/2006/main" id="7" idx="1"/>
          </p:cNvCxnSpPr>
          <p:nvPr/>
        </p:nvCxnSpPr>
        <p:spPr>
          <a:xfrm xmlns:a="http://schemas.openxmlformats.org/drawingml/2006/main">
            <a:off x="7086600" y="2690813"/>
            <a:ext cx="26670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9AE884BD-ED25-4924-845A-87C37C76CD8D}"/>
              </a:ext>
            </a:extLst>
          </p:cNvPr>
          <p:cNvCxnSpPr>
            <a:stCxn xmlns:a="http://schemas.openxmlformats.org/drawingml/2006/main" id="5" idx="3"/>
            <a:endCxn xmlns:a="http://schemas.openxmlformats.org/drawingml/2006/main" id="6" idx="1"/>
          </p:cNvCxnSpPr>
          <p:nvPr/>
        </p:nvCxnSpPr>
        <p:spPr>
          <a:xfrm xmlns:a="http://schemas.openxmlformats.org/drawingml/2006/main">
            <a:off x="4838700" y="2690813"/>
            <a:ext cx="26670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7046DCAC-A4FD-4D89-93AA-EAED0552685A}"/>
              </a:ext>
            </a:extLst>
          </p:cNvPr>
          <p:cNvCxnSpPr>
            <a:stCxn xmlns:a="http://schemas.openxmlformats.org/drawingml/2006/main" id="4" idx="3"/>
            <a:endCxn xmlns:a="http://schemas.openxmlformats.org/drawingml/2006/main" id="5" idx="1"/>
          </p:cNvCxnSpPr>
          <p:nvPr/>
        </p:nvCxnSpPr>
        <p:spPr>
          <a:xfrm xmlns:a="http://schemas.openxmlformats.org/drawingml/2006/main">
            <a:off x="2590800" y="2690813"/>
            <a:ext cx="266700" cy="0"/>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sp>
        <p:nvSpPr>
          <p:cNvPr id="24" name="slide-title">
            <a:extLst xmlns:a="http://schemas.openxmlformats.org/drawingml/2006/main">
              <a:ext uri="{FF2B5EF4-FFF2-40B4-BE49-F238E27FC236}">
                <a16:creationId xmlns:a16="http://schemas.microsoft.com/office/drawing/2014/main" id="{BF83286D-85BA-4BCF-B55E-F7691F7AE0DA}"/>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Processing states and recovery</a:t>
            </a:r>
          </a:p>
        </p:txBody>
      </p:sp>
      <p:sp>
        <p:nvSpPr>
          <p:cNvPr id="2" name="text-88">
            <a:extLst xmlns:a="http://schemas.openxmlformats.org/drawingml/2006/main">
              <a:ext uri="{FF2B5EF4-FFF2-40B4-BE49-F238E27FC236}">
                <a16:creationId xmlns:a16="http://schemas.microsoft.com/office/drawing/2014/main" id="{62F834FD-9C3C-4D8F-906A-4FA20BF5B070}"/>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File state and per-request state serve different purposes.</a:t>
            </a:r>
          </a:p>
        </p:txBody>
      </p:sp>
      <p:sp>
        <p:nvSpPr>
          <p:cNvPr id="3" name="slide-number">
            <a:extLst xmlns:a="http://schemas.openxmlformats.org/drawingml/2006/main">
              <a:ext uri="{FF2B5EF4-FFF2-40B4-BE49-F238E27FC236}">
                <a16:creationId xmlns:a16="http://schemas.microsoft.com/office/drawing/2014/main" id="{C445F650-28B2-4459-86E0-BA97998763A8}"/>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20</a:t>
            </a:r>
          </a:p>
        </p:txBody>
      </p:sp>
      <p:sp>
        <p:nvSpPr>
          <p:cNvPr id="4" name="node-89">
            <a:extLst xmlns:a="http://schemas.openxmlformats.org/drawingml/2006/main">
              <a:ext uri="{FF2B5EF4-FFF2-40B4-BE49-F238E27FC236}">
                <a16:creationId xmlns:a16="http://schemas.microsoft.com/office/drawing/2014/main" id="{ADDACCC3-AA53-419D-9C8E-88EC2F8AF5A1}"/>
              </a:ext>
            </a:extLst>
          </p:cNvPr>
          <p:cNvSpPr>
            <a:spLocks xmlns:a="http://schemas.openxmlformats.org/drawingml/2006/main" noGrp="1"/>
          </p:cNvSpPr>
          <p:nvPr/>
        </p:nvSpPr>
        <p:spPr>
          <a:xfrm xmlns:a="http://schemas.openxmlformats.org/drawingml/2006/main">
            <a:off x="609600" y="2333625"/>
            <a:ext cx="1981200" cy="714375"/>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STAGING</a:t>
            </a:r>
          </a:p>
        </p:txBody>
      </p:sp>
      <p:sp>
        <p:nvSpPr>
          <p:cNvPr id="5" name="node-90">
            <a:extLst xmlns:a="http://schemas.openxmlformats.org/drawingml/2006/main">
              <a:ext uri="{FF2B5EF4-FFF2-40B4-BE49-F238E27FC236}">
                <a16:creationId xmlns:a16="http://schemas.microsoft.com/office/drawing/2014/main" id="{031F2FAF-AF59-4C0A-A650-07B4F371CF64}"/>
              </a:ext>
            </a:extLst>
          </p:cNvPr>
          <p:cNvSpPr>
            <a:spLocks xmlns:a="http://schemas.openxmlformats.org/drawingml/2006/main" noGrp="1"/>
          </p:cNvSpPr>
          <p:nvPr/>
        </p:nvSpPr>
        <p:spPr>
          <a:xfrm xmlns:a="http://schemas.openxmlformats.org/drawingml/2006/main">
            <a:off x="2857500" y="2333625"/>
            <a:ext cx="1981200" cy="714375"/>
          </a:xfrm>
          <a:prstGeom xmlns:a="http://schemas.openxmlformats.org/drawingml/2006/main" prst="rect">
            <a:avLst/>
          </a:prstGeom>
          <a:solidFill xmlns:a="http://schemas.openxmlformats.org/drawingml/2006/main">
            <a:srgbClr val="E4F2F1"/>
          </a:solidFill>
          <a:ln xmlns:a="http://schemas.openxmlformats.org/drawingml/2006/main" w="15240">
            <a:solidFill>
              <a:srgbClr val="007F8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02A43"/>
                </a:solidFill>
                <a:latin typeface="DejaVu Sans"/>
                <a:ea typeface="DejaVu Sans"/>
                <a:cs typeface="DejaVu Sans"/>
              </a:defRPr>
            </a:defPPr>
            <a:lvl1pPr algn="ctr">
              <a:defRPr sz="1800" b="1">
                <a:solidFill>
                  <a:srgbClr val="102A43"/>
                </a:solidFill>
                <a:latin typeface="DejaVu Sans"/>
                <a:ea typeface="DejaVu Sans"/>
                <a:cs typeface="DejaVu Sans"/>
              </a:defRPr>
            </a:lvl1pPr>
            <a:lvl2pPr algn="ctr">
              <a:defRPr sz="1800" b="1">
                <a:solidFill>
                  <a:srgbClr val="102A43"/>
                </a:solidFill>
                <a:latin typeface="DejaVu Sans"/>
                <a:ea typeface="DejaVu Sans"/>
                <a:cs typeface="DejaVu Sans"/>
              </a:defRPr>
            </a:lvl2pPr>
            <a:lvl3pPr algn="ctr">
              <a:defRPr sz="1800" b="1">
                <a:solidFill>
                  <a:srgbClr val="102A43"/>
                </a:solidFill>
                <a:latin typeface="DejaVu Sans"/>
                <a:ea typeface="DejaVu Sans"/>
                <a:cs typeface="DejaVu Sans"/>
              </a:defRPr>
            </a:lvl3pPr>
            <a:lvl4pPr algn="ctr">
              <a:defRPr sz="1800" b="1">
                <a:solidFill>
                  <a:srgbClr val="102A43"/>
                </a:solidFill>
                <a:latin typeface="DejaVu Sans"/>
                <a:ea typeface="DejaVu Sans"/>
                <a:cs typeface="DejaVu Sans"/>
              </a:defRPr>
            </a:lvl4pPr>
            <a:lvl5pPr algn="ctr">
              <a:defRPr sz="1800" b="1">
                <a:solidFill>
                  <a:srgbClr val="102A43"/>
                </a:solidFill>
                <a:latin typeface="DejaVu Sans"/>
                <a:ea typeface="DejaVu Sans"/>
                <a:cs typeface="DejaVu Sans"/>
              </a:defRPr>
            </a:lvl5pPr>
            <a:lvl6pPr algn="ctr">
              <a:defRPr sz="1800" b="1">
                <a:solidFill>
                  <a:srgbClr val="102A43"/>
                </a:solidFill>
                <a:latin typeface="DejaVu Sans"/>
                <a:ea typeface="DejaVu Sans"/>
                <a:cs typeface="DejaVu Sans"/>
              </a:defRPr>
            </a:lvl6pPr>
            <a:lvl7pPr algn="ctr">
              <a:defRPr sz="1800" b="1">
                <a:solidFill>
                  <a:srgbClr val="102A43"/>
                </a:solidFill>
                <a:latin typeface="DejaVu Sans"/>
                <a:ea typeface="DejaVu Sans"/>
                <a:cs typeface="DejaVu Sans"/>
              </a:defRPr>
            </a:lvl7pPr>
            <a:lvl8pPr algn="ctr">
              <a:defRPr sz="1800" b="1">
                <a:solidFill>
                  <a:srgbClr val="102A43"/>
                </a:solidFill>
                <a:latin typeface="DejaVu Sans"/>
                <a:ea typeface="DejaVu Sans"/>
                <a:cs typeface="DejaVu Sans"/>
              </a:defRPr>
            </a:lvl8pPr>
            <a:lvl9pPr algn="ctr">
              <a:defRPr sz="1800" b="1">
                <a:solidFill>
                  <a:srgbClr val="102A43"/>
                </a:solidFill>
                <a:latin typeface="DejaVu Sans"/>
                <a:ea typeface="DejaVu Sans"/>
                <a:cs typeface="DejaVu Sans"/>
              </a:defRPr>
            </a:lvl9pPr>
          </a:lstStyle>
          <a:p xmlns:a="http://schemas.openxmlformats.org/drawingml/2006/main">
            <a:pPr algn="ctr">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READY</a:t>
            </a:r>
          </a:p>
        </p:txBody>
      </p:sp>
      <p:sp>
        <p:nvSpPr>
          <p:cNvPr id="6" name="node-91">
            <a:extLst xmlns:a="http://schemas.openxmlformats.org/drawingml/2006/main">
              <a:ext uri="{FF2B5EF4-FFF2-40B4-BE49-F238E27FC236}">
                <a16:creationId xmlns:a16="http://schemas.microsoft.com/office/drawing/2014/main" id="{090EC816-926B-49F6-B616-98C3AC3321C4}"/>
              </a:ext>
            </a:extLst>
          </p:cNvPr>
          <p:cNvSpPr>
            <a:spLocks xmlns:a="http://schemas.openxmlformats.org/drawingml/2006/main" noGrp="1"/>
          </p:cNvSpPr>
          <p:nvPr/>
        </p:nvSpPr>
        <p:spPr>
          <a:xfrm xmlns:a="http://schemas.openxmlformats.org/drawingml/2006/main">
            <a:off x="5105400" y="2333625"/>
            <a:ext cx="1981200" cy="714375"/>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DELIVERING</a:t>
            </a:r>
          </a:p>
        </p:txBody>
      </p:sp>
      <p:sp>
        <p:nvSpPr>
          <p:cNvPr id="7" name="node-92">
            <a:extLst xmlns:a="http://schemas.openxmlformats.org/drawingml/2006/main">
              <a:ext uri="{FF2B5EF4-FFF2-40B4-BE49-F238E27FC236}">
                <a16:creationId xmlns:a16="http://schemas.microsoft.com/office/drawing/2014/main" id="{C27BAADF-19AC-4930-A927-075BFBBD6C35}"/>
              </a:ext>
            </a:extLst>
          </p:cNvPr>
          <p:cNvSpPr>
            <a:spLocks xmlns:a="http://schemas.openxmlformats.org/drawingml/2006/main" noGrp="1"/>
          </p:cNvSpPr>
          <p:nvPr/>
        </p:nvSpPr>
        <p:spPr>
          <a:xfrm xmlns:a="http://schemas.openxmlformats.org/drawingml/2006/main">
            <a:off x="7353300" y="2333625"/>
            <a:ext cx="1981200" cy="714375"/>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FINALIZING</a:t>
            </a:r>
          </a:p>
        </p:txBody>
      </p:sp>
      <p:sp>
        <p:nvSpPr>
          <p:cNvPr id="8" name="node-93">
            <a:extLst xmlns:a="http://schemas.openxmlformats.org/drawingml/2006/main">
              <a:ext uri="{FF2B5EF4-FFF2-40B4-BE49-F238E27FC236}">
                <a16:creationId xmlns:a16="http://schemas.microsoft.com/office/drawing/2014/main" id="{5E0B0884-39C1-4652-B2FB-E70B127F2BE5}"/>
              </a:ext>
            </a:extLst>
          </p:cNvPr>
          <p:cNvSpPr>
            <a:spLocks xmlns:a="http://schemas.openxmlformats.org/drawingml/2006/main" noGrp="1"/>
          </p:cNvSpPr>
          <p:nvPr/>
        </p:nvSpPr>
        <p:spPr>
          <a:xfrm xmlns:a="http://schemas.openxmlformats.org/drawingml/2006/main">
            <a:off x="9601200" y="2333625"/>
            <a:ext cx="1981200" cy="714375"/>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COMPLETED</a:t>
            </a:r>
          </a:p>
        </p:txBody>
      </p:sp>
      <p:sp>
        <p:nvSpPr>
          <p:cNvPr id="13" name="node-94">
            <a:extLst xmlns:a="http://schemas.openxmlformats.org/drawingml/2006/main">
              <a:ext uri="{FF2B5EF4-FFF2-40B4-BE49-F238E27FC236}">
                <a16:creationId xmlns:a16="http://schemas.microsoft.com/office/drawing/2014/main" id="{B27DEE29-94B7-45B2-B6E8-BF44714A459E}"/>
              </a:ext>
            </a:extLst>
          </p:cNvPr>
          <p:cNvSpPr>
            <a:spLocks xmlns:a="http://schemas.openxmlformats.org/drawingml/2006/main" noGrp="1"/>
          </p:cNvSpPr>
          <p:nvPr/>
        </p:nvSpPr>
        <p:spPr>
          <a:xfrm xmlns:a="http://schemas.openxmlformats.org/drawingml/2006/main">
            <a:off x="609600" y="4286250"/>
            <a:ext cx="1981200" cy="714375"/>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FAILED</a:t>
            </a:r>
          </a:p>
        </p:txBody>
      </p:sp>
      <p:sp>
        <p:nvSpPr>
          <p:cNvPr id="14" name="node-95">
            <a:extLst xmlns:a="http://schemas.openxmlformats.org/drawingml/2006/main">
              <a:ext uri="{FF2B5EF4-FFF2-40B4-BE49-F238E27FC236}">
                <a16:creationId xmlns:a16="http://schemas.microsoft.com/office/drawing/2014/main" id="{20F41B50-3117-4BD9-A1BB-A92534F74A54}"/>
              </a:ext>
            </a:extLst>
          </p:cNvPr>
          <p:cNvSpPr>
            <a:spLocks xmlns:a="http://schemas.openxmlformats.org/drawingml/2006/main" noGrp="1"/>
          </p:cNvSpPr>
          <p:nvPr/>
        </p:nvSpPr>
        <p:spPr>
          <a:xfrm xmlns:a="http://schemas.openxmlformats.org/drawingml/2006/main">
            <a:off x="5105400" y="4286250"/>
            <a:ext cx="1981200" cy="714375"/>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PAUSED</a:t>
            </a:r>
          </a:p>
        </p:txBody>
      </p:sp>
      <p:sp>
        <p:nvSpPr>
          <p:cNvPr id="15" name="node-96">
            <a:extLst xmlns:a="http://schemas.openxmlformats.org/drawingml/2006/main">
              <a:ext uri="{FF2B5EF4-FFF2-40B4-BE49-F238E27FC236}">
                <a16:creationId xmlns:a16="http://schemas.microsoft.com/office/drawing/2014/main" id="{E27B2973-D017-41BD-8AE0-1691AB8E9332}"/>
              </a:ext>
            </a:extLst>
          </p:cNvPr>
          <p:cNvSpPr>
            <a:spLocks xmlns:a="http://schemas.openxmlformats.org/drawingml/2006/main" noGrp="1"/>
          </p:cNvSpPr>
          <p:nvPr/>
        </p:nvSpPr>
        <p:spPr>
          <a:xfrm xmlns:a="http://schemas.openxmlformats.org/drawingml/2006/main">
            <a:off x="9601200" y="4286250"/>
            <a:ext cx="1981200" cy="714375"/>
          </a:xfrm>
          <a:prstGeom xmlns:a="http://schemas.openxmlformats.org/drawingml/2006/main" prst="rect">
            <a:avLst/>
          </a:prstGeom>
          <a:solidFill xmlns:a="http://schemas.openxmlformats.org/drawingml/2006/main">
            <a:srgbClr val="FFFFFF"/>
          </a:solidFill>
          <a:ln xmlns:a="http://schemas.openxmlformats.org/drawingml/2006/main" w="15240">
            <a:solidFill>
              <a:srgbClr val="849AA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02A43"/>
                </a:solidFill>
                <a:latin typeface="DejaVu Sans"/>
                <a:ea typeface="DejaVu Sans"/>
                <a:cs typeface="DejaVu Sans"/>
              </a:defRPr>
            </a:defPPr>
            <a:lvl1pPr algn="ctr">
              <a:defRPr sz="1800" b="0">
                <a:solidFill>
                  <a:srgbClr val="102A43"/>
                </a:solidFill>
                <a:latin typeface="DejaVu Sans"/>
                <a:ea typeface="DejaVu Sans"/>
                <a:cs typeface="DejaVu Sans"/>
              </a:defRPr>
            </a:lvl1pPr>
            <a:lvl2pPr algn="ctr">
              <a:defRPr sz="1800" b="0">
                <a:solidFill>
                  <a:srgbClr val="102A43"/>
                </a:solidFill>
                <a:latin typeface="DejaVu Sans"/>
                <a:ea typeface="DejaVu Sans"/>
                <a:cs typeface="DejaVu Sans"/>
              </a:defRPr>
            </a:lvl2pPr>
            <a:lvl3pPr algn="ctr">
              <a:defRPr sz="1800" b="0">
                <a:solidFill>
                  <a:srgbClr val="102A43"/>
                </a:solidFill>
                <a:latin typeface="DejaVu Sans"/>
                <a:ea typeface="DejaVu Sans"/>
                <a:cs typeface="DejaVu Sans"/>
              </a:defRPr>
            </a:lvl3pPr>
            <a:lvl4pPr algn="ctr">
              <a:defRPr sz="1800" b="0">
                <a:solidFill>
                  <a:srgbClr val="102A43"/>
                </a:solidFill>
                <a:latin typeface="DejaVu Sans"/>
                <a:ea typeface="DejaVu Sans"/>
                <a:cs typeface="DejaVu Sans"/>
              </a:defRPr>
            </a:lvl4pPr>
            <a:lvl5pPr algn="ctr">
              <a:defRPr sz="1800" b="0">
                <a:solidFill>
                  <a:srgbClr val="102A43"/>
                </a:solidFill>
                <a:latin typeface="DejaVu Sans"/>
                <a:ea typeface="DejaVu Sans"/>
                <a:cs typeface="DejaVu Sans"/>
              </a:defRPr>
            </a:lvl5pPr>
            <a:lvl6pPr algn="ctr">
              <a:defRPr sz="1800" b="0">
                <a:solidFill>
                  <a:srgbClr val="102A43"/>
                </a:solidFill>
                <a:latin typeface="DejaVu Sans"/>
                <a:ea typeface="DejaVu Sans"/>
                <a:cs typeface="DejaVu Sans"/>
              </a:defRPr>
            </a:lvl6pPr>
            <a:lvl7pPr algn="ctr">
              <a:defRPr sz="1800" b="0">
                <a:solidFill>
                  <a:srgbClr val="102A43"/>
                </a:solidFill>
                <a:latin typeface="DejaVu Sans"/>
                <a:ea typeface="DejaVu Sans"/>
                <a:cs typeface="DejaVu Sans"/>
              </a:defRPr>
            </a:lvl7pPr>
            <a:lvl8pPr algn="ctr">
              <a:defRPr sz="1800" b="0">
                <a:solidFill>
                  <a:srgbClr val="102A43"/>
                </a:solidFill>
                <a:latin typeface="DejaVu Sans"/>
                <a:ea typeface="DejaVu Sans"/>
                <a:cs typeface="DejaVu Sans"/>
              </a:defRPr>
            </a:lvl8pPr>
            <a:lvl9pPr algn="ctr">
              <a:defRPr sz="1800" b="0">
                <a:solidFill>
                  <a:srgbClr val="102A43"/>
                </a:solidFill>
                <a:latin typeface="DejaVu Sans"/>
                <a:ea typeface="DejaVu Sans"/>
                <a:cs typeface="DejaVu Sans"/>
              </a:defRPr>
            </a:lvl9pPr>
          </a:lstStyle>
          <a:p xmlns:a="http://schemas.openxmlformats.org/drawingml/2006/main">
            <a:pPr algn="ctr">
              <a:defRPr sz="1800" b="0">
                <a:solidFill>
                  <a:srgbClr val="102A43"/>
                </a:solidFill>
                <a:latin typeface="DejaVu Sans"/>
                <a:ea typeface="DejaVu Sans"/>
                <a:cs typeface="DejaVu Sans"/>
              </a:defRPr>
            </a:pPr>
            <a:r>
              <a:rPr sz="1800" b="0">
                <a:solidFill>
                  <a:srgbClr val="102A43"/>
                </a:solidFill>
                <a:latin typeface="DejaVu Sans"/>
                <a:ea typeface="DejaVu Sans"/>
                <a:cs typeface="DejaVu Sans"/>
              </a:rPr>
              <a:t>PREVIEWED</a:t>
            </a:r>
          </a:p>
        </p:txBody>
      </p:sp>
      <p:sp>
        <p:nvSpPr>
          <p:cNvPr id="19" name="">
            <a:extLst xmlns:a="http://schemas.openxmlformats.org/drawingml/2006/main">
              <a:ext uri="{FF2B5EF4-FFF2-40B4-BE49-F238E27FC236}">
                <a16:creationId xmlns:a16="http://schemas.microsoft.com/office/drawing/2014/main" id="{64AD2050-C95F-4C8D-8DA5-E1DCDA807D4A}"/>
              </a:ext>
            </a:extLst>
          </p:cNvPr>
          <p:cNvSpPr>
            <a:spLocks xmlns:a="http://schemas.openxmlformats.org/drawingml/2006/main" noGrp="1"/>
          </p:cNvSpPr>
          <p:nvPr/>
        </p:nvSpPr>
        <p:spPr>
          <a:xfrm xmlns:a="http://schemas.openxmlformats.org/drawingml/2006/main">
            <a:off x="3848100" y="2095500"/>
            <a:ext cx="0" cy="238125"/>
          </a:xfrm>
          <a:prstGeom xmlns:a="http://schemas.openxmlformats.org/drawingml/2006/main" prst="line">
            <a:avLst/>
          </a:prstGeom>
          <a:noFill xmlns:a="http://schemas.openxmlformats.org/drawingml/2006/main"/>
          <a:ln xmlns:a="http://schemas.openxmlformats.org/drawingml/2006/main" w="19050">
            <a:solidFill>
              <a:srgbClr val="007F86"/>
            </a:solidFill>
            <a:prstDash val="solid"/>
          </a:ln>
        </p:spPr>
      </p:sp>
      <p:sp>
        <p:nvSpPr>
          <p:cNvPr id="20" name="">
            <a:extLst xmlns:a="http://schemas.openxmlformats.org/drawingml/2006/main">
              <a:ext uri="{FF2B5EF4-FFF2-40B4-BE49-F238E27FC236}">
                <a16:creationId xmlns:a16="http://schemas.microsoft.com/office/drawing/2014/main" id="{3E637C4C-E62F-4CCF-8078-B382AAEA4AD1}"/>
              </a:ext>
            </a:extLst>
          </p:cNvPr>
          <p:cNvSpPr>
            <a:spLocks xmlns:a="http://schemas.openxmlformats.org/drawingml/2006/main" noGrp="1"/>
          </p:cNvSpPr>
          <p:nvPr/>
        </p:nvSpPr>
        <p:spPr>
          <a:xfrm xmlns:a="http://schemas.openxmlformats.org/drawingml/2006/main">
            <a:off x="3848100" y="2095500"/>
            <a:ext cx="4495800" cy="0"/>
          </a:xfrm>
          <a:prstGeom xmlns:a="http://schemas.openxmlformats.org/drawingml/2006/main" prst="line">
            <a:avLst/>
          </a:prstGeom>
          <a:noFill xmlns:a="http://schemas.openxmlformats.org/drawingml/2006/main"/>
          <a:ln xmlns:a="http://schemas.openxmlformats.org/drawingml/2006/main" w="19050">
            <a:solidFill>
              <a:srgbClr val="007F86"/>
            </a:solidFill>
            <a:prstDash val="solid"/>
          </a:ln>
        </p:spPr>
      </p:sp>
      <p:cxnSp>
        <p:nvCxnSpPr>
          <p:cNvPr id="21" name="">
            <a:extLst xmlns:a="http://schemas.openxmlformats.org/drawingml/2006/main">
              <a:ext uri="{FF2B5EF4-FFF2-40B4-BE49-F238E27FC236}">
                <a16:creationId xmlns:a16="http://schemas.microsoft.com/office/drawing/2014/main" id="{73A8BE61-890C-4170-B110-804D05C7B7E3}"/>
              </a:ext>
            </a:extLst>
          </p:cNvPr>
          <p:cNvCxnSpPr/>
          <p:nvPr/>
        </p:nvCxnSpPr>
        <p:spPr>
          <a:xfrm xmlns:a="http://schemas.openxmlformats.org/drawingml/2006/main">
            <a:off x="8343900" y="2095500"/>
            <a:ext cx="0" cy="238125"/>
          </a:xfrm>
          <a:prstGeom xmlns:a="http://schemas.openxmlformats.org/drawingml/2006/main" prst="straightConnector1">
            <a:avLst/>
          </a:prstGeom>
          <a:ln xmlns:a="http://schemas.openxmlformats.org/drawingml/2006/main" w="19050">
            <a:solidFill>
              <a:srgbClr val="007F86"/>
            </a:solidFill>
            <a:prstDash val="solid"/>
            <a:tailEnd type="triangle" w="sm" len="sm"/>
          </a:ln>
        </p:spPr>
      </p:cxnSp>
      <p:sp>
        <p:nvSpPr>
          <p:cNvPr id="22" name="text-97">
            <a:extLst xmlns:a="http://schemas.openxmlformats.org/drawingml/2006/main">
              <a:ext uri="{FF2B5EF4-FFF2-40B4-BE49-F238E27FC236}">
                <a16:creationId xmlns:a16="http://schemas.microsoft.com/office/drawing/2014/main" id="{A9D24639-B726-4040-ACB0-0F4A716D97A2}"/>
              </a:ext>
            </a:extLst>
          </p:cNvPr>
          <p:cNvSpPr>
            <a:spLocks xmlns:a="http://schemas.openxmlformats.org/drawingml/2006/main" noGrp="1"/>
          </p:cNvSpPr>
          <p:nvPr/>
        </p:nvSpPr>
        <p:spPr>
          <a:xfrm xmlns:a="http://schemas.openxmlformats.org/drawingml/2006/main">
            <a:off x="4057650" y="1743075"/>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007F86"/>
                </a:solidFill>
                <a:latin typeface="DejaVu Sans"/>
                <a:ea typeface="DejaVu Sans"/>
                <a:cs typeface="DejaVu Sans"/>
              </a:defRPr>
            </a:defPPr>
            <a:lvl1pPr algn="ctr">
              <a:defRPr sz="1650" b="0">
                <a:solidFill>
                  <a:srgbClr val="007F86"/>
                </a:solidFill>
                <a:latin typeface="DejaVu Sans"/>
                <a:ea typeface="DejaVu Sans"/>
                <a:cs typeface="DejaVu Sans"/>
              </a:defRPr>
            </a:lvl1pPr>
            <a:lvl2pPr algn="ctr">
              <a:defRPr sz="1650" b="0">
                <a:solidFill>
                  <a:srgbClr val="007F86"/>
                </a:solidFill>
                <a:latin typeface="DejaVu Sans"/>
                <a:ea typeface="DejaVu Sans"/>
                <a:cs typeface="DejaVu Sans"/>
              </a:defRPr>
            </a:lvl2pPr>
            <a:lvl3pPr algn="ctr">
              <a:defRPr sz="1650" b="0">
                <a:solidFill>
                  <a:srgbClr val="007F86"/>
                </a:solidFill>
                <a:latin typeface="DejaVu Sans"/>
                <a:ea typeface="DejaVu Sans"/>
                <a:cs typeface="DejaVu Sans"/>
              </a:defRPr>
            </a:lvl3pPr>
            <a:lvl4pPr algn="ctr">
              <a:defRPr sz="1650" b="0">
                <a:solidFill>
                  <a:srgbClr val="007F86"/>
                </a:solidFill>
                <a:latin typeface="DejaVu Sans"/>
                <a:ea typeface="DejaVu Sans"/>
                <a:cs typeface="DejaVu Sans"/>
              </a:defRPr>
            </a:lvl4pPr>
            <a:lvl5pPr algn="ctr">
              <a:defRPr sz="1650" b="0">
                <a:solidFill>
                  <a:srgbClr val="007F86"/>
                </a:solidFill>
                <a:latin typeface="DejaVu Sans"/>
                <a:ea typeface="DejaVu Sans"/>
                <a:cs typeface="DejaVu Sans"/>
              </a:defRPr>
            </a:lvl5pPr>
            <a:lvl6pPr algn="ctr">
              <a:defRPr sz="1650" b="0">
                <a:solidFill>
                  <a:srgbClr val="007F86"/>
                </a:solidFill>
                <a:latin typeface="DejaVu Sans"/>
                <a:ea typeface="DejaVu Sans"/>
                <a:cs typeface="DejaVu Sans"/>
              </a:defRPr>
            </a:lvl6pPr>
            <a:lvl7pPr algn="ctr">
              <a:defRPr sz="1650" b="0">
                <a:solidFill>
                  <a:srgbClr val="007F86"/>
                </a:solidFill>
                <a:latin typeface="DejaVu Sans"/>
                <a:ea typeface="DejaVu Sans"/>
                <a:cs typeface="DejaVu Sans"/>
              </a:defRPr>
            </a:lvl7pPr>
            <a:lvl8pPr algn="ctr">
              <a:defRPr sz="1650" b="0">
                <a:solidFill>
                  <a:srgbClr val="007F86"/>
                </a:solidFill>
                <a:latin typeface="DejaVu Sans"/>
                <a:ea typeface="DejaVu Sans"/>
                <a:cs typeface="DejaVu Sans"/>
              </a:defRPr>
            </a:lvl8pPr>
            <a:lvl9pPr algn="ctr">
              <a:defRPr sz="1650" b="0">
                <a:solidFill>
                  <a:srgbClr val="007F86"/>
                </a:solidFill>
                <a:latin typeface="DejaVu Sans"/>
                <a:ea typeface="DejaVu Sans"/>
                <a:cs typeface="DejaVu Sans"/>
              </a:defRPr>
            </a:lvl9pPr>
          </a:lstStyle>
          <a:p xmlns:a="http://schemas.openxmlformats.org/drawingml/2006/main">
            <a:pPr algn="ctr">
              <a:lnSpc>
                <a:spcPct val="115000"/>
              </a:lnSpc>
              <a:buNone/>
              <a:defRPr sz="1650" b="0">
                <a:solidFill>
                  <a:srgbClr val="007F86"/>
                </a:solidFill>
                <a:latin typeface="DejaVu Sans"/>
                <a:ea typeface="DejaVu Sans"/>
                <a:cs typeface="DejaVu Sans"/>
              </a:defRPr>
            </a:pPr>
            <a:r>
              <a:rPr sz="1650" b="0">
                <a:solidFill>
                  <a:srgbClr val="007F86"/>
                </a:solidFill>
                <a:latin typeface="DejaVu Sans"/>
                <a:ea typeface="DejaVu Sans"/>
                <a:cs typeface="DejaVu Sans"/>
              </a:rPr>
              <a:t>Preview route</a:t>
            </a:r>
          </a:p>
        </p:txBody>
      </p:sp>
      <p:sp>
        <p:nvSpPr>
          <p:cNvPr id="23" name="text-98">
            <a:extLst xmlns:a="http://schemas.openxmlformats.org/drawingml/2006/main">
              <a:ext uri="{FF2B5EF4-FFF2-40B4-BE49-F238E27FC236}">
                <a16:creationId xmlns:a16="http://schemas.microsoft.com/office/drawing/2014/main" id="{F1170483-6DE8-4DAD-9C14-9F8B84516156}"/>
              </a:ext>
            </a:extLst>
          </p:cNvPr>
          <p:cNvSpPr>
            <a:spLocks xmlns:a="http://schemas.openxmlformats.org/drawingml/2006/main" noGrp="1"/>
          </p:cNvSpPr>
          <p:nvPr/>
        </p:nvSpPr>
        <p:spPr>
          <a:xfrm xmlns:a="http://schemas.openxmlformats.org/drawingml/2006/main">
            <a:off x="609600" y="570547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Poll recovery scans active states. Explicit resume uses saved settings.</a:t>
            </a:r>
          </a:p>
        </p:txBody>
      </p:sp>
    </p:spTree>
    <p:extLst>
      <p:ext uri="{BB962C8B-B14F-4D97-AF65-F5344CB8AC3E}">
        <p14:creationId xmlns:p14="http://schemas.microsoft.com/office/powerpoint/2010/main" val="638663308"/>
      </p:ext>
    </p:extLst>
  </p:cSld>
</p:sld>
</file>

<file path=ppt/slides/slide2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CF39E02-947A-473D-B5EB-E26701386C8E}"/>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Change configuration or extend Java</a:t>
            </a:r>
          </a:p>
        </p:txBody>
      </p:sp>
      <p:sp>
        <p:nvSpPr>
          <p:cNvPr id="2" name="text-99">
            <a:extLst xmlns:a="http://schemas.openxmlformats.org/drawingml/2006/main">
              <a:ext uri="{FF2B5EF4-FFF2-40B4-BE49-F238E27FC236}">
                <a16:creationId xmlns:a16="http://schemas.microsoft.com/office/drawing/2014/main" id="{162BE739-31A9-4395-8967-A833CD7ACD77}"/>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smallest affected boundary should own the change.</a:t>
            </a:r>
          </a:p>
        </p:txBody>
      </p:sp>
      <p:sp>
        <p:nvSpPr>
          <p:cNvPr id="3" name="slide-number">
            <a:extLst xmlns:a="http://schemas.openxmlformats.org/drawingml/2006/main">
              <a:ext uri="{FF2B5EF4-FFF2-40B4-BE49-F238E27FC236}">
                <a16:creationId xmlns:a16="http://schemas.microsoft.com/office/drawing/2014/main" id="{8B200DD1-71E5-4605-B352-85619E5B7374}"/>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21</a:t>
            </a:r>
          </a:p>
        </p:txBody>
      </p:sp>
      <p:graphicFrame>
        <p:nvGraphicFramePr>
          <p:cNvPr id="4" name="">
            <a:extLst xmlns:a="http://schemas.openxmlformats.org/drawingml/2006/main">
              <a:ext uri="{FF2B5EF4-FFF2-40B4-BE49-F238E27FC236}">
                <a16:creationId xmlns:a16="http://schemas.microsoft.com/office/drawing/2014/main" id="{DA546B45-D544-45A6-BCC5-A03A3DE756BE}"/>
              </a:ext>
            </a:extLst>
          </p:cNvPr>
          <p:cNvGraphicFramePr/>
          <p:nvPr/>
        </p:nvGraphicFramePr>
        <p:xfrm>
          <a:off xmlns:a="http://schemas.openxmlformats.org/drawingml/2006/main" x="609600" y="2000250"/>
          <a:ext xmlns:a="http://schemas.openxmlformats.org/drawingml/2006/main" cx="10972800" cy="4171950"/>
        </p:xfrm>
        <a:graphic xmlns:a="http://schemas.openxmlformats.org/drawingml/2006/main">
          <a:graphicData uri="http://schemas.openxmlformats.org/drawingml/2006/table">
            <a:tbl>
              <a:tblPr/>
              <a:tblGrid>
                <a:gridCol w="4524375"/>
                <a:gridCol w="6448425"/>
              </a:tblGrid>
              <a:tr h="695325">
                <a:tc>
                  <a:txBody>
                    <a:bodyPr wrap="square" lIns="76200" tIns="76200" rIns="76200" bIns="76200">
                      <a:noAutofit/>
                    </a:bodyPr>
                    <a:lstStyle/>
                    <a:p>
                      <a:r>
                        <a:rPr sz="1800" b="1">
                          <a:solidFill>
                            <a:srgbClr val="FFFFFF"/>
                          </a:solidFill>
                          <a:latin typeface="DejaVu Sans"/>
                          <a:ea typeface="DejaVu Sans"/>
                          <a:cs typeface="DejaVu Sans"/>
                        </a:rPr>
                        <a:t>Change</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Where it belongs</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Column name, alias or position</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layout.fields, columns or fixed-width ranges</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Nested output path or default</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mappings and output contract</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Date/type conversion</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Configured transforms or ValueTransform bean</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New physical file syntax</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Format, layout validation and adapter bean</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Multiple rows per business entity</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Explicit aggregate assembly extension</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Tree>
    <p:extLst>
      <p:ext uri="{BB962C8B-B14F-4D97-AF65-F5344CB8AC3E}">
        <p14:creationId xmlns:p14="http://schemas.microsoft.com/office/powerpoint/2010/main" val="127234565"/>
      </p:ext>
    </p:extLst>
  </p:cSld>
</p:sld>
</file>

<file path=ppt/slides/slide2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37F80B4-BA45-4BD5-8E2D-D5C010CDD4E5}"/>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Git Bash build and preview demo</a:t>
            </a:r>
          </a:p>
        </p:txBody>
      </p:sp>
      <p:sp>
        <p:nvSpPr>
          <p:cNvPr id="2" name="text-100">
            <a:extLst xmlns:a="http://schemas.openxmlformats.org/drawingml/2006/main">
              <a:ext uri="{FF2B5EF4-FFF2-40B4-BE49-F238E27FC236}">
                <a16:creationId xmlns:a16="http://schemas.microsoft.com/office/drawing/2014/main" id="{C15CD38F-4241-48E8-87ED-D0D25013FC93}"/>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Preview mode exercises the pipeline without calling the service.</a:t>
            </a:r>
          </a:p>
        </p:txBody>
      </p:sp>
      <p:sp>
        <p:nvSpPr>
          <p:cNvPr id="3" name="slide-number">
            <a:extLst xmlns:a="http://schemas.openxmlformats.org/drawingml/2006/main">
              <a:ext uri="{FF2B5EF4-FFF2-40B4-BE49-F238E27FC236}">
                <a16:creationId xmlns:a16="http://schemas.microsoft.com/office/drawing/2014/main" id="{95D812C5-CF7C-4953-A10F-87865BDC51E0}"/>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22</a:t>
            </a:r>
          </a:p>
        </p:txBody>
      </p:sp>
      <p:sp>
        <p:nvSpPr>
          <p:cNvPr id="4" name="text-101">
            <a:extLst xmlns:a="http://schemas.openxmlformats.org/drawingml/2006/main">
              <a:ext uri="{FF2B5EF4-FFF2-40B4-BE49-F238E27FC236}">
                <a16:creationId xmlns:a16="http://schemas.microsoft.com/office/drawing/2014/main" id="{20035BD4-E459-48F1-9B20-863A6EAB0A38}"/>
              </a:ext>
            </a:extLst>
          </p:cNvPr>
          <p:cNvSpPr>
            <a:spLocks xmlns:a="http://schemas.openxmlformats.org/drawingml/2006/main" noGrp="1"/>
          </p:cNvSpPr>
          <p:nvPr/>
        </p:nvSpPr>
        <p:spPr>
          <a:xfrm xmlns:a="http://schemas.openxmlformats.org/drawingml/2006/main">
            <a:off x="609600" y="2000250"/>
            <a:ext cx="109728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02A43"/>
                </a:solidFill>
                <a:latin typeface="DejaVu Sans Mono"/>
                <a:ea typeface="DejaVu Sans Mono"/>
                <a:cs typeface="DejaVu Sans Mono"/>
              </a:defRPr>
            </a:defPPr>
            <a:lvl1pPr algn="l">
              <a:defRPr sz="1875" b="0">
                <a:solidFill>
                  <a:srgbClr val="102A43"/>
                </a:solidFill>
                <a:latin typeface="DejaVu Sans Mono"/>
                <a:ea typeface="DejaVu Sans Mono"/>
                <a:cs typeface="DejaVu Sans Mono"/>
              </a:defRPr>
            </a:lvl1pPr>
            <a:lvl2pPr algn="l">
              <a:defRPr sz="1875" b="0">
                <a:solidFill>
                  <a:srgbClr val="102A43"/>
                </a:solidFill>
                <a:latin typeface="DejaVu Sans Mono"/>
                <a:ea typeface="DejaVu Sans Mono"/>
                <a:cs typeface="DejaVu Sans Mono"/>
              </a:defRPr>
            </a:lvl2pPr>
            <a:lvl3pPr algn="l">
              <a:defRPr sz="1875" b="0">
                <a:solidFill>
                  <a:srgbClr val="102A43"/>
                </a:solidFill>
                <a:latin typeface="DejaVu Sans Mono"/>
                <a:ea typeface="DejaVu Sans Mono"/>
                <a:cs typeface="DejaVu Sans Mono"/>
              </a:defRPr>
            </a:lvl3pPr>
            <a:lvl4pPr algn="l">
              <a:defRPr sz="1875" b="0">
                <a:solidFill>
                  <a:srgbClr val="102A43"/>
                </a:solidFill>
                <a:latin typeface="DejaVu Sans Mono"/>
                <a:ea typeface="DejaVu Sans Mono"/>
                <a:cs typeface="DejaVu Sans Mono"/>
              </a:defRPr>
            </a:lvl4pPr>
            <a:lvl5pPr algn="l">
              <a:defRPr sz="1875" b="0">
                <a:solidFill>
                  <a:srgbClr val="102A43"/>
                </a:solidFill>
                <a:latin typeface="DejaVu Sans Mono"/>
                <a:ea typeface="DejaVu Sans Mono"/>
                <a:cs typeface="DejaVu Sans Mono"/>
              </a:defRPr>
            </a:lvl5pPr>
            <a:lvl6pPr algn="l">
              <a:defRPr sz="1875" b="0">
                <a:solidFill>
                  <a:srgbClr val="102A43"/>
                </a:solidFill>
                <a:latin typeface="DejaVu Sans Mono"/>
                <a:ea typeface="DejaVu Sans Mono"/>
                <a:cs typeface="DejaVu Sans Mono"/>
              </a:defRPr>
            </a:lvl6pPr>
            <a:lvl7pPr algn="l">
              <a:defRPr sz="1875" b="0">
                <a:solidFill>
                  <a:srgbClr val="102A43"/>
                </a:solidFill>
                <a:latin typeface="DejaVu Sans Mono"/>
                <a:ea typeface="DejaVu Sans Mono"/>
                <a:cs typeface="DejaVu Sans Mono"/>
              </a:defRPr>
            </a:lvl7pPr>
            <a:lvl8pPr algn="l">
              <a:defRPr sz="1875" b="0">
                <a:solidFill>
                  <a:srgbClr val="102A43"/>
                </a:solidFill>
                <a:latin typeface="DejaVu Sans Mono"/>
                <a:ea typeface="DejaVu Sans Mono"/>
                <a:cs typeface="DejaVu Sans Mono"/>
              </a:defRPr>
            </a:lvl8pPr>
            <a:lvl9pPr algn="l">
              <a:defRPr sz="187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875" b="0">
                <a:solidFill>
                  <a:srgbClr val="102A43"/>
                </a:solidFill>
                <a:latin typeface="DejaVu Sans Mono"/>
                <a:ea typeface="DejaVu Sans Mono"/>
                <a:cs typeface="DejaVu Sans Mono"/>
              </a:defRPr>
            </a:pPr>
            <a:r>
              <a:rPr sz="1875" b="0">
                <a:solidFill>
                  <a:srgbClr val="102A43"/>
                </a:solidFill>
                <a:latin typeface="DejaVu Sans Mono"/>
                <a:ea typeface="DejaVu Sans Mono"/>
                <a:cs typeface="DejaVu Sans Mono"/>
              </a:rPr>
              <a:t>java -version</a:t>
            </a:r>
          </a:p>
          <a:p xmlns:a="http://schemas.openxmlformats.org/drawingml/2006/main">
            <a:pPr algn="l">
              <a:lnSpc>
                <a:spcPct val="115000"/>
              </a:lnSpc>
              <a:buNone/>
              <a:defRPr sz="1875" b="0">
                <a:solidFill>
                  <a:srgbClr val="102A43"/>
                </a:solidFill>
                <a:latin typeface="DejaVu Sans Mono"/>
                <a:ea typeface="DejaVu Sans Mono"/>
                <a:cs typeface="DejaVu Sans Mono"/>
              </a:defRPr>
            </a:pPr>
            <a:r>
              <a:rPr sz="1875" b="0">
                <a:solidFill>
                  <a:srgbClr val="102A43"/>
                </a:solidFill>
                <a:latin typeface="DejaVu Sans Mono"/>
                <a:ea typeface="DejaVu Sans Mono"/>
                <a:cs typeface="DejaVu Sans Mono"/>
              </a:rPr>
              <a:t>./gradlew test bootJar</a:t>
            </a:r>
          </a:p>
          <a:p xmlns:a="http://schemas.openxmlformats.org/drawingml/2006/main">
            <a:r>
              <a:t/>
            </a:r>
          </a:p>
          <a:p xmlns:a="http://schemas.openxmlformats.org/drawingml/2006/main">
            <a:pPr algn="l">
              <a:lnSpc>
                <a:spcPct val="115000"/>
              </a:lnSpc>
              <a:buNone/>
              <a:defRPr sz="1875" b="0">
                <a:solidFill>
                  <a:srgbClr val="102A43"/>
                </a:solidFill>
                <a:latin typeface="DejaVu Sans Mono"/>
                <a:ea typeface="DejaVu Sans Mono"/>
                <a:cs typeface="DejaVu Sans Mono"/>
              </a:defRPr>
            </a:pPr>
            <a:r>
              <a:rPr sz="1875" b="0">
                <a:solidFill>
                  <a:srgbClr val="102A43"/>
                </a:solidFill>
                <a:latin typeface="DejaVu Sans Mono"/>
                <a:ea typeface="DejaVu Sans Mono"/>
                <a:cs typeface="DejaVu Sans Mono"/>
              </a:rPr>
              <a:t>java -jar build/libs/fileadapter-0.1.0.jar \</a:t>
            </a:r>
          </a:p>
          <a:p xmlns:a="http://schemas.openxmlformats.org/drawingml/2006/main">
            <a:pPr algn="l">
              <a:lnSpc>
                <a:spcPct val="115000"/>
              </a:lnSpc>
              <a:buNone/>
              <a:defRPr sz="1875" b="0">
                <a:solidFill>
                  <a:srgbClr val="102A43"/>
                </a:solidFill>
                <a:latin typeface="DejaVu Sans Mono"/>
                <a:ea typeface="DejaVu Sans Mono"/>
                <a:cs typeface="DejaVu Sans Mono"/>
              </a:defRPr>
            </a:pPr>
            <a:r>
              <a:rPr sz="1875" b="0">
                <a:solidFill>
                  <a:srgbClr val="102A43"/>
                </a:solidFill>
                <a:latin typeface="DejaVu Sans Mono"/>
                <a:ea typeface="DejaVu Sans Mono"/>
                <a:cs typeface="DejaVu Sans Mono"/>
              </a:rPr>
              <a:t>  --ingestion.file=examples/enrollment.xml</a:t>
            </a:r>
          </a:p>
          <a:p xmlns:a="http://schemas.openxmlformats.org/drawingml/2006/main">
            <a:r>
              <a:t/>
            </a:r>
          </a:p>
          <a:p xmlns:a="http://schemas.openxmlformats.org/drawingml/2006/main">
            <a:pPr algn="l">
              <a:lnSpc>
                <a:spcPct val="115000"/>
              </a:lnSpc>
              <a:buNone/>
              <a:defRPr sz="1875" b="0">
                <a:solidFill>
                  <a:srgbClr val="102A43"/>
                </a:solidFill>
                <a:latin typeface="DejaVu Sans Mono"/>
                <a:ea typeface="DejaVu Sans Mono"/>
                <a:cs typeface="DejaVu Sans Mono"/>
              </a:defRPr>
            </a:pPr>
            <a:r>
              <a:rPr sz="1875" b="0">
                <a:solidFill>
                  <a:srgbClr val="102A43"/>
                </a:solidFill>
                <a:latin typeface="DejaVu Sans Mono"/>
                <a:ea typeface="DejaVu Sans Mono"/>
                <a:cs typeface="DejaVu Sans Mono"/>
              </a:rPr>
              <a:t>cat var/preview/*/enrollment.xml.preview.json</a:t>
            </a:r>
          </a:p>
        </p:txBody>
      </p:sp>
      <p:sp>
        <p:nvSpPr>
          <p:cNvPr id="5" name="text-102">
            <a:extLst xmlns:a="http://schemas.openxmlformats.org/drawingml/2006/main">
              <a:ext uri="{FF2B5EF4-FFF2-40B4-BE49-F238E27FC236}">
                <a16:creationId xmlns:a16="http://schemas.microsoft.com/office/drawing/2014/main" id="{28013976-E26D-4591-A8B3-FE8126DB56B9}"/>
              </a:ext>
            </a:extLst>
          </p:cNvPr>
          <p:cNvSpPr>
            <a:spLocks xmlns:a="http://schemas.openxmlformats.org/drawingml/2006/main" noGrp="1"/>
          </p:cNvSpPr>
          <p:nvPr/>
        </p:nvSpPr>
        <p:spPr>
          <a:xfrm xmlns:a="http://schemas.openxmlformats.org/drawingml/2006/main">
            <a:off x="609600" y="5905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26778"/>
                </a:solidFill>
                <a:latin typeface="DejaVu Sans"/>
                <a:ea typeface="DejaVu Sans"/>
                <a:cs typeface="DejaVu Sans"/>
              </a:defRPr>
            </a:defPPr>
            <a:lvl1pPr algn="l">
              <a:defRPr sz="1725" b="0">
                <a:solidFill>
                  <a:srgbClr val="526778"/>
                </a:solidFill>
                <a:latin typeface="DejaVu Sans"/>
                <a:ea typeface="DejaVu Sans"/>
                <a:cs typeface="DejaVu Sans"/>
              </a:defRPr>
            </a:lvl1pPr>
            <a:lvl2pPr algn="l">
              <a:defRPr sz="1725" b="0">
                <a:solidFill>
                  <a:srgbClr val="526778"/>
                </a:solidFill>
                <a:latin typeface="DejaVu Sans"/>
                <a:ea typeface="DejaVu Sans"/>
                <a:cs typeface="DejaVu Sans"/>
              </a:defRPr>
            </a:lvl2pPr>
            <a:lvl3pPr algn="l">
              <a:defRPr sz="1725" b="0">
                <a:solidFill>
                  <a:srgbClr val="526778"/>
                </a:solidFill>
                <a:latin typeface="DejaVu Sans"/>
                <a:ea typeface="DejaVu Sans"/>
                <a:cs typeface="DejaVu Sans"/>
              </a:defRPr>
            </a:lvl3pPr>
            <a:lvl4pPr algn="l">
              <a:defRPr sz="1725" b="0">
                <a:solidFill>
                  <a:srgbClr val="526778"/>
                </a:solidFill>
                <a:latin typeface="DejaVu Sans"/>
                <a:ea typeface="DejaVu Sans"/>
                <a:cs typeface="DejaVu Sans"/>
              </a:defRPr>
            </a:lvl4pPr>
            <a:lvl5pPr algn="l">
              <a:defRPr sz="1725" b="0">
                <a:solidFill>
                  <a:srgbClr val="526778"/>
                </a:solidFill>
                <a:latin typeface="DejaVu Sans"/>
                <a:ea typeface="DejaVu Sans"/>
                <a:cs typeface="DejaVu Sans"/>
              </a:defRPr>
            </a:lvl5pPr>
            <a:lvl6pPr algn="l">
              <a:defRPr sz="1725" b="0">
                <a:solidFill>
                  <a:srgbClr val="526778"/>
                </a:solidFill>
                <a:latin typeface="DejaVu Sans"/>
                <a:ea typeface="DejaVu Sans"/>
                <a:cs typeface="DejaVu Sans"/>
              </a:defRPr>
            </a:lvl6pPr>
            <a:lvl7pPr algn="l">
              <a:defRPr sz="1725" b="0">
                <a:solidFill>
                  <a:srgbClr val="526778"/>
                </a:solidFill>
                <a:latin typeface="DejaVu Sans"/>
                <a:ea typeface="DejaVu Sans"/>
                <a:cs typeface="DejaVu Sans"/>
              </a:defRPr>
            </a:lvl7pPr>
            <a:lvl8pPr algn="l">
              <a:defRPr sz="1725" b="0">
                <a:solidFill>
                  <a:srgbClr val="526778"/>
                </a:solidFill>
                <a:latin typeface="DejaVu Sans"/>
                <a:ea typeface="DejaVu Sans"/>
                <a:cs typeface="DejaVu Sans"/>
              </a:defRPr>
            </a:lvl8pPr>
            <a:lvl9pPr algn="l">
              <a:defRPr sz="1725" b="0">
                <a:solidFill>
                  <a:srgbClr val="526778"/>
                </a:solidFill>
                <a:latin typeface="DejaVu Sans"/>
                <a:ea typeface="DejaVu Sans"/>
                <a:cs typeface="DejaVu Sans"/>
              </a:defRPr>
            </a:lvl9pPr>
          </a:lstStyle>
          <a:p xmlns:a="http://schemas.openxmlformats.org/drawingml/2006/main">
            <a:pPr algn="l">
              <a:lnSpc>
                <a:spcPct val="115000"/>
              </a:lnSpc>
              <a:buNone/>
              <a:defRPr sz="1725" b="0">
                <a:solidFill>
                  <a:srgbClr val="526778"/>
                </a:solidFill>
                <a:latin typeface="DejaVu Sans"/>
                <a:ea typeface="DejaVu Sans"/>
                <a:cs typeface="DejaVu Sans"/>
              </a:defRPr>
            </a:pPr>
            <a:r>
              <a:rPr sz="1725" b="0">
                <a:solidFill>
                  <a:srgbClr val="526778"/>
                </a:solidFill>
                <a:latin typeface="DejaVu Sans"/>
                <a:ea typeface="DejaVu Sans"/>
                <a:cs typeface="DejaVu Sans"/>
              </a:rPr>
              <a:t>Other examples: enrollment.fw, enrollment-noheader.psv, enrollment-array.json</a:t>
            </a:r>
          </a:p>
        </p:txBody>
      </p:sp>
    </p:spTree>
    <p:extLst>
      <p:ext uri="{BB962C8B-B14F-4D97-AF65-F5344CB8AC3E}">
        <p14:creationId xmlns:p14="http://schemas.microsoft.com/office/powerpoint/2010/main" val="462454899"/>
      </p:ext>
    </p:extLst>
  </p:cSld>
</p:sld>
</file>

<file path=ppt/slides/slide2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B22F925-B909-48B5-878B-62D2C08751CB}"/>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Live delivery and failure exercise</a:t>
            </a:r>
          </a:p>
        </p:txBody>
      </p:sp>
      <p:sp>
        <p:nvSpPr>
          <p:cNvPr id="2" name="text-103">
            <a:extLst xmlns:a="http://schemas.openxmlformats.org/drawingml/2006/main">
              <a:ext uri="{FF2B5EF4-FFF2-40B4-BE49-F238E27FC236}">
                <a16:creationId xmlns:a16="http://schemas.microsoft.com/office/drawing/2014/main" id="{726B457C-0F3E-4539-9F18-8145D4BD6DDF}"/>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Use the service contract and an agreed test endpoint.</a:t>
            </a:r>
          </a:p>
        </p:txBody>
      </p:sp>
      <p:sp>
        <p:nvSpPr>
          <p:cNvPr id="3" name="slide-number">
            <a:extLst xmlns:a="http://schemas.openxmlformats.org/drawingml/2006/main">
              <a:ext uri="{FF2B5EF4-FFF2-40B4-BE49-F238E27FC236}">
                <a16:creationId xmlns:a16="http://schemas.microsoft.com/office/drawing/2014/main" id="{5BF48A29-0F5D-44C2-8DA0-FD1866AF32D0}"/>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23</a:t>
            </a:r>
          </a:p>
        </p:txBody>
      </p:sp>
      <p:sp>
        <p:nvSpPr>
          <p:cNvPr id="4" name="text-104">
            <a:extLst xmlns:a="http://schemas.openxmlformats.org/drawingml/2006/main">
              <a:ext uri="{FF2B5EF4-FFF2-40B4-BE49-F238E27FC236}">
                <a16:creationId xmlns:a16="http://schemas.microsoft.com/office/drawing/2014/main" id="{4F968D51-0902-41CC-A0C4-8C7DCB9C8C16}"/>
              </a:ext>
            </a:extLst>
          </p:cNvPr>
          <p:cNvSpPr>
            <a:spLocks xmlns:a="http://schemas.openxmlformats.org/drawingml/2006/main" noGrp="1"/>
          </p:cNvSpPr>
          <p:nvPr/>
        </p:nvSpPr>
        <p:spPr>
          <a:xfrm xmlns:a="http://schemas.openxmlformats.org/drawingml/2006/main">
            <a:off x="609600" y="2000250"/>
            <a:ext cx="109728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A43"/>
                </a:solidFill>
                <a:latin typeface="DejaVu Sans Mono"/>
                <a:ea typeface="DejaVu Sans Mono"/>
                <a:cs typeface="DejaVu Sans Mono"/>
              </a:defRPr>
            </a:defPPr>
            <a:lvl1pPr algn="l">
              <a:defRPr sz="1725" b="0">
                <a:solidFill>
                  <a:srgbClr val="102A43"/>
                </a:solidFill>
                <a:latin typeface="DejaVu Sans Mono"/>
                <a:ea typeface="DejaVu Sans Mono"/>
                <a:cs typeface="DejaVu Sans Mono"/>
              </a:defRPr>
            </a:lvl1pPr>
            <a:lvl2pPr algn="l">
              <a:defRPr sz="1725" b="0">
                <a:solidFill>
                  <a:srgbClr val="102A43"/>
                </a:solidFill>
                <a:latin typeface="DejaVu Sans Mono"/>
                <a:ea typeface="DejaVu Sans Mono"/>
                <a:cs typeface="DejaVu Sans Mono"/>
              </a:defRPr>
            </a:lvl2pPr>
            <a:lvl3pPr algn="l">
              <a:defRPr sz="1725" b="0">
                <a:solidFill>
                  <a:srgbClr val="102A43"/>
                </a:solidFill>
                <a:latin typeface="DejaVu Sans Mono"/>
                <a:ea typeface="DejaVu Sans Mono"/>
                <a:cs typeface="DejaVu Sans Mono"/>
              </a:defRPr>
            </a:lvl3pPr>
            <a:lvl4pPr algn="l">
              <a:defRPr sz="1725" b="0">
                <a:solidFill>
                  <a:srgbClr val="102A43"/>
                </a:solidFill>
                <a:latin typeface="DejaVu Sans Mono"/>
                <a:ea typeface="DejaVu Sans Mono"/>
                <a:cs typeface="DejaVu Sans Mono"/>
              </a:defRPr>
            </a:lvl4pPr>
            <a:lvl5pPr algn="l">
              <a:defRPr sz="1725" b="0">
                <a:solidFill>
                  <a:srgbClr val="102A43"/>
                </a:solidFill>
                <a:latin typeface="DejaVu Sans Mono"/>
                <a:ea typeface="DejaVu Sans Mono"/>
                <a:cs typeface="DejaVu Sans Mono"/>
              </a:defRPr>
            </a:lvl5pPr>
            <a:lvl6pPr algn="l">
              <a:defRPr sz="1725" b="0">
                <a:solidFill>
                  <a:srgbClr val="102A43"/>
                </a:solidFill>
                <a:latin typeface="DejaVu Sans Mono"/>
                <a:ea typeface="DejaVu Sans Mono"/>
                <a:cs typeface="DejaVu Sans Mono"/>
              </a:defRPr>
            </a:lvl6pPr>
            <a:lvl7pPr algn="l">
              <a:defRPr sz="1725" b="0">
                <a:solidFill>
                  <a:srgbClr val="102A43"/>
                </a:solidFill>
                <a:latin typeface="DejaVu Sans Mono"/>
                <a:ea typeface="DejaVu Sans Mono"/>
                <a:cs typeface="DejaVu Sans Mono"/>
              </a:defRPr>
            </a:lvl7pPr>
            <a:lvl8pPr algn="l">
              <a:defRPr sz="1725" b="0">
                <a:solidFill>
                  <a:srgbClr val="102A43"/>
                </a:solidFill>
                <a:latin typeface="DejaVu Sans Mono"/>
                <a:ea typeface="DejaVu Sans Mono"/>
                <a:cs typeface="DejaVu Sans Mono"/>
              </a:defRPr>
            </a:lvl8pPr>
            <a:lvl9pPr algn="l">
              <a:defRPr sz="1725" b="0">
                <a:solidFill>
                  <a:srgbClr val="102A43"/>
                </a:solidFill>
                <a:latin typeface="DejaVu Sans Mono"/>
                <a:ea typeface="DejaVu Sans Mono"/>
                <a:cs typeface="DejaVu Sans Mono"/>
              </a:defRPr>
            </a:lvl9pPr>
          </a:lstStyle>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export UPSERT_URL='http://localhost:8081/employees/upsert'</a:t>
            </a:r>
          </a:p>
          <a:p xmlns:a="http://schemas.openxmlformats.org/drawingml/2006/main">
            <a: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java -jar build/libs/fileadapter-0.1.0.jar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--ingestion.file=examples/enrollment.csv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--ingestion.mode=LIVE</a:t>
            </a:r>
          </a:p>
          <a:p xmlns:a="http://schemas.openxmlformats.org/drawingml/2006/main">
            <a: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Replay-safe paused run only:</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java -jar build/libs/fileadapter-0.1.0.jar \</a:t>
            </a:r>
          </a:p>
          <a:p xmlns:a="http://schemas.openxmlformats.org/drawingml/2006/main">
            <a:pPr algn="l">
              <a:lnSpc>
                <a:spcPct val="115000"/>
              </a:lnSpc>
              <a:buNone/>
              <a:defRPr sz="1725" b="0">
                <a:solidFill>
                  <a:srgbClr val="102A43"/>
                </a:solidFill>
                <a:latin typeface="DejaVu Sans Mono"/>
                <a:ea typeface="DejaVu Sans Mono"/>
                <a:cs typeface="DejaVu Sans Mono"/>
              </a:defRPr>
            </a:pPr>
            <a:r>
              <a:rPr sz="1725" b="0">
                <a:solidFill>
                  <a:srgbClr val="102A43"/>
                </a:solidFill>
                <a:latin typeface="DejaVu Sans Mono"/>
                <a:ea typeface="DejaVu Sans Mono"/>
                <a:cs typeface="DejaVu Sans Mono"/>
              </a:rPr>
              <a:t>  --ingestion.resume=RUN_ID</a:t>
            </a:r>
          </a:p>
        </p:txBody>
      </p:sp>
      <p:sp>
        <p:nvSpPr>
          <p:cNvPr id="5" name="text-105">
            <a:extLst xmlns:a="http://schemas.openxmlformats.org/drawingml/2006/main">
              <a:ext uri="{FF2B5EF4-FFF2-40B4-BE49-F238E27FC236}">
                <a16:creationId xmlns:a16="http://schemas.microsoft.com/office/drawing/2014/main" id="{E1E7BCD0-AFC9-4BC2-9CA9-2D80147B9B45}"/>
              </a:ext>
            </a:extLst>
          </p:cNvPr>
          <p:cNvSpPr>
            <a:spLocks xmlns:a="http://schemas.openxmlformats.org/drawingml/2006/main" noGrp="1"/>
          </p:cNvSpPr>
          <p:nvPr/>
        </p:nvSpPr>
        <p:spPr>
          <a:xfrm xmlns:a="http://schemas.openxmlformats.org/drawingml/2006/main">
            <a:off x="609600" y="5905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26778"/>
                </a:solidFill>
                <a:latin typeface="DejaVu Sans"/>
                <a:ea typeface="DejaVu Sans"/>
                <a:cs typeface="DejaVu Sans"/>
              </a:defRPr>
            </a:defPPr>
            <a:lvl1pPr algn="l">
              <a:defRPr sz="1725" b="0">
                <a:solidFill>
                  <a:srgbClr val="526778"/>
                </a:solidFill>
                <a:latin typeface="DejaVu Sans"/>
                <a:ea typeface="DejaVu Sans"/>
                <a:cs typeface="DejaVu Sans"/>
              </a:defRPr>
            </a:lvl1pPr>
            <a:lvl2pPr algn="l">
              <a:defRPr sz="1725" b="0">
                <a:solidFill>
                  <a:srgbClr val="526778"/>
                </a:solidFill>
                <a:latin typeface="DejaVu Sans"/>
                <a:ea typeface="DejaVu Sans"/>
                <a:cs typeface="DejaVu Sans"/>
              </a:defRPr>
            </a:lvl2pPr>
            <a:lvl3pPr algn="l">
              <a:defRPr sz="1725" b="0">
                <a:solidFill>
                  <a:srgbClr val="526778"/>
                </a:solidFill>
                <a:latin typeface="DejaVu Sans"/>
                <a:ea typeface="DejaVu Sans"/>
                <a:cs typeface="DejaVu Sans"/>
              </a:defRPr>
            </a:lvl3pPr>
            <a:lvl4pPr algn="l">
              <a:defRPr sz="1725" b="0">
                <a:solidFill>
                  <a:srgbClr val="526778"/>
                </a:solidFill>
                <a:latin typeface="DejaVu Sans"/>
                <a:ea typeface="DejaVu Sans"/>
                <a:cs typeface="DejaVu Sans"/>
              </a:defRPr>
            </a:lvl4pPr>
            <a:lvl5pPr algn="l">
              <a:defRPr sz="1725" b="0">
                <a:solidFill>
                  <a:srgbClr val="526778"/>
                </a:solidFill>
                <a:latin typeface="DejaVu Sans"/>
                <a:ea typeface="DejaVu Sans"/>
                <a:cs typeface="DejaVu Sans"/>
              </a:defRPr>
            </a:lvl5pPr>
            <a:lvl6pPr algn="l">
              <a:defRPr sz="1725" b="0">
                <a:solidFill>
                  <a:srgbClr val="526778"/>
                </a:solidFill>
                <a:latin typeface="DejaVu Sans"/>
                <a:ea typeface="DejaVu Sans"/>
                <a:cs typeface="DejaVu Sans"/>
              </a:defRPr>
            </a:lvl6pPr>
            <a:lvl7pPr algn="l">
              <a:defRPr sz="1725" b="0">
                <a:solidFill>
                  <a:srgbClr val="526778"/>
                </a:solidFill>
                <a:latin typeface="DejaVu Sans"/>
                <a:ea typeface="DejaVu Sans"/>
                <a:cs typeface="DejaVu Sans"/>
              </a:defRPr>
            </a:lvl7pPr>
            <a:lvl8pPr algn="l">
              <a:defRPr sz="1725" b="0">
                <a:solidFill>
                  <a:srgbClr val="526778"/>
                </a:solidFill>
                <a:latin typeface="DejaVu Sans"/>
                <a:ea typeface="DejaVu Sans"/>
                <a:cs typeface="DejaVu Sans"/>
              </a:defRPr>
            </a:lvl8pPr>
            <a:lvl9pPr algn="l">
              <a:defRPr sz="1725" b="0">
                <a:solidFill>
                  <a:srgbClr val="526778"/>
                </a:solidFill>
                <a:latin typeface="DejaVu Sans"/>
                <a:ea typeface="DejaVu Sans"/>
                <a:cs typeface="DejaVu Sans"/>
              </a:defRPr>
            </a:lvl9pPr>
          </a:lstStyle>
          <a:p xmlns:a="http://schemas.openxmlformats.org/drawingml/2006/main">
            <a:pPr algn="l">
              <a:lnSpc>
                <a:spcPct val="115000"/>
              </a:lnSpc>
              <a:buNone/>
              <a:defRPr sz="1725" b="0">
                <a:solidFill>
                  <a:srgbClr val="526778"/>
                </a:solidFill>
                <a:latin typeface="DejaVu Sans"/>
                <a:ea typeface="DejaVu Sans"/>
                <a:cs typeface="DejaVu Sans"/>
              </a:defRPr>
            </a:pPr>
            <a:r>
              <a:rPr sz="1725" b="0">
                <a:solidFill>
                  <a:srgbClr val="526778"/>
                </a:solidFill>
                <a:latin typeface="DejaVu Sans"/>
                <a:ea typeface="DejaVu Sans"/>
                <a:cs typeface="DejaVu Sans"/>
              </a:rPr>
              <a:t>Failure exercise: a malformed later record fails preflight before any POST.</a:t>
            </a:r>
          </a:p>
        </p:txBody>
      </p:sp>
    </p:spTree>
    <p:extLst>
      <p:ext uri="{BB962C8B-B14F-4D97-AF65-F5344CB8AC3E}">
        <p14:creationId xmlns:p14="http://schemas.microsoft.com/office/powerpoint/2010/main" val="443471884"/>
      </p:ext>
    </p:extLst>
  </p:cSld>
</p:sld>
</file>

<file path=ppt/slides/slide2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6EEDD4E-0D65-4D88-AC80-006BB9E0FBF3}"/>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Validation evidence and POC boundaries</a:t>
            </a:r>
          </a:p>
        </p:txBody>
      </p:sp>
      <p:sp>
        <p:nvSpPr>
          <p:cNvPr id="2" name="text-106">
            <a:extLst xmlns:a="http://schemas.openxmlformats.org/drawingml/2006/main">
              <a:ext uri="{FF2B5EF4-FFF2-40B4-BE49-F238E27FC236}">
                <a16:creationId xmlns:a16="http://schemas.microsoft.com/office/drawing/2014/main" id="{C9039BD2-1CC2-44B1-A009-5B75D4B3A937}"/>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70 passing tests cover the current implementation at the cited code baseline.</a:t>
            </a:r>
          </a:p>
        </p:txBody>
      </p:sp>
      <p:sp>
        <p:nvSpPr>
          <p:cNvPr id="3" name="slide-number">
            <a:extLst xmlns:a="http://schemas.openxmlformats.org/drawingml/2006/main">
              <a:ext uri="{FF2B5EF4-FFF2-40B4-BE49-F238E27FC236}">
                <a16:creationId xmlns:a16="http://schemas.microsoft.com/office/drawing/2014/main" id="{D38D52D9-C6DB-4152-AF7E-BBE4E3FFE95B}"/>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24</a:t>
            </a:r>
          </a:p>
        </p:txBody>
      </p:sp>
      <p:graphicFrame>
        <p:nvGraphicFramePr>
          <p:cNvPr id="4" name="">
            <a:extLst xmlns:a="http://schemas.openxmlformats.org/drawingml/2006/main">
              <a:ext uri="{FF2B5EF4-FFF2-40B4-BE49-F238E27FC236}">
                <a16:creationId xmlns:a16="http://schemas.microsoft.com/office/drawing/2014/main" id="{2890344A-9644-4D84-8F59-8903A497AB6F}"/>
              </a:ext>
            </a:extLst>
          </p:cNvPr>
          <p:cNvGraphicFramePr/>
          <p:nvPr/>
        </p:nvGraphicFramePr>
        <p:xfrm>
          <a:off xmlns:a="http://schemas.openxmlformats.org/drawingml/2006/main" x="609600" y="2000250"/>
          <a:ext xmlns:a="http://schemas.openxmlformats.org/drawingml/2006/main" cx="10972800" cy="4171950"/>
        </p:xfrm>
        <a:graphic xmlns:a="http://schemas.openxmlformats.org/drawingml/2006/main">
          <a:graphicData uri="http://schemas.openxmlformats.org/drawingml/2006/table">
            <a:tbl>
              <a:tblPr/>
              <a:tblGrid>
                <a:gridCol w="5429250"/>
                <a:gridCol w="5543550"/>
              </a:tblGrid>
              <a:tr h="834390">
                <a:tc>
                  <a:txBody>
                    <a:bodyPr wrap="square" lIns="76200" tIns="76200" rIns="76200" bIns="76200">
                      <a:noAutofit/>
                    </a:bodyPr>
                    <a:lstStyle/>
                    <a:p>
                      <a:r>
                        <a:rPr sz="1800" b="1">
                          <a:solidFill>
                            <a:srgbClr val="FFFFFF"/>
                          </a:solidFill>
                          <a:latin typeface="DejaVu Sans"/>
                          <a:ea typeface="DejaVu Sans"/>
                          <a:cs typeface="DejaVu Sans"/>
                        </a:rPr>
                        <a:t>Covered now</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Boundary to carry into deployment</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834390">
                <a:tc>
                  <a:txBody>
                    <a:bodyPr wrap="square" lIns="76200" tIns="76200" rIns="76200" bIns="76200">
                      <a:noAutofit/>
                    </a:bodyPr>
                    <a:lstStyle/>
                    <a:p>
                      <a:r>
                        <a:rPr sz="1800" b="0">
                          <a:solidFill>
                            <a:srgbClr val="102A43"/>
                          </a:solidFill>
                          <a:latin typeface="DejaVu Sans"/>
                          <a:ea typeface="DejaVu Sans"/>
                          <a:cs typeface="DejaVu Sans"/>
                        </a:rPr>
                        <a:t>All formats through preview and HTTP</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One worker and sequential delivery</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834390">
                <a:tc>
                  <a:txBody>
                    <a:bodyPr wrap="square" lIns="76200" tIns="76200" rIns="76200" bIns="76200">
                      <a:noAutofit/>
                    </a:bodyPr>
                    <a:lstStyle/>
                    <a:p>
                      <a:r>
                        <a:rPr sz="1800" b="0">
                          <a:solidFill>
                            <a:srgbClr val="102A43"/>
                          </a:solidFill>
                          <a:latin typeface="DejaVu Sans"/>
                          <a:ea typeface="DejaVu Sans"/>
                          <a:cs typeface="DejaVu Sans"/>
                        </a:rPr>
                        <a:t>Durable requests and guarded replay</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Local H2; no exactly-once transaction</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834390">
                <a:tc>
                  <a:txBody>
                    <a:bodyPr wrap="square" lIns="76200" tIns="76200" rIns="76200" bIns="76200">
                      <a:noAutofit/>
                    </a:bodyPr>
                    <a:lstStyle/>
                    <a:p>
                      <a:r>
                        <a:rPr sz="1800" b="0">
                          <a:solidFill>
                            <a:srgbClr val="102A43"/>
                          </a:solidFill>
                          <a:latin typeface="DejaVu Sans"/>
                          <a:ea typeface="DejaVu Sans"/>
                          <a:cs typeface="DejaVu Sans"/>
                        </a:rPr>
                        <a:t>Explicit output path/type checks</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Full schema and business rules remain to agree</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834390">
                <a:tc>
                  <a:txBody>
                    <a:bodyPr wrap="square" lIns="76200" tIns="76200" rIns="76200" bIns="76200">
                      <a:noAutofit/>
                    </a:bodyPr>
                    <a:lstStyle/>
                    <a:p>
                      <a:r>
                        <a:rPr sz="1800" b="0">
                          <a:solidFill>
                            <a:srgbClr val="102A43"/>
                          </a:solidFill>
                          <a:latin typeface="DejaVu Sans"/>
                          <a:ea typeface="DejaVu Sans"/>
                          <a:cs typeface="DejaVu Sans"/>
                        </a:rPr>
                        <a:t>Value-free logs and error reports</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Inputs, ledger and previews can contain sensitive data</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bl>
          </a:graphicData>
        </a:graphic>
      </p:graphicFrame>
    </p:spTree>
    <p:extLst>
      <p:ext uri="{BB962C8B-B14F-4D97-AF65-F5344CB8AC3E}">
        <p14:creationId xmlns:p14="http://schemas.microsoft.com/office/powerpoint/2010/main" val="1264730004"/>
      </p:ext>
    </p:extLst>
  </p:cSld>
</p:sld>
</file>

<file path=ppt/slides/slide2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3F4EB99-1DF5-41C7-9696-6500DD3BF6AE}"/>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Contracts to agree with the team</a:t>
            </a:r>
          </a:p>
        </p:txBody>
      </p:sp>
      <p:sp>
        <p:nvSpPr>
          <p:cNvPr id="2" name="text-107">
            <a:extLst xmlns:a="http://schemas.openxmlformats.org/drawingml/2006/main">
              <a:ext uri="{FF2B5EF4-FFF2-40B4-BE49-F238E27FC236}">
                <a16:creationId xmlns:a16="http://schemas.microsoft.com/office/drawing/2014/main" id="{CFDF06A8-F128-43F1-962C-B4C6F37701F8}"/>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The real file and service contract will drive the next iteration.</a:t>
            </a:r>
          </a:p>
        </p:txBody>
      </p:sp>
      <p:sp>
        <p:nvSpPr>
          <p:cNvPr id="3" name="slide-number">
            <a:extLst xmlns:a="http://schemas.openxmlformats.org/drawingml/2006/main">
              <a:ext uri="{FF2B5EF4-FFF2-40B4-BE49-F238E27FC236}">
                <a16:creationId xmlns:a16="http://schemas.microsoft.com/office/drawing/2014/main" id="{327A83AE-E322-49A9-A5A9-D48DB4134F72}"/>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25</a:t>
            </a:r>
          </a:p>
        </p:txBody>
      </p:sp>
      <p:graphicFrame>
        <p:nvGraphicFramePr>
          <p:cNvPr id="4" name="">
            <a:extLst xmlns:a="http://schemas.openxmlformats.org/drawingml/2006/main">
              <a:ext uri="{FF2B5EF4-FFF2-40B4-BE49-F238E27FC236}">
                <a16:creationId xmlns:a16="http://schemas.microsoft.com/office/drawing/2014/main" id="{7960EA28-1314-434F-A9F8-AA0C123056FF}"/>
              </a:ext>
            </a:extLst>
          </p:cNvPr>
          <p:cNvGraphicFramePr/>
          <p:nvPr/>
        </p:nvGraphicFramePr>
        <p:xfrm>
          <a:off xmlns:a="http://schemas.openxmlformats.org/drawingml/2006/main" x="609600" y="2000250"/>
          <a:ext xmlns:a="http://schemas.openxmlformats.org/drawingml/2006/main" cx="10972800" cy="4171950"/>
        </p:xfrm>
        <a:graphic xmlns:a="http://schemas.openxmlformats.org/drawingml/2006/main">
          <a:graphicData uri="http://schemas.openxmlformats.org/drawingml/2006/table">
            <a:tbl>
              <a:tblPr/>
              <a:tblGrid>
                <a:gridCol w="3000375"/>
                <a:gridCol w="7972425"/>
              </a:tblGrid>
              <a:tr h="695325">
                <a:tc>
                  <a:txBody>
                    <a:bodyPr wrap="square" lIns="76200" tIns="76200" rIns="76200" bIns="76200">
                      <a:noAutofit/>
                    </a:bodyPr>
                    <a:lstStyle/>
                    <a:p>
                      <a:r>
                        <a:rPr sz="1800" b="1">
                          <a:solidFill>
                            <a:srgbClr val="FFFFFF"/>
                          </a:solidFill>
                          <a:latin typeface="DejaVu Sans"/>
                          <a:ea typeface="DejaVu Sans"/>
                          <a:cs typeface="DejaVu Sans"/>
                        </a:rPr>
                        <a:t>Area</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Concrete decision</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Source feed</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Encoding, layout, record boundaries and ready marker</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Target request</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Schema, business key, omission and null semantics</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Delivery guarantee</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Acknowledgement, idempotency and uncertain outcomes</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Record relationship</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One record per request, batching or aggregation</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Operations</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Authentication, retention, monitoring and reconciliation</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Tree>
    <p:extLst>
      <p:ext uri="{BB962C8B-B14F-4D97-AF65-F5344CB8AC3E}">
        <p14:creationId xmlns:p14="http://schemas.microsoft.com/office/powerpoint/2010/main" val="864897220"/>
      </p:ext>
    </p:extLst>
  </p:cSld>
</p:sld>
</file>

<file path=ppt/slides/slide2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C0C9808-157D-43A4-ADB4-16D732AFDE9A}"/>
              </a:ext>
            </a:extLst>
          </p:cNvPr>
          <p:cNvSpPr>
            <a:spLocks xmlns:a="http://schemas.openxmlformats.org/drawingml/2006/main" noGrp="1"/>
          </p:cNvSpPr>
          <p:nvPr/>
        </p:nvSpPr>
        <p:spPr>
          <a:xfrm xmlns:a="http://schemas.openxmlformats.org/drawingml/2006/main">
            <a:off x="609600" y="4381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DejaVu Sans"/>
                <a:ea typeface="DejaVu Sans"/>
                <a:cs typeface="DejaVu Sans"/>
              </a:defRPr>
            </a:defPPr>
            <a:lvl1pPr algn="l">
              <a:defRPr sz="3300" b="1">
                <a:solidFill>
                  <a:srgbClr val="102A43"/>
                </a:solidFill>
                <a:latin typeface="DejaVu Sans"/>
                <a:ea typeface="DejaVu Sans"/>
                <a:cs typeface="DejaVu Sans"/>
              </a:defRPr>
            </a:lvl1pPr>
            <a:lvl2pPr algn="l">
              <a:defRPr sz="3300" b="1">
                <a:solidFill>
                  <a:srgbClr val="102A43"/>
                </a:solidFill>
                <a:latin typeface="DejaVu Sans"/>
                <a:ea typeface="DejaVu Sans"/>
                <a:cs typeface="DejaVu Sans"/>
              </a:defRPr>
            </a:lvl2pPr>
            <a:lvl3pPr algn="l">
              <a:defRPr sz="3300" b="1">
                <a:solidFill>
                  <a:srgbClr val="102A43"/>
                </a:solidFill>
                <a:latin typeface="DejaVu Sans"/>
                <a:ea typeface="DejaVu Sans"/>
                <a:cs typeface="DejaVu Sans"/>
              </a:defRPr>
            </a:lvl3pPr>
            <a:lvl4pPr algn="l">
              <a:defRPr sz="3300" b="1">
                <a:solidFill>
                  <a:srgbClr val="102A43"/>
                </a:solidFill>
                <a:latin typeface="DejaVu Sans"/>
                <a:ea typeface="DejaVu Sans"/>
                <a:cs typeface="DejaVu Sans"/>
              </a:defRPr>
            </a:lvl4pPr>
            <a:lvl5pPr algn="l">
              <a:defRPr sz="3300" b="1">
                <a:solidFill>
                  <a:srgbClr val="102A43"/>
                </a:solidFill>
                <a:latin typeface="DejaVu Sans"/>
                <a:ea typeface="DejaVu Sans"/>
                <a:cs typeface="DejaVu Sans"/>
              </a:defRPr>
            </a:lvl5pPr>
            <a:lvl6pPr algn="l">
              <a:defRPr sz="3300" b="1">
                <a:solidFill>
                  <a:srgbClr val="102A43"/>
                </a:solidFill>
                <a:latin typeface="DejaVu Sans"/>
                <a:ea typeface="DejaVu Sans"/>
                <a:cs typeface="DejaVu Sans"/>
              </a:defRPr>
            </a:lvl6pPr>
            <a:lvl7pPr algn="l">
              <a:defRPr sz="3300" b="1">
                <a:solidFill>
                  <a:srgbClr val="102A43"/>
                </a:solidFill>
                <a:latin typeface="DejaVu Sans"/>
                <a:ea typeface="DejaVu Sans"/>
                <a:cs typeface="DejaVu Sans"/>
              </a:defRPr>
            </a:lvl7pPr>
            <a:lvl8pPr algn="l">
              <a:defRPr sz="3300" b="1">
                <a:solidFill>
                  <a:srgbClr val="102A43"/>
                </a:solidFill>
                <a:latin typeface="DejaVu Sans"/>
                <a:ea typeface="DejaVu Sans"/>
                <a:cs typeface="DejaVu Sans"/>
              </a:defRPr>
            </a:lvl8pPr>
            <a:lvl9pPr algn="l">
              <a:defRPr sz="3300" b="1">
                <a:solidFill>
                  <a:srgbClr val="102A43"/>
                </a:solidFill>
                <a:latin typeface="DejaVu Sans"/>
                <a:ea typeface="DejaVu Sans"/>
                <a:cs typeface="DejaVu Sans"/>
              </a:defRPr>
            </a:lvl9pPr>
          </a:lstStyle>
          <a:p xmlns:a="http://schemas.openxmlformats.org/drawingml/2006/main">
            <a:pPr algn="l">
              <a:lnSpc>
                <a:spcPct val="115000"/>
              </a:lnSpc>
              <a:buNone/>
              <a:defRPr sz="3300" b="1">
                <a:solidFill>
                  <a:srgbClr val="102A43"/>
                </a:solidFill>
                <a:latin typeface="DejaVu Sans"/>
                <a:ea typeface="DejaVu Sans"/>
                <a:cs typeface="DejaVu Sans"/>
              </a:defRPr>
            </a:pPr>
            <a:r>
              <a:rPr sz="3300" b="1">
                <a:solidFill>
                  <a:srgbClr val="102A43"/>
                </a:solidFill>
                <a:latin typeface="DejaVu Sans"/>
                <a:ea typeface="DejaVu Sans"/>
                <a:cs typeface="DejaVu Sans"/>
              </a:rPr>
              <a:t>Code tour and demo references</a:t>
            </a:r>
          </a:p>
        </p:txBody>
      </p:sp>
      <p:sp>
        <p:nvSpPr>
          <p:cNvPr id="2" name="text-108">
            <a:extLst xmlns:a="http://schemas.openxmlformats.org/drawingml/2006/main">
              <a:ext uri="{FF2B5EF4-FFF2-40B4-BE49-F238E27FC236}">
                <a16:creationId xmlns:a16="http://schemas.microsoft.com/office/drawing/2014/main" id="{8324690B-FB12-4388-85C1-B23466EDF308}"/>
              </a:ext>
            </a:extLst>
          </p:cNvPr>
          <p:cNvSpPr>
            <a:spLocks xmlns:a="http://schemas.openxmlformats.org/drawingml/2006/main" noGrp="1"/>
          </p:cNvSpPr>
          <p:nvPr/>
        </p:nvSpPr>
        <p:spPr>
          <a:xfrm xmlns:a="http://schemas.openxmlformats.org/drawingml/2006/main">
            <a:off x="609600" y="13716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778"/>
                </a:solidFill>
                <a:latin typeface="DejaVu Sans"/>
                <a:ea typeface="DejaVu Sans"/>
                <a:cs typeface="DejaVu Sans"/>
              </a:defRPr>
            </a:defPPr>
            <a:lvl1pPr algn="l">
              <a:defRPr sz="1875" b="0">
                <a:solidFill>
                  <a:srgbClr val="526778"/>
                </a:solidFill>
                <a:latin typeface="DejaVu Sans"/>
                <a:ea typeface="DejaVu Sans"/>
                <a:cs typeface="DejaVu Sans"/>
              </a:defRPr>
            </a:lvl1pPr>
            <a:lvl2pPr algn="l">
              <a:defRPr sz="1875" b="0">
                <a:solidFill>
                  <a:srgbClr val="526778"/>
                </a:solidFill>
                <a:latin typeface="DejaVu Sans"/>
                <a:ea typeface="DejaVu Sans"/>
                <a:cs typeface="DejaVu Sans"/>
              </a:defRPr>
            </a:lvl2pPr>
            <a:lvl3pPr algn="l">
              <a:defRPr sz="1875" b="0">
                <a:solidFill>
                  <a:srgbClr val="526778"/>
                </a:solidFill>
                <a:latin typeface="DejaVu Sans"/>
                <a:ea typeface="DejaVu Sans"/>
                <a:cs typeface="DejaVu Sans"/>
              </a:defRPr>
            </a:lvl3pPr>
            <a:lvl4pPr algn="l">
              <a:defRPr sz="1875" b="0">
                <a:solidFill>
                  <a:srgbClr val="526778"/>
                </a:solidFill>
                <a:latin typeface="DejaVu Sans"/>
                <a:ea typeface="DejaVu Sans"/>
                <a:cs typeface="DejaVu Sans"/>
              </a:defRPr>
            </a:lvl4pPr>
            <a:lvl5pPr algn="l">
              <a:defRPr sz="1875" b="0">
                <a:solidFill>
                  <a:srgbClr val="526778"/>
                </a:solidFill>
                <a:latin typeface="DejaVu Sans"/>
                <a:ea typeface="DejaVu Sans"/>
                <a:cs typeface="DejaVu Sans"/>
              </a:defRPr>
            </a:lvl5pPr>
            <a:lvl6pPr algn="l">
              <a:defRPr sz="1875" b="0">
                <a:solidFill>
                  <a:srgbClr val="526778"/>
                </a:solidFill>
                <a:latin typeface="DejaVu Sans"/>
                <a:ea typeface="DejaVu Sans"/>
                <a:cs typeface="DejaVu Sans"/>
              </a:defRPr>
            </a:lvl6pPr>
            <a:lvl7pPr algn="l">
              <a:defRPr sz="1875" b="0">
                <a:solidFill>
                  <a:srgbClr val="526778"/>
                </a:solidFill>
                <a:latin typeface="DejaVu Sans"/>
                <a:ea typeface="DejaVu Sans"/>
                <a:cs typeface="DejaVu Sans"/>
              </a:defRPr>
            </a:lvl7pPr>
            <a:lvl8pPr algn="l">
              <a:defRPr sz="1875" b="0">
                <a:solidFill>
                  <a:srgbClr val="526778"/>
                </a:solidFill>
                <a:latin typeface="DejaVu Sans"/>
                <a:ea typeface="DejaVu Sans"/>
                <a:cs typeface="DejaVu Sans"/>
              </a:defRPr>
            </a:lvl8pPr>
            <a:lvl9pPr algn="l">
              <a:defRPr sz="1875" b="0">
                <a:solidFill>
                  <a:srgbClr val="526778"/>
                </a:solidFill>
                <a:latin typeface="DejaVu Sans"/>
                <a:ea typeface="DejaVu Sans"/>
                <a:cs typeface="DejaVu Sans"/>
              </a:defRPr>
            </a:lvl9pPr>
          </a:lstStyle>
          <a:p xmlns:a="http://schemas.openxmlformats.org/drawingml/2006/main">
            <a:pPr algn="l">
              <a:lnSpc>
                <a:spcPct val="115000"/>
              </a:lnSpc>
              <a:buNone/>
              <a:defRPr sz="1875" b="0">
                <a:solidFill>
                  <a:srgbClr val="526778"/>
                </a:solidFill>
                <a:latin typeface="DejaVu Sans"/>
                <a:ea typeface="DejaVu Sans"/>
                <a:cs typeface="DejaVu Sans"/>
              </a:defRPr>
            </a:pPr>
            <a:r>
              <a:rPr sz="1875" b="0">
                <a:solidFill>
                  <a:srgbClr val="526778"/>
                </a:solidFill>
                <a:latin typeface="DejaVu Sans"/>
                <a:ea typeface="DejaVu Sans"/>
                <a:cs typeface="DejaVu Sans"/>
              </a:rPr>
              <a:t>Full paths are under src/main/java/com/jenbrick/fileadapter unless shown.</a:t>
            </a:r>
          </a:p>
        </p:txBody>
      </p:sp>
      <p:sp>
        <p:nvSpPr>
          <p:cNvPr id="3" name="slide-number">
            <a:extLst xmlns:a="http://schemas.openxmlformats.org/drawingml/2006/main">
              <a:ext uri="{FF2B5EF4-FFF2-40B4-BE49-F238E27FC236}">
                <a16:creationId xmlns:a16="http://schemas.microsoft.com/office/drawing/2014/main" id="{DD3E983F-DF3F-47EE-BC38-7C103A820A16}"/>
              </a:ext>
            </a:extLst>
          </p:cNvPr>
          <p:cNvSpPr>
            <a:spLocks xmlns:a="http://schemas.openxmlformats.org/drawingml/2006/main" noGrp="1"/>
          </p:cNvSpPr>
          <p:nvPr/>
        </p:nvSpPr>
        <p:spPr>
          <a:xfrm xmlns:a="http://schemas.openxmlformats.org/drawingml/2006/main">
            <a:off x="11182350" y="6391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26778"/>
                </a:solidFill>
                <a:latin typeface="DejaVu Sans"/>
                <a:ea typeface="DejaVu Sans"/>
                <a:cs typeface="DejaVu Sans"/>
              </a:defRPr>
            </a:defPPr>
            <a:lvl1pPr algn="r">
              <a:defRPr sz="1275" b="0">
                <a:solidFill>
                  <a:srgbClr val="526778"/>
                </a:solidFill>
                <a:latin typeface="DejaVu Sans"/>
                <a:ea typeface="DejaVu Sans"/>
                <a:cs typeface="DejaVu Sans"/>
              </a:defRPr>
            </a:lvl1pPr>
            <a:lvl2pPr algn="r">
              <a:defRPr sz="1275" b="0">
                <a:solidFill>
                  <a:srgbClr val="526778"/>
                </a:solidFill>
                <a:latin typeface="DejaVu Sans"/>
                <a:ea typeface="DejaVu Sans"/>
                <a:cs typeface="DejaVu Sans"/>
              </a:defRPr>
            </a:lvl2pPr>
            <a:lvl3pPr algn="r">
              <a:defRPr sz="1275" b="0">
                <a:solidFill>
                  <a:srgbClr val="526778"/>
                </a:solidFill>
                <a:latin typeface="DejaVu Sans"/>
                <a:ea typeface="DejaVu Sans"/>
                <a:cs typeface="DejaVu Sans"/>
              </a:defRPr>
            </a:lvl3pPr>
            <a:lvl4pPr algn="r">
              <a:defRPr sz="1275" b="0">
                <a:solidFill>
                  <a:srgbClr val="526778"/>
                </a:solidFill>
                <a:latin typeface="DejaVu Sans"/>
                <a:ea typeface="DejaVu Sans"/>
                <a:cs typeface="DejaVu Sans"/>
              </a:defRPr>
            </a:lvl4pPr>
            <a:lvl5pPr algn="r">
              <a:defRPr sz="1275" b="0">
                <a:solidFill>
                  <a:srgbClr val="526778"/>
                </a:solidFill>
                <a:latin typeface="DejaVu Sans"/>
                <a:ea typeface="DejaVu Sans"/>
                <a:cs typeface="DejaVu Sans"/>
              </a:defRPr>
            </a:lvl5pPr>
            <a:lvl6pPr algn="r">
              <a:defRPr sz="1275" b="0">
                <a:solidFill>
                  <a:srgbClr val="526778"/>
                </a:solidFill>
                <a:latin typeface="DejaVu Sans"/>
                <a:ea typeface="DejaVu Sans"/>
                <a:cs typeface="DejaVu Sans"/>
              </a:defRPr>
            </a:lvl6pPr>
            <a:lvl7pPr algn="r">
              <a:defRPr sz="1275" b="0">
                <a:solidFill>
                  <a:srgbClr val="526778"/>
                </a:solidFill>
                <a:latin typeface="DejaVu Sans"/>
                <a:ea typeface="DejaVu Sans"/>
                <a:cs typeface="DejaVu Sans"/>
              </a:defRPr>
            </a:lvl7pPr>
            <a:lvl8pPr algn="r">
              <a:defRPr sz="1275" b="0">
                <a:solidFill>
                  <a:srgbClr val="526778"/>
                </a:solidFill>
                <a:latin typeface="DejaVu Sans"/>
                <a:ea typeface="DejaVu Sans"/>
                <a:cs typeface="DejaVu Sans"/>
              </a:defRPr>
            </a:lvl8pPr>
            <a:lvl9pPr algn="r">
              <a:defRPr sz="1275" b="0">
                <a:solidFill>
                  <a:srgbClr val="526778"/>
                </a:solidFill>
                <a:latin typeface="DejaVu Sans"/>
                <a:ea typeface="DejaVu Sans"/>
                <a:cs typeface="DejaVu Sans"/>
              </a:defRPr>
            </a:lvl9pPr>
          </a:lstStyle>
          <a:p xmlns:a="http://schemas.openxmlformats.org/drawingml/2006/main">
            <a:pPr algn="r">
              <a:lnSpc>
                <a:spcPct val="115000"/>
              </a:lnSpc>
              <a:buNone/>
              <a:defRPr sz="1275" b="0">
                <a:solidFill>
                  <a:srgbClr val="526778"/>
                </a:solidFill>
                <a:latin typeface="DejaVu Sans"/>
                <a:ea typeface="DejaVu Sans"/>
                <a:cs typeface="DejaVu Sans"/>
              </a:defRPr>
            </a:pPr>
            <a:r>
              <a:rPr sz="1275" b="0">
                <a:solidFill>
                  <a:srgbClr val="526778"/>
                </a:solidFill>
                <a:latin typeface="DejaVu Sans"/>
                <a:ea typeface="DejaVu Sans"/>
                <a:cs typeface="DejaVu Sans"/>
              </a:rPr>
              <a:t>26</a:t>
            </a:r>
          </a:p>
        </p:txBody>
      </p:sp>
      <p:graphicFrame>
        <p:nvGraphicFramePr>
          <p:cNvPr id="4" name="">
            <a:extLst xmlns:a="http://schemas.openxmlformats.org/drawingml/2006/main">
              <a:ext uri="{FF2B5EF4-FFF2-40B4-BE49-F238E27FC236}">
                <a16:creationId xmlns:a16="http://schemas.microsoft.com/office/drawing/2014/main" id="{F39C524C-A34B-4E52-90D7-F61E0E9A6744}"/>
              </a:ext>
            </a:extLst>
          </p:cNvPr>
          <p:cNvGraphicFramePr/>
          <p:nvPr/>
        </p:nvGraphicFramePr>
        <p:xfrm>
          <a:off xmlns:a="http://schemas.openxmlformats.org/drawingml/2006/main" x="609600" y="2000250"/>
          <a:ext xmlns:a="http://schemas.openxmlformats.org/drawingml/2006/main" cx="10972800" cy="4171950"/>
        </p:xfrm>
        <a:graphic xmlns:a="http://schemas.openxmlformats.org/drawingml/2006/main">
          <a:graphicData uri="http://schemas.openxmlformats.org/drawingml/2006/table">
            <a:tbl>
              <a:tblPr/>
              <a:tblGrid>
                <a:gridCol w="6381750"/>
                <a:gridCol w="4591050"/>
              </a:tblGrid>
              <a:tr h="695325">
                <a:tc>
                  <a:txBody>
                    <a:bodyPr wrap="square" lIns="76200" tIns="76200" rIns="76200" bIns="76200">
                      <a:noAutofit/>
                    </a:bodyPr>
                    <a:lstStyle/>
                    <a:p>
                      <a:r>
                        <a:rPr sz="1800" b="1">
                          <a:solidFill>
                            <a:srgbClr val="FFFFFF"/>
                          </a:solidFill>
                          <a:latin typeface="DejaVu Sans"/>
                          <a:ea typeface="DejaVu Sans"/>
                          <a:cs typeface="DejaVu Sans"/>
                        </a:rPr>
                        <a:t>Open in the repository</a:t>
                      </a:r>
                    </a:p>
                  </a:txBody>
                  <a:tcPr marL="91440" marR="91440" marT="45720" marB="45720" anchor="ctr">
                    <a:lnL w="7620">
                      <a:solidFill>
                        <a:srgbClr val="DAE3E9"/>
                      </a:solidFill>
                      <a:prstDash val="solid"/>
                    </a:lnL>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c>
                  <a:txBody>
                    <a:bodyPr wrap="square" lIns="76200" tIns="76200" rIns="76200" bIns="76200">
                      <a:noAutofit/>
                    </a:bodyPr>
                    <a:lstStyle/>
                    <a:p>
                      <a:r>
                        <a:rPr sz="1800" b="1">
                          <a:solidFill>
                            <a:srgbClr val="FFFFFF"/>
                          </a:solidFill>
                          <a:latin typeface="DejaVu Sans"/>
                          <a:ea typeface="DejaVu Sans"/>
                          <a:cs typeface="DejaVu Sans"/>
                        </a:rPr>
                        <a:t>What to inspect</a:t>
                      </a:r>
                    </a:p>
                  </a:txBody>
                  <a:tcPr marL="91440" marR="91440" marT="45720" marB="45720" anchor="ctr">
                    <a:lnR w="7620">
                      <a:solidFill>
                        <a:srgbClr val="DAE3E9"/>
                      </a:solidFill>
                      <a:prstDash val="solid"/>
                    </a:lnR>
                    <a:lnT w="7620">
                      <a:solidFill>
                        <a:srgbClr val="DAE3E9"/>
                      </a:solidFill>
                      <a:prstDash val="solid"/>
                    </a:lnT>
                    <a:lnB w="7620">
                      <a:solidFill>
                        <a:srgbClr val="DAE3E9"/>
                      </a:solidFill>
                      <a:prstDash val="solid"/>
                    </a:lnB>
                    <a:solidFill>
                      <a:srgbClr val="102A43"/>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src/main/resources/application.yml</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Active profiles and shared mapping anchors</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processing/FileProcessor.java</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Preflight, dispatch, retries and recovery</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processing/PreviewWriter.java</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Source-labelled preview exports</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delivery/HttpUpsertClient.java</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EDF2F5"/>
                    </a:solidFill>
                  </a:tcPr>
                </a:tc>
                <a:tc>
                  <a:txBody>
                    <a:bodyPr wrap="square" lIns="76200" tIns="76200" rIns="76200" bIns="76200">
                      <a:noAutofit/>
                    </a:bodyPr>
                    <a:lstStyle/>
                    <a:p>
                      <a:r>
                        <a:rPr sz="1800" b="0">
                          <a:solidFill>
                            <a:srgbClr val="102A43"/>
                          </a:solidFill>
                          <a:latin typeface="DejaVu Sans"/>
                          <a:ea typeface="DejaVu Sans"/>
                          <a:cs typeface="DejaVu Sans"/>
                        </a:rPr>
                        <a:t>POST serialization and outcome handling</a:t>
                      </a:r>
                    </a:p>
                  </a:txBody>
                  <a:tcPr marL="91440" marR="91440" marT="45720" marB="45720" anchor="ctr">
                    <a:lnR w="7620">
                      <a:solidFill>
                        <a:srgbClr val="DAE3E9"/>
                      </a:solidFill>
                      <a:prstDash val="solid"/>
                    </a:lnR>
                    <a:lnB w="7620">
                      <a:solidFill>
                        <a:srgbClr val="DAE3E9"/>
                      </a:solidFill>
                      <a:prstDash val="solid"/>
                    </a:lnB>
                    <a:solidFill>
                      <a:srgbClr val="EDF2F5"/>
                    </a:solidFill>
                  </a:tcPr>
                </a:tc>
              </a:tr>
              <a:tr h="695325">
                <a:tc>
                  <a:txBody>
                    <a:bodyPr wrap="square" lIns="76200" tIns="76200" rIns="76200" bIns="76200">
                      <a:noAutofit/>
                    </a:bodyPr>
                    <a:lstStyle/>
                    <a:p>
                      <a:r>
                        <a:rPr sz="1800" b="0">
                          <a:solidFill>
                            <a:srgbClr val="102A43"/>
                          </a:solidFill>
                          <a:latin typeface="DejaVu Sans"/>
                          <a:ea typeface="DejaVu Sans"/>
                          <a:cs typeface="DejaVu Sans"/>
                        </a:rPr>
                        <a:t>src/test/java/.../LiveIntegrationTest.java</a:t>
                      </a:r>
                    </a:p>
                  </a:txBody>
                  <a:tcPr marL="91440" marR="91440" marT="45720" marB="45720" anchor="ctr">
                    <a:lnL w="7620">
                      <a:solidFill>
                        <a:srgbClr val="DAE3E9"/>
                      </a:solidFill>
                      <a:prstDash val="solid"/>
                    </a:lnL>
                    <a:lnR w="7620">
                      <a:solidFill>
                        <a:srgbClr val="DAE3E9"/>
                      </a:solidFill>
                      <a:prstDash val="solid"/>
                    </a:lnR>
                    <a:lnB w="7620">
                      <a:solidFill>
                        <a:srgbClr val="DAE3E9"/>
                      </a:solidFill>
                      <a:prstDash val="solid"/>
                    </a:lnB>
                    <a:solidFill>
                      <a:srgbClr val="FFFFFF"/>
                    </a:solidFill>
                  </a:tcPr>
                </a:tc>
                <a:tc>
                  <a:txBody>
                    <a:bodyPr wrap="square" lIns="76200" tIns="76200" rIns="76200" bIns="76200">
                      <a:noAutofit/>
                    </a:bodyPr>
                    <a:lstStyle/>
                    <a:p>
                      <a:r>
                        <a:rPr sz="1800" b="0">
                          <a:solidFill>
                            <a:srgbClr val="102A43"/>
                          </a:solidFill>
                          <a:latin typeface="DejaVu Sans"/>
                          <a:ea typeface="DejaVu Sans"/>
                          <a:cs typeface="DejaVu Sans"/>
                        </a:rPr>
                        <a:t>Real HTTP scenarios and failure exercises</a:t>
                      </a:r>
                    </a:p>
                  </a:txBody>
                  <a:tcPr marL="91440" marR="91440" marT="45720" marB="45720" anchor="ctr">
                    <a:lnR w="7620">
                      <a:solidFill>
                        <a:srgbClr val="DAE3E9"/>
                      </a:solidFill>
                      <a:prstDash val="solid"/>
                    </a:lnR>
                    <a:lnB w="7620">
                      <a:solidFill>
                        <a:srgbClr val="DAE3E9"/>
                      </a:solidFill>
                      <a:prstDash val="solid"/>
                    </a:lnB>
                    <a:solidFill>
                      <a:srgbClr val="FFFFFF"/>
                    </a:solidFill>
                  </a:tcPr>
                </a:tc>
              </a:tr>
            </a:tbl>
          </a:graphicData>
        </a:graphic>
      </p:graphicFrame>
    </p:spTree>
    <p:extLst>
      <p:ext uri="{BB962C8B-B14F-4D97-AF65-F5344CB8AC3E}">
        <p14:creationId xmlns:p14="http://schemas.microsoft.com/office/powerpoint/2010/main" val="16221491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2026-10-27T16:21:56.4000000Z</dcterms:created>
  <dcterms:modified xsi:type="dcterms:W3CDTF">2026-10-27T16:21:56.4000000Z</dcterms:modified>
</coreProperties>
</file>